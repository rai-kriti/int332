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3" autoAdjust="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68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454A-B50B-99CF-5F2C-9914471B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906C5-4742-264F-78E1-18B014E03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54A67-BCE4-0B38-9F85-49846340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1F8AC-443C-1ECA-AB44-6EBF6FD0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DF0F3-AEC5-C9B9-7171-1B6A033D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610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43DA-CBC5-58B5-65B8-9D38B35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B5CF5-59AF-DD83-C89A-DF31B519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4E04A-0F9D-BFA3-1170-4193E83A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989B7-C73D-98DA-3AF0-70E1DF6A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4C7C3-2C9F-8A2C-CC92-9224B93D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767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116C-C79E-55DD-9F00-FFDBCF60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E630C-B948-FAC9-6274-CA2DCE44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3E107-FDF9-7A65-56F5-E97F0661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5382A-4979-C9DC-A38D-71EEC2F2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4B501-66BB-E071-2D45-786A5032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359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DFD8-0D14-BAF4-B9E1-9E8435A7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4BAE9-DB1F-171F-6D48-3F467841F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CAD39-A292-B30E-5E61-53E6C13EC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F5A39-F187-8FE8-5DEB-F7100659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0DC70-1010-1A04-FE7B-7DB3E671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68834-3EFD-4C90-DC78-7AB1AA3B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465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73B6E-AAAA-C190-F84C-C7A9E54B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E850B-3436-7B73-9CAF-6857749DD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40929-494D-74D0-7921-2D938A372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974FE-72C9-137E-0265-73F50D8D7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57EA2-CA11-4B56-861E-239081BE5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161D1-E209-E17B-7F43-1EA7214E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D1B75-14EF-E88A-5B4F-ECF203D09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406F7-C76D-E3CE-11A0-2DF7C798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85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6511-9AF4-26A2-B0E0-2904E16E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37283-2B3B-38B3-2541-367195BB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109F2-D873-FF79-0EAD-7BB606B3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DAC8C-10EC-B45D-546A-403F5F41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284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D1B28-282D-9541-5396-99E0DEE5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FACF6-3696-BA79-A674-7B2FB7D6C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AE520-B0BD-9957-B156-89F4DEFC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C5B5D-0A2A-D9E7-19E8-E963CF0D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85D3D-8D58-9A45-B29D-22587F40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106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756CC-275B-5F05-BC12-BB1376D4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4A5A5C-6A14-6463-9263-E1C97FDE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8AB0B-4F9E-B3E8-F5BE-48D1A7FC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644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790F-A78E-F728-A554-7D4A7AF1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C0024-81A1-24AC-3552-CA9CEA7E4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8CF34-E943-6E55-F9DC-69271DB3A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B6FBF-46A8-C3B9-7C32-FF6F9D37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4E712-4476-5F97-67B0-BBB596A0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A3B25-9720-6577-0395-9103E775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794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83F6F-8F6C-7195-27A7-50671BA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FE7027-CB64-2D79-C450-A50A1A1A5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3577A-646B-877F-ACC8-447532FEA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BA6D9-4ADB-E95F-6717-B7292C01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0814B-405F-B37D-4F5F-B70E8488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74CF4-2834-8D90-41B2-3FFB1D4B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08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C2A8B3-3C5F-769E-BE44-7FCB772A8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CE24B-7910-B2E8-C9C8-E2F93AFB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D1D4F-E585-8CF2-AC0F-F3EA4F0C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C96A0-30C4-BF0C-B817-DF0BA33B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19994-D6D6-8277-D64E-72F4CB96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4605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" y="6778869"/>
            <a:ext cx="9143998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43606C-9B53-79F1-02DD-16BC50BEB5CE}"/>
              </a:ext>
            </a:extLst>
          </p:cNvPr>
          <p:cNvSpPr/>
          <p:nvPr/>
        </p:nvSpPr>
        <p:spPr>
          <a:xfrm>
            <a:off x="1558991" y="431018"/>
            <a:ext cx="6080433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7FF37-7309-52C1-8095-3F729737C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6304" y="178307"/>
            <a:ext cx="1160640" cy="4186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48388E-C341-A5AF-55B7-4442EC1A9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211" y="178308"/>
            <a:ext cx="1185902" cy="50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134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9144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2020" y="444933"/>
            <a:ext cx="410810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5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32020" y="3951843"/>
            <a:ext cx="16002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8973222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BC712-3CD6-D18D-1483-CAFF2130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7F309-DEC2-2A35-6A1B-36732AEA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BBC8F-5AA1-6A5F-813E-EC818CB3A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EE63-802B-29AB-6E8E-2336CA6B4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85C65-30CE-BE4C-6597-F76452533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E00DB2-1B79-F076-988B-189E25D268A4}"/>
              </a:ext>
            </a:extLst>
          </p:cNvPr>
          <p:cNvSpPr/>
          <p:nvPr/>
        </p:nvSpPr>
        <p:spPr>
          <a:xfrm>
            <a:off x="1558991" y="431018"/>
            <a:ext cx="6080433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E6FB77-67DC-C0AD-16FE-6E68AF2B887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66304" y="178307"/>
            <a:ext cx="1160640" cy="418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ED9CD6-CADD-7BD4-3F8E-872DFDE3128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6211" y="178308"/>
            <a:ext cx="1185902" cy="5054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318C861-1BD5-B856-A0FD-4B28D1D8BE11}"/>
              </a:ext>
            </a:extLst>
          </p:cNvPr>
          <p:cNvSpPr/>
          <p:nvPr/>
        </p:nvSpPr>
        <p:spPr>
          <a:xfrm>
            <a:off x="1" y="6778869"/>
            <a:ext cx="9143998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570648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DevOps Containerization Lab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Detailed Experiments with Explanation and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1: Introduction to Containers and Docker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Aim:</a:t>
            </a:r>
          </a:p>
          <a:p>
            <a:pPr marL="0" indent="0">
              <a:buNone/>
            </a:pPr>
            <a:r>
              <a:rPr dirty="0"/>
              <a:t>Understand containers and run the first Docker container.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Key Concepts:</a:t>
            </a:r>
          </a:p>
          <a:p>
            <a:pPr marL="0" indent="0">
              <a:buNone/>
            </a:pPr>
            <a:r>
              <a:rPr dirty="0"/>
              <a:t>• Containers package applications with dependencies.</a:t>
            </a:r>
          </a:p>
          <a:p>
            <a:pPr marL="0" indent="0">
              <a:buNone/>
            </a:pPr>
            <a:r>
              <a:rPr dirty="0"/>
              <a:t>• Docker enables container creation and management.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Commands:</a:t>
            </a:r>
          </a:p>
          <a:p>
            <a:pPr marL="0" indent="0">
              <a:buNone/>
            </a:pPr>
            <a:r>
              <a:rPr dirty="0"/>
              <a:t>docker version</a:t>
            </a:r>
          </a:p>
          <a:p>
            <a:pPr marL="0" indent="0">
              <a:buNone/>
            </a:pPr>
            <a:r>
              <a:rPr dirty="0"/>
              <a:t>docker info</a:t>
            </a:r>
          </a:p>
          <a:p>
            <a:pPr marL="0" indent="0">
              <a:buNone/>
            </a:pPr>
            <a:r>
              <a:rPr dirty="0"/>
              <a:t>docker pull hello-world</a:t>
            </a:r>
          </a:p>
          <a:p>
            <a:pPr marL="0" indent="0">
              <a:buNone/>
            </a:pPr>
            <a:r>
              <a:rPr dirty="0"/>
              <a:t>docker run hello-world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Explanation:</a:t>
            </a:r>
          </a:p>
          <a:p>
            <a:pPr marL="0" indent="0">
              <a:buNone/>
            </a:pPr>
            <a:r>
              <a:rPr dirty="0"/>
              <a:t>These commands verify Docker installation, pull an image from Docker Hub, and run a test container.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Expected Result:</a:t>
            </a:r>
          </a:p>
          <a:p>
            <a:pPr marL="0" indent="0">
              <a:buNone/>
            </a:pPr>
            <a:r>
              <a:rPr dirty="0"/>
              <a:t>Hello from Docker message appears.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2: Docker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endParaRPr/>
          </a:p>
          <a:p>
            <a:r>
              <a:t>Aim:</a:t>
            </a:r>
          </a:p>
          <a:p>
            <a:r>
              <a:t>Understand Docker CLI, daemon, and registry.</a:t>
            </a:r>
          </a:p>
          <a:p>
            <a:endParaRPr/>
          </a:p>
          <a:p>
            <a:r>
              <a:t>Concept:</a:t>
            </a:r>
          </a:p>
          <a:p>
            <a:r>
              <a:t>User → Docker CLI → Docker Engine API → Docker Daemon → Containers</a:t>
            </a:r>
          </a:p>
          <a:p>
            <a:endParaRPr/>
          </a:p>
          <a:p>
            <a:r>
              <a:t>Commands:</a:t>
            </a:r>
          </a:p>
          <a:p>
            <a:r>
              <a:t>docker version</a:t>
            </a:r>
          </a:p>
          <a:p>
            <a:r>
              <a:t>docker info</a:t>
            </a:r>
          </a:p>
          <a:p>
            <a:r>
              <a:t>docker --help</a:t>
            </a:r>
          </a:p>
          <a:p>
            <a:endParaRPr/>
          </a:p>
          <a:p>
            <a:r>
              <a:t>Explanation:</a:t>
            </a:r>
          </a:p>
          <a:p>
            <a:r>
              <a:t>Docker CLI sends commands to daemon which performs operations like running containers.</a:t>
            </a:r>
          </a:p>
          <a:p>
            <a:endParaRPr/>
          </a:p>
          <a:p>
            <a:r>
              <a:t>Expected Result:</a:t>
            </a:r>
          </a:p>
          <a:p>
            <a:r>
              <a:t>Students identify architecture components and command flow.</a:t>
            </a:r>
          </a:p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3: Docker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Aim:</a:t>
            </a:r>
          </a:p>
          <a:p>
            <a:pPr marL="0" indent="0">
              <a:buNone/>
            </a:pPr>
            <a:r>
              <a:rPr dirty="0"/>
              <a:t>Understand Docker objects: images, containers, networks, volumes.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Commands:</a:t>
            </a:r>
          </a:p>
          <a:p>
            <a:pPr marL="0" indent="0">
              <a:buNone/>
            </a:pPr>
            <a:r>
              <a:rPr dirty="0"/>
              <a:t>docker image ls</a:t>
            </a:r>
          </a:p>
          <a:p>
            <a:pPr marL="0" indent="0">
              <a:buNone/>
            </a:pPr>
            <a:r>
              <a:rPr dirty="0"/>
              <a:t>docker container ls -a</a:t>
            </a:r>
          </a:p>
          <a:p>
            <a:pPr marL="0" indent="0">
              <a:buNone/>
            </a:pPr>
            <a:r>
              <a:rPr dirty="0"/>
              <a:t>docker network ls</a:t>
            </a:r>
          </a:p>
          <a:p>
            <a:pPr marL="0" indent="0">
              <a:buNone/>
            </a:pPr>
            <a:r>
              <a:rPr dirty="0"/>
              <a:t>docker volume ls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Explanation:</a:t>
            </a:r>
          </a:p>
          <a:p>
            <a:pPr marL="0" indent="0">
              <a:buNone/>
            </a:pPr>
            <a:r>
              <a:rPr dirty="0"/>
              <a:t>Docker objects represent different parts of container infrastructure.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Expected Result:</a:t>
            </a:r>
          </a:p>
          <a:p>
            <a:pPr marL="0" indent="0">
              <a:buNone/>
            </a:pPr>
            <a:r>
              <a:rPr dirty="0"/>
              <a:t>Students distinguish between Docker object types.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4: Container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Aim:</a:t>
            </a:r>
          </a:p>
          <a:p>
            <a:pPr marL="0" indent="0">
              <a:buNone/>
            </a:pPr>
            <a:r>
              <a:rPr dirty="0"/>
              <a:t>Manage container lifecycle.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Commands:</a:t>
            </a:r>
          </a:p>
          <a:p>
            <a:pPr marL="0" indent="0">
              <a:buNone/>
            </a:pPr>
            <a:r>
              <a:rPr dirty="0"/>
              <a:t>docker run -d --name web1 nginx</a:t>
            </a:r>
          </a:p>
          <a:p>
            <a:pPr marL="0" indent="0">
              <a:buNone/>
            </a:pPr>
            <a:r>
              <a:rPr dirty="0"/>
              <a:t>docker </a:t>
            </a:r>
            <a:r>
              <a:rPr dirty="0" err="1"/>
              <a:t>ps</a:t>
            </a:r>
            <a:endParaRPr dirty="0"/>
          </a:p>
          <a:p>
            <a:pPr marL="0" indent="0">
              <a:buNone/>
            </a:pPr>
            <a:r>
              <a:rPr dirty="0"/>
              <a:t>docker stop web1</a:t>
            </a:r>
          </a:p>
          <a:p>
            <a:pPr marL="0" indent="0">
              <a:buNone/>
            </a:pPr>
            <a:r>
              <a:rPr dirty="0"/>
              <a:t>docker start web1</a:t>
            </a:r>
          </a:p>
          <a:p>
            <a:pPr marL="0" indent="0">
              <a:buNone/>
            </a:pPr>
            <a:r>
              <a:rPr dirty="0"/>
              <a:t>docker restart web1</a:t>
            </a:r>
          </a:p>
          <a:p>
            <a:pPr marL="0" indent="0">
              <a:buNone/>
            </a:pPr>
            <a:r>
              <a:rPr dirty="0"/>
              <a:t>docker rm -f web1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Explanation:</a:t>
            </a:r>
          </a:p>
          <a:p>
            <a:pPr marL="0" indent="0">
              <a:buNone/>
            </a:pPr>
            <a:r>
              <a:rPr dirty="0"/>
              <a:t>These commands create, run, stop, restart, and delete containers.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Expected Result:</a:t>
            </a:r>
          </a:p>
          <a:p>
            <a:pPr marL="0" indent="0">
              <a:buNone/>
            </a:pPr>
            <a:r>
              <a:rPr dirty="0"/>
              <a:t>Students manage container lifecycle.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5: Process Isolation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Aim:</a:t>
            </a:r>
          </a:p>
          <a:p>
            <a:pPr marL="0" indent="0">
              <a:buNone/>
            </a:pPr>
            <a:r>
              <a:rPr dirty="0"/>
              <a:t>Observe process isolation using namespaces.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Commands:</a:t>
            </a:r>
          </a:p>
          <a:p>
            <a:pPr marL="0" indent="0">
              <a:buNone/>
            </a:pPr>
            <a:r>
              <a:rPr dirty="0"/>
              <a:t>docker run -it ubuntu bash</a:t>
            </a:r>
          </a:p>
          <a:p>
            <a:pPr marL="0" indent="0">
              <a:buNone/>
            </a:pPr>
            <a:r>
              <a:rPr dirty="0"/>
              <a:t>hostname</a:t>
            </a:r>
          </a:p>
          <a:p>
            <a:pPr marL="0" indent="0">
              <a:buNone/>
            </a:pPr>
            <a:r>
              <a:rPr dirty="0" err="1"/>
              <a:t>ps</a:t>
            </a:r>
            <a:r>
              <a:rPr dirty="0"/>
              <a:t> -</a:t>
            </a:r>
            <a:r>
              <a:rPr dirty="0" err="1"/>
              <a:t>ef</a:t>
            </a:r>
            <a:endParaRPr dirty="0"/>
          </a:p>
          <a:p>
            <a:pPr marL="0" indent="0">
              <a:buNone/>
            </a:pPr>
            <a:r>
              <a:rPr dirty="0"/>
              <a:t>docker top &lt;container&gt;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Explanation:</a:t>
            </a:r>
          </a:p>
          <a:p>
            <a:pPr marL="0" indent="0">
              <a:buNone/>
            </a:pPr>
            <a:r>
              <a:rPr dirty="0"/>
              <a:t>Containers have their own process view and hostname due to namespace isolation.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Expected Result:</a:t>
            </a:r>
          </a:p>
          <a:p>
            <a:pPr marL="0" indent="0">
              <a:buNone/>
            </a:pPr>
            <a:r>
              <a:rPr dirty="0"/>
              <a:t>Students observe isolated process environment.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6: Container Runtime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Aim:</a:t>
            </a:r>
          </a:p>
          <a:p>
            <a:pPr marL="0" indent="0">
              <a:buNone/>
            </a:pPr>
            <a:r>
              <a:rPr dirty="0"/>
              <a:t>Understand interactive and detached containers.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Commands:</a:t>
            </a:r>
          </a:p>
          <a:p>
            <a:pPr marL="0" indent="0">
              <a:buNone/>
            </a:pPr>
            <a:r>
              <a:rPr dirty="0"/>
              <a:t>docker run -it ubuntu bash</a:t>
            </a:r>
          </a:p>
          <a:p>
            <a:pPr marL="0" indent="0">
              <a:buNone/>
            </a:pPr>
            <a:r>
              <a:rPr dirty="0"/>
              <a:t>docker run -d nginx</a:t>
            </a:r>
          </a:p>
          <a:p>
            <a:pPr marL="0" indent="0">
              <a:buNone/>
            </a:pPr>
            <a:r>
              <a:rPr dirty="0"/>
              <a:t>docker logs &lt;container&gt;</a:t>
            </a:r>
          </a:p>
          <a:p>
            <a:pPr marL="0" indent="0">
              <a:buNone/>
            </a:pPr>
            <a:r>
              <a:rPr dirty="0"/>
              <a:t>docker exec -it &lt;container&gt; bash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Explanation:</a:t>
            </a:r>
          </a:p>
          <a:p>
            <a:pPr marL="0" indent="0">
              <a:buNone/>
            </a:pPr>
            <a:r>
              <a:rPr dirty="0"/>
              <a:t>Interactive mode allows shell access, detached mode runs services.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Expected Result:</a:t>
            </a:r>
          </a:p>
          <a:p>
            <a:pPr marL="0" indent="0">
              <a:buNone/>
            </a:pPr>
            <a:r>
              <a:rPr dirty="0"/>
              <a:t>Students distinguish container runtime modes.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7: Docker Images and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Aim:</a:t>
            </a:r>
          </a:p>
          <a:p>
            <a:pPr marL="0" indent="0">
              <a:buNone/>
            </a:pPr>
            <a:r>
              <a:rPr dirty="0"/>
              <a:t>Understand image layering.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Commands:</a:t>
            </a:r>
          </a:p>
          <a:p>
            <a:pPr marL="0" indent="0">
              <a:buNone/>
            </a:pPr>
            <a:r>
              <a:rPr dirty="0"/>
              <a:t>docker pull ubuntu</a:t>
            </a:r>
          </a:p>
          <a:p>
            <a:pPr marL="0" indent="0">
              <a:buNone/>
            </a:pPr>
            <a:r>
              <a:rPr dirty="0"/>
              <a:t>docker history ubuntu</a:t>
            </a:r>
          </a:p>
          <a:p>
            <a:pPr marL="0" indent="0">
              <a:buNone/>
            </a:pPr>
            <a:r>
              <a:rPr dirty="0"/>
              <a:t>docker run -it ubuntu bash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Explanation:</a:t>
            </a:r>
          </a:p>
          <a:p>
            <a:pPr marL="0" indent="0">
              <a:buNone/>
            </a:pPr>
            <a:r>
              <a:rPr dirty="0"/>
              <a:t>Docker images consist of layered read‑only filesystem plus writable layer.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Expected Result:</a:t>
            </a:r>
          </a:p>
          <a:p>
            <a:pPr marL="0" indent="0">
              <a:buNone/>
            </a:pPr>
            <a:r>
              <a:rPr dirty="0"/>
              <a:t>Students understand layer architecture.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8: Build Docker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Aim:</a:t>
            </a:r>
          </a:p>
          <a:p>
            <a:pPr marL="0" indent="0">
              <a:buNone/>
            </a:pPr>
            <a:r>
              <a:rPr dirty="0"/>
              <a:t>Build image using </a:t>
            </a:r>
            <a:r>
              <a:rPr dirty="0" err="1"/>
              <a:t>Dockerfile</a:t>
            </a:r>
            <a:r>
              <a:rPr dirty="0"/>
              <a:t>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 err="1"/>
              <a:t>Dockerfile</a:t>
            </a:r>
            <a:r>
              <a:rPr dirty="0"/>
              <a:t> Example:</a:t>
            </a:r>
          </a:p>
          <a:p>
            <a:pPr marL="0" indent="0">
              <a:buNone/>
            </a:pPr>
            <a:r>
              <a:rPr dirty="0"/>
              <a:t>FROM python:3.12-slim</a:t>
            </a:r>
          </a:p>
          <a:p>
            <a:pPr marL="0" indent="0">
              <a:buNone/>
            </a:pPr>
            <a:r>
              <a:rPr dirty="0"/>
              <a:t>WORKDIR /app</a:t>
            </a:r>
          </a:p>
          <a:p>
            <a:pPr marL="0" indent="0">
              <a:buNone/>
            </a:pPr>
            <a:r>
              <a:rPr dirty="0"/>
              <a:t>COPY app.py .</a:t>
            </a:r>
          </a:p>
          <a:p>
            <a:pPr marL="0" indent="0">
              <a:buNone/>
            </a:pPr>
            <a:r>
              <a:rPr dirty="0"/>
              <a:t>CMD ["</a:t>
            </a:r>
            <a:r>
              <a:rPr dirty="0" err="1"/>
              <a:t>python","app.py</a:t>
            </a:r>
            <a:r>
              <a:rPr dirty="0"/>
              <a:t>"]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Commands:</a:t>
            </a:r>
          </a:p>
          <a:p>
            <a:pPr marL="0" indent="0">
              <a:buNone/>
            </a:pPr>
            <a:r>
              <a:rPr dirty="0"/>
              <a:t>docker build -t pythonapp:v1 .</a:t>
            </a:r>
          </a:p>
          <a:p>
            <a:pPr marL="0" indent="0">
              <a:buNone/>
            </a:pPr>
            <a:r>
              <a:rPr dirty="0"/>
              <a:t>docker run pythonapp:v1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Explanation:</a:t>
            </a:r>
          </a:p>
          <a:p>
            <a:pPr marL="0" indent="0">
              <a:buNone/>
            </a:pPr>
            <a:r>
              <a:rPr dirty="0" err="1"/>
              <a:t>Dockerfile</a:t>
            </a:r>
            <a:r>
              <a:rPr dirty="0"/>
              <a:t> defines how images are built.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Expected Result:</a:t>
            </a:r>
          </a:p>
          <a:p>
            <a:pPr marL="0" indent="0">
              <a:buNone/>
            </a:pPr>
            <a:r>
              <a:rPr dirty="0"/>
              <a:t>Custom container executes Python script.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9: Docker 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Aim:</a:t>
            </a:r>
          </a:p>
          <a:p>
            <a:pPr marL="0" indent="0">
              <a:buNone/>
            </a:pPr>
            <a:r>
              <a:rPr dirty="0"/>
              <a:t>Push and pull images from Docker Hub.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Commands:</a:t>
            </a:r>
          </a:p>
          <a:p>
            <a:pPr marL="0" indent="0">
              <a:buNone/>
            </a:pPr>
            <a:r>
              <a:rPr dirty="0"/>
              <a:t>docker login</a:t>
            </a:r>
          </a:p>
          <a:p>
            <a:pPr marL="0" indent="0">
              <a:buNone/>
            </a:pPr>
            <a:r>
              <a:rPr dirty="0"/>
              <a:t>docker tag pythonapp:v1 username/pythonapp:v1</a:t>
            </a:r>
          </a:p>
          <a:p>
            <a:pPr marL="0" indent="0">
              <a:buNone/>
            </a:pPr>
            <a:r>
              <a:rPr dirty="0"/>
              <a:t>docker push username/pythonapp:v1</a:t>
            </a:r>
          </a:p>
          <a:p>
            <a:pPr marL="0" indent="0">
              <a:buNone/>
            </a:pPr>
            <a:r>
              <a:rPr dirty="0"/>
              <a:t>docker pull username/pythonapp:v1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Explanation:</a:t>
            </a:r>
          </a:p>
          <a:p>
            <a:pPr marL="0" indent="0">
              <a:buNone/>
            </a:pPr>
            <a:r>
              <a:rPr dirty="0"/>
              <a:t>Registry allows teams to share container images.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Expected Result:</a:t>
            </a:r>
          </a:p>
          <a:p>
            <a:pPr marL="0" indent="0">
              <a:buNone/>
            </a:pPr>
            <a:r>
              <a:rPr dirty="0"/>
              <a:t>Students upload and download images from registry.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10: Docker Volumes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Aim:</a:t>
            </a:r>
          </a:p>
          <a:p>
            <a:pPr marL="0" indent="0">
              <a:buNone/>
            </a:pPr>
            <a:r>
              <a:rPr dirty="0"/>
              <a:t>Use persistent storage.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Commands:</a:t>
            </a:r>
          </a:p>
          <a:p>
            <a:pPr marL="0" indent="0">
              <a:buNone/>
            </a:pPr>
            <a:r>
              <a:rPr dirty="0"/>
              <a:t>docker volume create </a:t>
            </a:r>
            <a:r>
              <a:rPr dirty="0" err="1"/>
              <a:t>student_data</a:t>
            </a:r>
            <a:endParaRPr dirty="0"/>
          </a:p>
          <a:p>
            <a:pPr marL="0" indent="0">
              <a:buNone/>
            </a:pPr>
            <a:r>
              <a:rPr dirty="0"/>
              <a:t>docker run -it -v </a:t>
            </a:r>
            <a:r>
              <a:rPr dirty="0" err="1"/>
              <a:t>student_data</a:t>
            </a:r>
            <a:r>
              <a:rPr dirty="0"/>
              <a:t>:/data ubuntu bash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Explanation:</a:t>
            </a:r>
          </a:p>
          <a:p>
            <a:pPr marL="0" indent="0">
              <a:buNone/>
            </a:pPr>
            <a:r>
              <a:rPr dirty="0"/>
              <a:t>Volumes store data outside container filesystem.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Expected Result:</a:t>
            </a:r>
          </a:p>
          <a:p>
            <a:pPr marL="0" indent="0">
              <a:buNone/>
            </a:pPr>
            <a:r>
              <a:rPr dirty="0"/>
              <a:t>Data persists after container deletion.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11: Docker Networking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r>
              <a:t>Aim:</a:t>
            </a:r>
          </a:p>
          <a:p>
            <a:r>
              <a:t>Connect containers using bridge network.</a:t>
            </a:r>
          </a:p>
          <a:p>
            <a:endParaRPr/>
          </a:p>
          <a:p>
            <a:r>
              <a:t>Commands:</a:t>
            </a:r>
          </a:p>
          <a:p>
            <a:r>
              <a:t>docker network create devops-net</a:t>
            </a:r>
          </a:p>
          <a:p>
            <a:r>
              <a:t>docker run -dit --network devops-net alpine sh</a:t>
            </a:r>
          </a:p>
          <a:p>
            <a:endParaRPr/>
          </a:p>
          <a:p>
            <a:r>
              <a:t>Explanation:</a:t>
            </a:r>
          </a:p>
          <a:p>
            <a:r>
              <a:t>Custom networks allow containers to communicate using names.</a:t>
            </a:r>
          </a:p>
          <a:p>
            <a:endParaRPr/>
          </a:p>
          <a:p>
            <a:r>
              <a:t>Expected Result:</a:t>
            </a:r>
          </a:p>
          <a:p>
            <a:r>
              <a:t>Containers successfully ping each other.</a:t>
            </a:r>
          </a:p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12: Multi‑Container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/>
          </a:p>
          <a:p>
            <a:r>
              <a:t>Aim:</a:t>
            </a:r>
          </a:p>
          <a:p>
            <a:r>
              <a:t>Enable service communication between containers.</a:t>
            </a:r>
          </a:p>
          <a:p>
            <a:endParaRPr/>
          </a:p>
          <a:p>
            <a:r>
              <a:t>Commands:</a:t>
            </a:r>
          </a:p>
          <a:p>
            <a:r>
              <a:t>docker network create app-net</a:t>
            </a:r>
          </a:p>
          <a:p>
            <a:r>
              <a:t>docker run -dit --network app-net python:3.12-slim</a:t>
            </a:r>
          </a:p>
          <a:p>
            <a:r>
              <a:t>docker run -dit --network app-net alpine sh</a:t>
            </a:r>
          </a:p>
          <a:p>
            <a:endParaRPr/>
          </a:p>
          <a:p>
            <a:r>
              <a:t>Explanation:</a:t>
            </a:r>
          </a:p>
          <a:p>
            <a:r>
              <a:t>Containers communicate using internal network DNS.</a:t>
            </a:r>
          </a:p>
          <a:p>
            <a:endParaRPr/>
          </a:p>
          <a:p>
            <a:r>
              <a:t>Expected Result:</a:t>
            </a:r>
          </a:p>
          <a:p>
            <a:r>
              <a:t>Client container accesses server container.</a:t>
            </a:r>
          </a:p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13: Port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Aim:</a:t>
            </a:r>
          </a:p>
          <a:p>
            <a:pPr marL="0" indent="0">
              <a:buNone/>
            </a:pPr>
            <a:r>
              <a:rPr dirty="0"/>
              <a:t>Expose container services.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Commands:</a:t>
            </a:r>
          </a:p>
          <a:p>
            <a:pPr marL="0" indent="0">
              <a:buNone/>
            </a:pPr>
            <a:r>
              <a:rPr dirty="0"/>
              <a:t>docker run -d -p 8080:80 nginx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Explanation:</a:t>
            </a:r>
          </a:p>
          <a:p>
            <a:pPr marL="0" indent="0">
              <a:buNone/>
            </a:pPr>
            <a:r>
              <a:rPr dirty="0"/>
              <a:t>Host port 8080 forwards traffic to container port 80.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Expected Result:</a:t>
            </a:r>
          </a:p>
          <a:p>
            <a:pPr marL="0" indent="0">
              <a:buNone/>
            </a:pPr>
            <a:r>
              <a:rPr dirty="0"/>
              <a:t>Website accessible at localhost:8080.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14: Resource Limits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Aim:</a:t>
            </a:r>
          </a:p>
          <a:p>
            <a:pPr marL="0" indent="0">
              <a:buNone/>
            </a:pPr>
            <a:r>
              <a:rPr dirty="0"/>
              <a:t>Apply CPU and memory limits.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Commands:</a:t>
            </a:r>
          </a:p>
          <a:p>
            <a:pPr marL="0" indent="0">
              <a:buNone/>
            </a:pPr>
            <a:r>
              <a:rPr dirty="0"/>
              <a:t>docker run --memory=256m ubuntu</a:t>
            </a:r>
          </a:p>
          <a:p>
            <a:pPr marL="0" indent="0">
              <a:buNone/>
            </a:pPr>
            <a:r>
              <a:rPr dirty="0"/>
              <a:t>docker run --</a:t>
            </a:r>
            <a:r>
              <a:rPr dirty="0" err="1"/>
              <a:t>cpus</a:t>
            </a:r>
            <a:r>
              <a:rPr dirty="0"/>
              <a:t>=0.5 ubuntu</a:t>
            </a:r>
          </a:p>
          <a:p>
            <a:pPr marL="0" indent="0">
              <a:buNone/>
            </a:pPr>
            <a:r>
              <a:rPr dirty="0"/>
              <a:t>docker stats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Explanation:</a:t>
            </a:r>
          </a:p>
          <a:p>
            <a:pPr marL="0" indent="0">
              <a:buNone/>
            </a:pPr>
            <a:r>
              <a:rPr dirty="0" err="1"/>
              <a:t>cgroups</a:t>
            </a:r>
            <a:r>
              <a:rPr dirty="0"/>
              <a:t> enforce resource restrictions.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Expected Result:</a:t>
            </a:r>
          </a:p>
          <a:p>
            <a:pPr marL="0" indent="0">
              <a:buNone/>
            </a:pPr>
            <a:r>
              <a:rPr dirty="0"/>
              <a:t>Container resource usage controlled.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15: Inspect Docker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Aim:</a:t>
            </a:r>
          </a:p>
          <a:p>
            <a:pPr marL="0" indent="0">
              <a:buNone/>
            </a:pPr>
            <a:r>
              <a:rPr dirty="0"/>
              <a:t>Inspect metadata.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Commands:</a:t>
            </a:r>
          </a:p>
          <a:p>
            <a:pPr marL="0" indent="0">
              <a:buNone/>
            </a:pPr>
            <a:r>
              <a:rPr dirty="0"/>
              <a:t>docker inspect &lt;container&gt;</a:t>
            </a:r>
          </a:p>
          <a:p>
            <a:pPr marL="0" indent="0">
              <a:buNone/>
            </a:pPr>
            <a:r>
              <a:rPr dirty="0"/>
              <a:t>docker inspect nginx</a:t>
            </a:r>
          </a:p>
          <a:p>
            <a:pPr marL="0" indent="0">
              <a:buNone/>
            </a:pPr>
            <a:r>
              <a:rPr dirty="0"/>
              <a:t>docker inspect </a:t>
            </a:r>
            <a:r>
              <a:rPr dirty="0" err="1"/>
              <a:t>devops</a:t>
            </a:r>
            <a:r>
              <a:rPr dirty="0"/>
              <a:t>-net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Explanation:</a:t>
            </a:r>
          </a:p>
          <a:p>
            <a:pPr marL="0" indent="0">
              <a:buNone/>
            </a:pPr>
            <a:r>
              <a:rPr dirty="0"/>
              <a:t>Inspect reveals configuration details in JSON.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Expected Result:</a:t>
            </a:r>
          </a:p>
          <a:p>
            <a:pPr marL="0" indent="0">
              <a:buNone/>
            </a:pPr>
            <a:r>
              <a:rPr dirty="0"/>
              <a:t>Students analyze object configuration.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16: Debugging Containers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Aim:</a:t>
            </a:r>
          </a:p>
          <a:p>
            <a:pPr marL="0" indent="0">
              <a:buNone/>
            </a:pPr>
            <a:r>
              <a:rPr dirty="0"/>
              <a:t>Debug containers using logs and exec.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Commands:</a:t>
            </a:r>
          </a:p>
          <a:p>
            <a:pPr marL="0" indent="0">
              <a:buNone/>
            </a:pPr>
            <a:r>
              <a:rPr dirty="0"/>
              <a:t>docker logs &lt;container&gt;</a:t>
            </a:r>
          </a:p>
          <a:p>
            <a:pPr marL="0" indent="0">
              <a:buNone/>
            </a:pPr>
            <a:r>
              <a:rPr dirty="0"/>
              <a:t>docker exec -it &lt;container&gt; bash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Explanation:</a:t>
            </a:r>
          </a:p>
          <a:p>
            <a:pPr marL="0" indent="0">
              <a:buNone/>
            </a:pPr>
            <a:r>
              <a:rPr dirty="0"/>
              <a:t>Logs show container output, exec allows shell debugging.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Expected Result:</a:t>
            </a:r>
          </a:p>
          <a:p>
            <a:pPr marL="0" indent="0">
              <a:buNone/>
            </a:pPr>
            <a:r>
              <a:rPr dirty="0"/>
              <a:t>Students debug container issues.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17: Dockerfile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Aim:</a:t>
            </a:r>
          </a:p>
          <a:p>
            <a:pPr marL="0" indent="0">
              <a:buNone/>
            </a:pPr>
            <a:r>
              <a:rPr dirty="0"/>
              <a:t>Understand build cache.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Concept:</a:t>
            </a:r>
          </a:p>
          <a:p>
            <a:pPr marL="0" indent="0">
              <a:buNone/>
            </a:pPr>
            <a:r>
              <a:rPr dirty="0"/>
              <a:t>Copy dependencies first, then code.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Example:</a:t>
            </a:r>
          </a:p>
          <a:p>
            <a:pPr marL="0" indent="0">
              <a:buNone/>
            </a:pPr>
            <a:r>
              <a:rPr dirty="0"/>
              <a:t>COPY requirements.txt .</a:t>
            </a:r>
          </a:p>
          <a:p>
            <a:pPr marL="0" indent="0">
              <a:buNone/>
            </a:pPr>
            <a:r>
              <a:rPr dirty="0"/>
              <a:t>RUN pip install -r requirements.txt</a:t>
            </a:r>
          </a:p>
          <a:p>
            <a:pPr marL="0" indent="0">
              <a:buNone/>
            </a:pPr>
            <a:r>
              <a:rPr dirty="0"/>
              <a:t>COPY app.py 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Explanation:</a:t>
            </a:r>
          </a:p>
          <a:p>
            <a:pPr marL="0" indent="0">
              <a:buNone/>
            </a:pPr>
            <a:r>
              <a:rPr dirty="0"/>
              <a:t>Efficient </a:t>
            </a:r>
            <a:r>
              <a:rPr dirty="0" err="1"/>
              <a:t>Dockerfiles</a:t>
            </a:r>
            <a:r>
              <a:rPr dirty="0"/>
              <a:t> reduce build time.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Expected Result:</a:t>
            </a:r>
          </a:p>
          <a:p>
            <a:pPr marL="0" indent="0">
              <a:buNone/>
            </a:pPr>
            <a:r>
              <a:rPr dirty="0"/>
              <a:t>Students understand build caching.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18: Troubleshooting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Aim:</a:t>
            </a:r>
          </a:p>
          <a:p>
            <a:pPr marL="0" indent="0">
              <a:buNone/>
            </a:pPr>
            <a:r>
              <a:rPr dirty="0"/>
              <a:t>Identify common Docker issues.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Examples:</a:t>
            </a:r>
          </a:p>
          <a:p>
            <a:pPr marL="0" indent="0">
              <a:buNone/>
            </a:pPr>
            <a:r>
              <a:rPr dirty="0"/>
              <a:t>Container exits immediately</a:t>
            </a:r>
          </a:p>
          <a:p>
            <a:pPr marL="0" indent="0">
              <a:buNone/>
            </a:pPr>
            <a:r>
              <a:rPr dirty="0"/>
              <a:t>Port already allocated</a:t>
            </a:r>
          </a:p>
          <a:p>
            <a:pPr marL="0" indent="0">
              <a:buNone/>
            </a:pPr>
            <a:r>
              <a:rPr dirty="0"/>
              <a:t>Image not found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Explanation:</a:t>
            </a:r>
          </a:p>
          <a:p>
            <a:pPr marL="0" indent="0">
              <a:buNone/>
            </a:pPr>
            <a:r>
              <a:rPr dirty="0"/>
              <a:t>Students practice diagnosing container failures.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Expected Result:</a:t>
            </a:r>
          </a:p>
          <a:p>
            <a:pPr marL="0" indent="0">
              <a:buNone/>
            </a:pPr>
            <a:r>
              <a:rPr dirty="0"/>
              <a:t>Students resolve container issues.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19: Static Website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Aim:</a:t>
            </a:r>
          </a:p>
          <a:p>
            <a:pPr marL="0" indent="0">
              <a:buNone/>
            </a:pPr>
            <a:r>
              <a:rPr dirty="0"/>
              <a:t>Deploy static website using Nginx.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 err="1"/>
              <a:t>Dockerfile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FROM nginx</a:t>
            </a:r>
          </a:p>
          <a:p>
            <a:pPr marL="0" indent="0">
              <a:buNone/>
            </a:pPr>
            <a:r>
              <a:rPr dirty="0"/>
              <a:t>COPY index.html /</a:t>
            </a:r>
            <a:r>
              <a:rPr dirty="0" err="1"/>
              <a:t>usr</a:t>
            </a:r>
            <a:r>
              <a:rPr dirty="0"/>
              <a:t>/share/nginx/html/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Commands:</a:t>
            </a:r>
          </a:p>
          <a:p>
            <a:pPr marL="0" indent="0">
              <a:buNone/>
            </a:pPr>
            <a:r>
              <a:rPr dirty="0"/>
              <a:t>docker build -t </a:t>
            </a:r>
            <a:r>
              <a:rPr dirty="0" err="1"/>
              <a:t>staticweb</a:t>
            </a:r>
            <a:r>
              <a:rPr dirty="0"/>
              <a:t> .</a:t>
            </a:r>
          </a:p>
          <a:p>
            <a:pPr marL="0" indent="0">
              <a:buNone/>
            </a:pPr>
            <a:r>
              <a:rPr dirty="0"/>
              <a:t>docker run -d -p 8080:80 </a:t>
            </a:r>
            <a:r>
              <a:rPr dirty="0" err="1"/>
              <a:t>staticweb</a:t>
            </a:r>
            <a:endParaRPr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Expected Result:</a:t>
            </a:r>
          </a:p>
          <a:p>
            <a:pPr marL="0" indent="0">
              <a:buNone/>
            </a:pPr>
            <a:r>
              <a:rPr dirty="0"/>
              <a:t>Static webpage loads in browser.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20: Python Web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Aim:</a:t>
            </a:r>
          </a:p>
          <a:p>
            <a:pPr marL="0" indent="0">
              <a:buNone/>
            </a:pPr>
            <a:r>
              <a:rPr dirty="0"/>
              <a:t>Containerize Flask application.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Commands:</a:t>
            </a:r>
          </a:p>
          <a:p>
            <a:pPr marL="0" indent="0">
              <a:buNone/>
            </a:pPr>
            <a:r>
              <a:rPr dirty="0"/>
              <a:t>docker build -t </a:t>
            </a:r>
            <a:r>
              <a:rPr dirty="0" err="1"/>
              <a:t>flaskapp</a:t>
            </a:r>
            <a:r>
              <a:rPr dirty="0"/>
              <a:t> .</a:t>
            </a:r>
          </a:p>
          <a:p>
            <a:pPr marL="0" indent="0">
              <a:buNone/>
            </a:pPr>
            <a:r>
              <a:rPr dirty="0"/>
              <a:t>docker run -d -p 5000:5000 </a:t>
            </a:r>
            <a:r>
              <a:rPr dirty="0" err="1"/>
              <a:t>flaskapp</a:t>
            </a:r>
            <a:endParaRPr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Explanation:</a:t>
            </a:r>
          </a:p>
          <a:p>
            <a:pPr marL="0" indent="0">
              <a:buNone/>
            </a:pPr>
            <a:r>
              <a:rPr dirty="0"/>
              <a:t>Application runs inside container.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Expected Result:</a:t>
            </a:r>
          </a:p>
          <a:p>
            <a:pPr marL="0" indent="0">
              <a:buNone/>
            </a:pPr>
            <a:r>
              <a:rPr dirty="0"/>
              <a:t>Flask webpage loads.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21: Multi‑Container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Aim:</a:t>
            </a:r>
          </a:p>
          <a:p>
            <a:pPr marL="0" indent="0">
              <a:buNone/>
            </a:pPr>
            <a:r>
              <a:rPr dirty="0"/>
              <a:t>Deploy multi‑service application.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Steps:</a:t>
            </a:r>
          </a:p>
          <a:p>
            <a:pPr marL="0" indent="0">
              <a:buNone/>
            </a:pPr>
            <a:r>
              <a:rPr dirty="0"/>
              <a:t>• Create network</a:t>
            </a:r>
          </a:p>
          <a:p>
            <a:pPr marL="0" indent="0">
              <a:buNone/>
            </a:pPr>
            <a:r>
              <a:rPr dirty="0"/>
              <a:t>• Run frontend container</a:t>
            </a:r>
          </a:p>
          <a:p>
            <a:pPr marL="0" indent="0">
              <a:buNone/>
            </a:pPr>
            <a:r>
              <a:rPr dirty="0"/>
              <a:t>• Run backend container</a:t>
            </a:r>
          </a:p>
          <a:p>
            <a:pPr marL="0" indent="0">
              <a:buNone/>
            </a:pPr>
            <a:r>
              <a:rPr dirty="0"/>
              <a:t>• Enable communication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Expected Result:</a:t>
            </a:r>
          </a:p>
          <a:p>
            <a:pPr marL="0" indent="0">
              <a:buNone/>
            </a:pPr>
            <a:r>
              <a:rPr dirty="0"/>
              <a:t>Services communicate across containers.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22: Industry Case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Aim:</a:t>
            </a:r>
          </a:p>
          <a:p>
            <a:pPr marL="0" indent="0">
              <a:buNone/>
            </a:pPr>
            <a:r>
              <a:rPr dirty="0"/>
              <a:t>Apply Docker knowledge to real DevOps scenarios.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Cases:</a:t>
            </a:r>
          </a:p>
          <a:p>
            <a:pPr marL="0" indent="0">
              <a:buNone/>
            </a:pPr>
            <a:r>
              <a:rPr dirty="0"/>
              <a:t>• Container memory overload</a:t>
            </a:r>
          </a:p>
          <a:p>
            <a:pPr marL="0" indent="0">
              <a:buNone/>
            </a:pPr>
            <a:r>
              <a:rPr dirty="0"/>
              <a:t>• Data loss after restart</a:t>
            </a:r>
          </a:p>
          <a:p>
            <a:pPr marL="0" indent="0">
              <a:buNone/>
            </a:pPr>
            <a:r>
              <a:rPr dirty="0"/>
              <a:t>• Service communication failure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Explanation:</a:t>
            </a:r>
          </a:p>
          <a:p>
            <a:pPr marL="0" indent="0">
              <a:buNone/>
            </a:pPr>
            <a:r>
              <a:rPr dirty="0"/>
              <a:t>Students apply troubleshooting and architecture knowledge.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Expected Result:</a:t>
            </a:r>
          </a:p>
          <a:p>
            <a:pPr marL="0" indent="0">
              <a:buNone/>
            </a:pPr>
            <a:r>
              <a:rPr dirty="0"/>
              <a:t>Students propose Docker‑based solutions.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PPT-Template</Template>
  <TotalTime>7</TotalTime>
  <Words>1186</Words>
  <Application>Microsoft Office PowerPoint</Application>
  <PresentationFormat>On-screen Show (4:3)</PresentationFormat>
  <Paragraphs>347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1_Office Theme</vt:lpstr>
      <vt:lpstr>DevOps Containerization Lab</vt:lpstr>
      <vt:lpstr>Experiment 1: Introduction to Containers and Docker</vt:lpstr>
      <vt:lpstr>Experiment 2: Docker Architecture</vt:lpstr>
      <vt:lpstr>Experiment 3: Docker Objects</vt:lpstr>
      <vt:lpstr>Experiment 4: Container Lifecycle</vt:lpstr>
      <vt:lpstr>Experiment 5: Process Isolation</vt:lpstr>
      <vt:lpstr>Experiment 6: Container Runtime Modes</vt:lpstr>
      <vt:lpstr>Experiment 7: Docker Images and Layers</vt:lpstr>
      <vt:lpstr>Experiment 8: Build Docker Image</vt:lpstr>
      <vt:lpstr>Experiment 9: Docker Hub</vt:lpstr>
      <vt:lpstr>Experiment 10: Docker Volumes</vt:lpstr>
      <vt:lpstr>Experiment 11: Docker Networking</vt:lpstr>
      <vt:lpstr>Experiment 12: Multi‑Container Communication</vt:lpstr>
      <vt:lpstr>Experiment 13: Port Mapping</vt:lpstr>
      <vt:lpstr>Experiment 14: Resource Limits</vt:lpstr>
      <vt:lpstr>Experiment 15: Inspect Docker Objects</vt:lpstr>
      <vt:lpstr>Experiment 16: Debugging Containers</vt:lpstr>
      <vt:lpstr>Experiment 17: Dockerfile Optimization</vt:lpstr>
      <vt:lpstr>Experiment 18: Troubleshooting</vt:lpstr>
      <vt:lpstr>Experiment 19: Static Website Deployment</vt:lpstr>
      <vt:lpstr>Experiment 20: Python Web App</vt:lpstr>
      <vt:lpstr>Experiment 21: Multi‑Container Project</vt:lpstr>
      <vt:lpstr>Experiment 22: Industry Case Study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alok misra</cp:lastModifiedBy>
  <cp:revision>3</cp:revision>
  <dcterms:created xsi:type="dcterms:W3CDTF">2013-01-27T09:14:16Z</dcterms:created>
  <dcterms:modified xsi:type="dcterms:W3CDTF">2026-03-14T18:00:56Z</dcterms:modified>
  <cp:category/>
</cp:coreProperties>
</file>