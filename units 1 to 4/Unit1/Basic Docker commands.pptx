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6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Lst>
  <p:sldSz cx="9144000" cy="6858000" type="screen4x3"/>
  <p:notesSz cx="6858000" cy="9144000"/>
  <p:embeddedFontLst>
    <p:embeddedFont>
      <p:font typeface="Arial Narrow" panose="020B0606020202030204" pitchFamily="34" charset="0"/>
      <p:regular r:id="rId66"/>
      <p:bold r:id="rId67"/>
      <p:italic r:id="rId68"/>
      <p:boldItalic r:id="rId69"/>
    </p:embeddedFont>
    <p:embeddedFont>
      <p:font typeface="Arimo" panose="020B0604020202020204" charset="0"/>
      <p:regular r:id="rId70"/>
      <p:bold r:id="rId71"/>
      <p:italic r:id="rId72"/>
      <p:boldItalic r:id="rId73"/>
    </p:embeddedFont>
    <p:embeddedFont>
      <p:font typeface="Roboto Mono" panose="00000009000000000000" pitchFamily="49"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027C93-1E35-4AD7-87A9-21D739A60C18}">
  <a:tblStyle styleId="{18027C93-1E35-4AD7-87A9-21D739A60C1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1508"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3.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9.fntdata"/><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7.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5.fntdata"/><Relationship Id="rId75"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1.fntdata"/><Relationship Id="rId7" Type="http://schemas.openxmlformats.org/officeDocument/2006/relationships/slide" Target="slides/slide5.xml"/><Relationship Id="rId71" Type="http://schemas.openxmlformats.org/officeDocument/2006/relationships/font" Target="fonts/font6.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35" name="Google Shape;235;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0" i="0" u="none">
                <a:solidFill>
                  <a:srgbClr val="000000"/>
                </a:solidFill>
                <a:latin typeface="Arial"/>
                <a:ea typeface="Arial"/>
                <a:cs typeface="Arial"/>
                <a:sym typeface="Arial"/>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bd16a18fd7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3bd16a18fd7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g3bd16a18fd7_0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55</a:t>
            </a:fld>
            <a:endParaRPr sz="14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bd16a18fd7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bd16a18fd7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g3bd16a18fd7_0_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56</a:t>
            </a:fld>
            <a:endParaRPr sz="140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bd16a18fd7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3bd16a18fd7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g3bd16a18fd7_0_1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57</a:t>
            </a:fld>
            <a:endParaRPr sz="14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bd16a18fd7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bd16a18fd7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g3bd16a18fd7_0_1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58</a:t>
            </a:fld>
            <a:endParaRPr sz="140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bd16a18fd7_0_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bd16a18fd7_0_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g3bd16a18fd7_0_3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59</a:t>
            </a:fld>
            <a:endParaRPr sz="140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bd16a18fd7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bd16a18fd7_0_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g3bd16a18fd7_0_45: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60</a:t>
            </a:fld>
            <a:endParaRPr sz="140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bd16a18fd7_0_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bd16a18fd7_0_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g3bd16a18fd7_0_57: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61</a:t>
            </a:fld>
            <a:endParaRPr sz="14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bd16a18fd7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bd16a18fd7_0_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g3bd16a18fd7_0_9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62</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SzPts val="1800"/>
              <a:buNone/>
              <a:defRPr>
                <a:solidFill>
                  <a:schemeClr val="lt1"/>
                </a:solidFill>
              </a:defRPr>
            </a:lvl1pPr>
            <a:lvl2pPr lvl="1" algn="ctr">
              <a:spcBef>
                <a:spcPts val="400"/>
              </a:spcBef>
              <a:spcAft>
                <a:spcPts val="0"/>
              </a:spcAft>
              <a:buSzPts val="2000"/>
              <a:buFont typeface="Times New Roman"/>
              <a:buNone/>
              <a:defRPr>
                <a:solidFill>
                  <a:schemeClr val="lt1"/>
                </a:solidFill>
              </a:defRPr>
            </a:lvl2pPr>
            <a:lvl3pPr lvl="2" algn="ctr">
              <a:spcBef>
                <a:spcPts val="480"/>
              </a:spcBef>
              <a:spcAft>
                <a:spcPts val="0"/>
              </a:spcAft>
              <a:buSzPts val="2400"/>
              <a:buFont typeface="Times New Roman"/>
              <a:buNone/>
              <a:defRPr>
                <a:solidFill>
                  <a:schemeClr val="lt1"/>
                </a:solidFill>
              </a:defRPr>
            </a:lvl3pPr>
            <a:lvl4pPr lvl="3" algn="ctr">
              <a:spcBef>
                <a:spcPts val="400"/>
              </a:spcBef>
              <a:spcAft>
                <a:spcPts val="0"/>
              </a:spcAft>
              <a:buSzPts val="2000"/>
              <a:buFont typeface="Times New Roman"/>
              <a:buNone/>
              <a:defRPr>
                <a:solidFill>
                  <a:schemeClr val="lt1"/>
                </a:solidFill>
              </a:defRPr>
            </a:lvl4pPr>
            <a:lvl5pPr lvl="4" algn="ctr">
              <a:spcBef>
                <a:spcPts val="400"/>
              </a:spcBef>
              <a:spcAft>
                <a:spcPts val="0"/>
              </a:spcAft>
              <a:buSzPts val="2000"/>
              <a:buFont typeface="Times New Roman"/>
              <a:buNone/>
              <a:defRPr>
                <a:solidFill>
                  <a:schemeClr val="lt1"/>
                </a:solidFill>
              </a:defRPr>
            </a:lvl5pPr>
            <a:lvl6pPr lvl="5" algn="ctr">
              <a:spcBef>
                <a:spcPts val="360"/>
              </a:spcBef>
              <a:spcAft>
                <a:spcPts val="0"/>
              </a:spcAft>
              <a:buSzPts val="1800"/>
              <a:buFont typeface="Times New Roman"/>
              <a:buNone/>
              <a:defRPr>
                <a:solidFill>
                  <a:schemeClr val="lt1"/>
                </a:solidFill>
              </a:defRPr>
            </a:lvl6pPr>
            <a:lvl7pPr lvl="6" algn="ctr">
              <a:spcBef>
                <a:spcPts val="360"/>
              </a:spcBef>
              <a:spcAft>
                <a:spcPts val="0"/>
              </a:spcAft>
              <a:buSzPts val="1800"/>
              <a:buFont typeface="Times New Roman"/>
              <a:buNone/>
              <a:defRPr>
                <a:solidFill>
                  <a:schemeClr val="lt1"/>
                </a:solidFill>
              </a:defRPr>
            </a:lvl7pPr>
            <a:lvl8pPr lvl="7" algn="ctr">
              <a:spcBef>
                <a:spcPts val="360"/>
              </a:spcBef>
              <a:spcAft>
                <a:spcPts val="0"/>
              </a:spcAft>
              <a:buSzPts val="1800"/>
              <a:buFont typeface="Times New Roman"/>
              <a:buNone/>
              <a:defRPr>
                <a:solidFill>
                  <a:schemeClr val="lt1"/>
                </a:solidFill>
              </a:defRPr>
            </a:lvl8pPr>
            <a:lvl9pPr lvl="8" algn="ctr">
              <a:spcBef>
                <a:spcPts val="360"/>
              </a:spcBef>
              <a:spcAft>
                <a:spcPts val="0"/>
              </a:spcAft>
              <a:buSzPts val="1800"/>
              <a:buFont typeface="Times New Roman"/>
              <a:buNone/>
              <a:defRPr>
                <a:solidFill>
                  <a:schemeClr val="lt1"/>
                </a:solidFill>
              </a:defRPr>
            </a:lvl9pPr>
          </a:lstStyle>
          <a:p>
            <a:endParaRPr/>
          </a:p>
        </p:txBody>
      </p:sp>
      <p:sp>
        <p:nvSpPr>
          <p:cNvPr id="22" name="Google Shape;22;p2"/>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1pPr>
            <a:lvl2pPr marL="0" marR="0" lvl="1"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2pPr>
            <a:lvl3pPr marL="0" marR="0" lvl="2"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3pPr>
            <a:lvl4pPr marL="0" marR="0" lvl="3"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4pPr>
            <a:lvl5pPr marL="0" marR="0" lvl="4"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5pPr>
            <a:lvl6pPr marL="0" marR="0" lvl="5"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6pPr>
            <a:lvl7pPr marL="0" marR="0" lvl="6"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7pPr>
            <a:lvl8pPr marL="0" marR="0" lvl="7"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8pPr>
            <a:lvl9pPr marL="0" marR="0" lvl="8" indent="0" algn="l">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b="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lvl1pPr marL="457200" lvl="0" indent="-342900" algn="l">
              <a:spcBef>
                <a:spcPts val="480"/>
              </a:spcBef>
              <a:spcAft>
                <a:spcPts val="0"/>
              </a:spcAft>
              <a:buClr>
                <a:schemeClr val="dk1"/>
              </a:buClr>
              <a:buSzPts val="1800"/>
              <a:buFont typeface="Arial"/>
              <a:buChar char="•"/>
              <a:defRPr b="0">
                <a:solidFill>
                  <a:schemeClr val="dk1"/>
                </a:solidFill>
              </a:defRPr>
            </a:lvl1pPr>
            <a:lvl2pPr marL="914400" lvl="1" indent="-355600" algn="l">
              <a:spcBef>
                <a:spcPts val="400"/>
              </a:spcBef>
              <a:spcAft>
                <a:spcPts val="0"/>
              </a:spcAft>
              <a:buClr>
                <a:schemeClr val="dk1"/>
              </a:buClr>
              <a:buSzPts val="2000"/>
              <a:buFont typeface="Arial"/>
              <a:buChar char="•"/>
              <a:defRPr b="0">
                <a:solidFill>
                  <a:schemeClr val="dk1"/>
                </a:solidFill>
              </a:defRPr>
            </a:lvl2pPr>
            <a:lvl3pPr marL="1371600" lvl="2" indent="-381000" algn="l">
              <a:spcBef>
                <a:spcPts val="480"/>
              </a:spcBef>
              <a:spcAft>
                <a:spcPts val="0"/>
              </a:spcAft>
              <a:buClr>
                <a:schemeClr val="dk1"/>
              </a:buClr>
              <a:buSzPts val="2400"/>
              <a:buFont typeface="Arial"/>
              <a:buChar char="•"/>
              <a:defRPr b="0">
                <a:solidFill>
                  <a:schemeClr val="dk1"/>
                </a:solidFill>
              </a:defRPr>
            </a:lvl3pPr>
            <a:lvl4pPr marL="1828800" lvl="3" indent="-355600" algn="l">
              <a:spcBef>
                <a:spcPts val="400"/>
              </a:spcBef>
              <a:spcAft>
                <a:spcPts val="0"/>
              </a:spcAft>
              <a:buClr>
                <a:schemeClr val="dk1"/>
              </a:buClr>
              <a:buSzPts val="2000"/>
              <a:buFont typeface="Arial"/>
              <a:buChar char="•"/>
              <a:defRPr b="0">
                <a:solidFill>
                  <a:schemeClr val="dk1"/>
                </a:solidFill>
              </a:defRPr>
            </a:lvl4pPr>
            <a:lvl5pPr marL="2286000" lvl="4" indent="-355600" algn="l">
              <a:spcBef>
                <a:spcPts val="400"/>
              </a:spcBef>
              <a:spcAft>
                <a:spcPts val="0"/>
              </a:spcAft>
              <a:buClr>
                <a:schemeClr val="dk1"/>
              </a:buClr>
              <a:buSzPts val="2000"/>
              <a:buFont typeface="Arial"/>
              <a:buChar char="•"/>
              <a:defRPr b="0">
                <a:solidFill>
                  <a:schemeClr val="dk1"/>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6" name="Google Shape;36;p4"/>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609600" y="152400"/>
            <a:ext cx="7588250"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609600" y="1266825"/>
            <a:ext cx="4076700" cy="490537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0" name="Google Shape;40;p5"/>
          <p:cNvSpPr txBox="1">
            <a:spLocks noGrp="1"/>
          </p:cNvSpPr>
          <p:nvPr>
            <p:ph type="body" idx="2"/>
          </p:nvPr>
        </p:nvSpPr>
        <p:spPr>
          <a:xfrm>
            <a:off x="4838700" y="1266825"/>
            <a:ext cx="4076700" cy="490537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1" name="Google Shape;41;p5"/>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rot="5400000">
            <a:off x="4867275" y="2124075"/>
            <a:ext cx="6019800" cy="20764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body" idx="1"/>
          </p:nvPr>
        </p:nvSpPr>
        <p:spPr>
          <a:xfrm rot="5400000">
            <a:off x="638175" y="123825"/>
            <a:ext cx="6019800" cy="6076950"/>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5" name="Google Shape;45;p6"/>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609600" y="152400"/>
            <a:ext cx="7588250"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body" idx="1"/>
          </p:nvPr>
        </p:nvSpPr>
        <p:spPr>
          <a:xfrm rot="5400000">
            <a:off x="2309813" y="-433387"/>
            <a:ext cx="4905375" cy="8305800"/>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9" name="Google Shape;49;p7"/>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a:spLocks noGrp="1"/>
          </p:cNvSpPr>
          <p:nvPr>
            <p:ph type="pic" idx="2"/>
          </p:nvPr>
        </p:nvSpPr>
        <p:spPr>
          <a:xfrm>
            <a:off x="1792288" y="612775"/>
            <a:ext cx="5486400" cy="4114800"/>
          </a:xfrm>
          <a:prstGeom prst="rect">
            <a:avLst/>
          </a:prstGeom>
          <a:noFill/>
          <a:ln>
            <a:noFill/>
          </a:ln>
        </p:spPr>
      </p:sp>
      <p:sp>
        <p:nvSpPr>
          <p:cNvPr id="53" name="Google Shape;53;p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050"/>
              <a:buNone/>
              <a:defRPr sz="1400"/>
            </a:lvl1pPr>
            <a:lvl2pPr marL="914400" lvl="1" indent="-228600" algn="l">
              <a:spcBef>
                <a:spcPts val="240"/>
              </a:spcBef>
              <a:spcAft>
                <a:spcPts val="0"/>
              </a:spcAft>
              <a:buSzPts val="1200"/>
              <a:buFont typeface="Times New Roman"/>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Font typeface="Times New Roman"/>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54" name="Google Shape;54;p8"/>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81000" algn="l">
              <a:spcBef>
                <a:spcPts val="640"/>
              </a:spcBef>
              <a:spcAft>
                <a:spcPts val="0"/>
              </a:spcAft>
              <a:buSzPts val="2400"/>
              <a:buChar char="●"/>
              <a:defRPr sz="3200"/>
            </a:lvl1pPr>
            <a:lvl2pPr marL="914400" lvl="1" indent="-406400" algn="l">
              <a:spcBef>
                <a:spcPts val="560"/>
              </a:spcBef>
              <a:spcAft>
                <a:spcPts val="0"/>
              </a:spcAft>
              <a:buSzPts val="2800"/>
              <a:buFont typeface="Times New Roman"/>
              <a:buChar char="•"/>
              <a:defRPr sz="2800"/>
            </a:lvl2pPr>
            <a:lvl3pPr marL="1371600" lvl="2" indent="-381000" algn="l">
              <a:spcBef>
                <a:spcPts val="480"/>
              </a:spcBef>
              <a:spcAft>
                <a:spcPts val="0"/>
              </a:spcAft>
              <a:buSzPts val="2400"/>
              <a:buFont typeface="Times New Roman"/>
              <a:buChar char="–"/>
              <a:defRPr sz="2400"/>
            </a:lvl3pPr>
            <a:lvl4pPr marL="1828800" lvl="3" indent="-355600" algn="l">
              <a:spcBef>
                <a:spcPts val="400"/>
              </a:spcBef>
              <a:spcAft>
                <a:spcPts val="0"/>
              </a:spcAft>
              <a:buSzPts val="2000"/>
              <a:buFont typeface="Times New Roman"/>
              <a:buChar char="–"/>
              <a:defRPr sz="2000"/>
            </a:lvl4pPr>
            <a:lvl5pPr marL="2286000" lvl="4" indent="-355600" algn="l">
              <a:spcBef>
                <a:spcPts val="400"/>
              </a:spcBef>
              <a:spcAft>
                <a:spcPts val="0"/>
              </a:spcAft>
              <a:buSzPts val="2000"/>
              <a:buFont typeface="Times New Roman"/>
              <a:buChar char="»"/>
              <a:defRPr sz="2000"/>
            </a:lvl5pPr>
            <a:lvl6pPr marL="2743200" lvl="5" indent="-355600" algn="l">
              <a:spcBef>
                <a:spcPts val="400"/>
              </a:spcBef>
              <a:spcAft>
                <a:spcPts val="0"/>
              </a:spcAft>
              <a:buSzPts val="2000"/>
              <a:buFont typeface="Times New Roman"/>
              <a:buChar char="»"/>
              <a:defRPr sz="2000"/>
            </a:lvl6pPr>
            <a:lvl7pPr marL="3200400" lvl="6" indent="-355600" algn="l">
              <a:spcBef>
                <a:spcPts val="400"/>
              </a:spcBef>
              <a:spcAft>
                <a:spcPts val="0"/>
              </a:spcAft>
              <a:buSzPts val="2000"/>
              <a:buFont typeface="Times New Roman"/>
              <a:buChar char="»"/>
              <a:defRPr sz="2000"/>
            </a:lvl7pPr>
            <a:lvl8pPr marL="3657600" lvl="7" indent="-355600" algn="l">
              <a:spcBef>
                <a:spcPts val="400"/>
              </a:spcBef>
              <a:spcAft>
                <a:spcPts val="0"/>
              </a:spcAft>
              <a:buSzPts val="2000"/>
              <a:buFont typeface="Times New Roman"/>
              <a:buChar char="»"/>
              <a:defRPr sz="2000"/>
            </a:lvl8pPr>
            <a:lvl9pPr marL="4114800" lvl="8" indent="-355600" algn="l">
              <a:spcBef>
                <a:spcPts val="400"/>
              </a:spcBef>
              <a:spcAft>
                <a:spcPts val="0"/>
              </a:spcAft>
              <a:buSzPts val="2000"/>
              <a:buFont typeface="Times New Roman"/>
              <a:buChar char="»"/>
              <a:defRPr sz="2000"/>
            </a:lvl9pPr>
          </a:lstStyle>
          <a:p>
            <a:endParaRPr/>
          </a:p>
        </p:txBody>
      </p:sp>
      <p:sp>
        <p:nvSpPr>
          <p:cNvPr id="58" name="Google Shape;58;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050"/>
              <a:buNone/>
              <a:defRPr sz="1400"/>
            </a:lvl1pPr>
            <a:lvl2pPr marL="914400" lvl="1" indent="-228600" algn="l">
              <a:spcBef>
                <a:spcPts val="240"/>
              </a:spcBef>
              <a:spcAft>
                <a:spcPts val="0"/>
              </a:spcAft>
              <a:buSzPts val="1200"/>
              <a:buFont typeface="Times New Roman"/>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Font typeface="Times New Roman"/>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59" name="Google Shape;59;p9"/>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0"/>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11"/>
          <p:cNvSpPr txBox="1">
            <a:spLocks noGrp="1"/>
          </p:cNvSpPr>
          <p:nvPr>
            <p:ph type="title"/>
          </p:nvPr>
        </p:nvSpPr>
        <p:spPr>
          <a:xfrm>
            <a:off x="609600" y="152400"/>
            <a:ext cx="7588250"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1"/>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800"/>
              <a:buNone/>
              <a:defRPr sz="2400" b="1"/>
            </a:lvl1pPr>
            <a:lvl2pPr marL="914400" lvl="1" indent="-228600" algn="l">
              <a:spcBef>
                <a:spcPts val="400"/>
              </a:spcBef>
              <a:spcAft>
                <a:spcPts val="0"/>
              </a:spcAft>
              <a:buSzPts val="2000"/>
              <a:buFont typeface="Times New Roman"/>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68" name="Google Shape;68;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42900" algn="l">
              <a:spcBef>
                <a:spcPts val="480"/>
              </a:spcBef>
              <a:spcAft>
                <a:spcPts val="0"/>
              </a:spcAft>
              <a:buSzPts val="1800"/>
              <a:buChar char="●"/>
              <a:defRPr sz="2400"/>
            </a:lvl1pPr>
            <a:lvl2pPr marL="914400" lvl="1" indent="-355600" algn="l">
              <a:spcBef>
                <a:spcPts val="400"/>
              </a:spcBef>
              <a:spcAft>
                <a:spcPts val="0"/>
              </a:spcAft>
              <a:buSzPts val="2000"/>
              <a:buFont typeface="Times New Roman"/>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69" name="Google Shape;69;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800"/>
              <a:buNone/>
              <a:defRPr sz="2400" b="1"/>
            </a:lvl1pPr>
            <a:lvl2pPr marL="914400" lvl="1" indent="-228600" algn="l">
              <a:spcBef>
                <a:spcPts val="400"/>
              </a:spcBef>
              <a:spcAft>
                <a:spcPts val="0"/>
              </a:spcAft>
              <a:buSzPts val="2000"/>
              <a:buFont typeface="Times New Roman"/>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70" name="Google Shape;70;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42900" algn="l">
              <a:spcBef>
                <a:spcPts val="480"/>
              </a:spcBef>
              <a:spcAft>
                <a:spcPts val="0"/>
              </a:spcAft>
              <a:buSzPts val="1800"/>
              <a:buChar char="●"/>
              <a:defRPr sz="2400"/>
            </a:lvl1pPr>
            <a:lvl2pPr marL="914400" lvl="1" indent="-355600" algn="l">
              <a:spcBef>
                <a:spcPts val="400"/>
              </a:spcBef>
              <a:spcAft>
                <a:spcPts val="0"/>
              </a:spcAft>
              <a:buSzPts val="2000"/>
              <a:buFont typeface="Times New Roman"/>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71" name="Google Shape;71;p12"/>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609600" y="152400"/>
            <a:ext cx="7588250"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3"/>
          <p:cNvSpPr txBox="1">
            <a:spLocks noGrp="1"/>
          </p:cNvSpPr>
          <p:nvPr>
            <p:ph type="body" idx="1"/>
          </p:nvPr>
        </p:nvSpPr>
        <p:spPr>
          <a:xfrm>
            <a:off x="609600" y="1266825"/>
            <a:ext cx="4076700" cy="4905375"/>
          </a:xfrm>
          <a:prstGeom prst="rect">
            <a:avLst/>
          </a:prstGeom>
          <a:noFill/>
          <a:ln>
            <a:noFill/>
          </a:ln>
        </p:spPr>
        <p:txBody>
          <a:bodyPr spcFirstLastPara="1" wrap="square" lIns="91425" tIns="45700" rIns="91425" bIns="45700" anchor="t" anchorCtr="0">
            <a:noAutofit/>
          </a:bodyPr>
          <a:lstStyle>
            <a:lvl1pPr marL="457200" lvl="0" indent="-361950" algn="l">
              <a:spcBef>
                <a:spcPts val="560"/>
              </a:spcBef>
              <a:spcAft>
                <a:spcPts val="0"/>
              </a:spcAft>
              <a:buSzPts val="2100"/>
              <a:buChar char="●"/>
              <a:defRPr sz="2800"/>
            </a:lvl1pPr>
            <a:lvl2pPr marL="914400" lvl="1" indent="-381000" algn="l">
              <a:spcBef>
                <a:spcPts val="480"/>
              </a:spcBef>
              <a:spcAft>
                <a:spcPts val="0"/>
              </a:spcAft>
              <a:buSzPts val="2400"/>
              <a:buFont typeface="Times New Roman"/>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Font typeface="Times New Roman"/>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a:p>
        </p:txBody>
      </p:sp>
      <p:sp>
        <p:nvSpPr>
          <p:cNvPr id="75" name="Google Shape;75;p13"/>
          <p:cNvSpPr txBox="1">
            <a:spLocks noGrp="1"/>
          </p:cNvSpPr>
          <p:nvPr>
            <p:ph type="body" idx="2"/>
          </p:nvPr>
        </p:nvSpPr>
        <p:spPr>
          <a:xfrm>
            <a:off x="4838700" y="1266825"/>
            <a:ext cx="4076700" cy="4905375"/>
          </a:xfrm>
          <a:prstGeom prst="rect">
            <a:avLst/>
          </a:prstGeom>
          <a:noFill/>
          <a:ln>
            <a:noFill/>
          </a:ln>
        </p:spPr>
        <p:txBody>
          <a:bodyPr spcFirstLastPara="1" wrap="square" lIns="91425" tIns="45700" rIns="91425" bIns="45700" anchor="t" anchorCtr="0">
            <a:noAutofit/>
          </a:bodyPr>
          <a:lstStyle>
            <a:lvl1pPr marL="457200" lvl="0" indent="-361950" algn="l">
              <a:spcBef>
                <a:spcPts val="560"/>
              </a:spcBef>
              <a:spcAft>
                <a:spcPts val="0"/>
              </a:spcAft>
              <a:buSzPts val="2100"/>
              <a:buChar char="●"/>
              <a:defRPr sz="2800"/>
            </a:lvl1pPr>
            <a:lvl2pPr marL="914400" lvl="1" indent="-381000" algn="l">
              <a:spcBef>
                <a:spcPts val="480"/>
              </a:spcBef>
              <a:spcAft>
                <a:spcPts val="0"/>
              </a:spcAft>
              <a:buSzPts val="2400"/>
              <a:buFont typeface="Times New Roman"/>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Font typeface="Times New Roman"/>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a:p>
        </p:txBody>
      </p:sp>
      <p:sp>
        <p:nvSpPr>
          <p:cNvPr id="76" name="Google Shape;76;p13"/>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1500"/>
              <a:buNone/>
              <a:defRPr sz="2000"/>
            </a:lvl1pPr>
            <a:lvl2pPr marL="914400" lvl="1" indent="-228600" algn="l">
              <a:spcBef>
                <a:spcPts val="360"/>
              </a:spcBef>
              <a:spcAft>
                <a:spcPts val="0"/>
              </a:spcAft>
              <a:buSzPts val="1800"/>
              <a:buFont typeface="Times New Roman"/>
              <a:buNone/>
              <a:defRPr sz="1800"/>
            </a:lvl2pPr>
            <a:lvl3pPr marL="1371600" lvl="2" indent="-228600" algn="l">
              <a:spcBef>
                <a:spcPts val="320"/>
              </a:spcBef>
              <a:spcAft>
                <a:spcPts val="0"/>
              </a:spcAft>
              <a:buSzPts val="1600"/>
              <a:buFont typeface="Times New Roman"/>
              <a:buNone/>
              <a:defRPr sz="1600"/>
            </a:lvl3pPr>
            <a:lvl4pPr marL="1828800" lvl="3" indent="-228600" algn="l">
              <a:spcBef>
                <a:spcPts val="280"/>
              </a:spcBef>
              <a:spcAft>
                <a:spcPts val="0"/>
              </a:spcAft>
              <a:buSzPts val="1400"/>
              <a:buFont typeface="Times New Roman"/>
              <a:buNone/>
              <a:defRPr sz="1400"/>
            </a:lvl4pPr>
            <a:lvl5pPr marL="2286000" lvl="4" indent="-228600" algn="l">
              <a:spcBef>
                <a:spcPts val="280"/>
              </a:spcBef>
              <a:spcAft>
                <a:spcPts val="0"/>
              </a:spcAft>
              <a:buSzPts val="1400"/>
              <a:buFont typeface="Times New Roman"/>
              <a:buNone/>
              <a:defRPr sz="1400"/>
            </a:lvl5pPr>
            <a:lvl6pPr marL="2743200" lvl="5" indent="-228600" algn="l">
              <a:spcBef>
                <a:spcPts val="280"/>
              </a:spcBef>
              <a:spcAft>
                <a:spcPts val="0"/>
              </a:spcAft>
              <a:buSzPts val="1400"/>
              <a:buFont typeface="Times New Roman"/>
              <a:buNone/>
              <a:defRPr sz="1400"/>
            </a:lvl6pPr>
            <a:lvl7pPr marL="3200400" lvl="6" indent="-228600" algn="l">
              <a:spcBef>
                <a:spcPts val="280"/>
              </a:spcBef>
              <a:spcAft>
                <a:spcPts val="0"/>
              </a:spcAft>
              <a:buSzPts val="1400"/>
              <a:buFont typeface="Times New Roman"/>
              <a:buNone/>
              <a:defRPr sz="1400"/>
            </a:lvl7pPr>
            <a:lvl8pPr marL="3657600" lvl="7" indent="-228600" algn="l">
              <a:spcBef>
                <a:spcPts val="280"/>
              </a:spcBef>
              <a:spcAft>
                <a:spcPts val="0"/>
              </a:spcAft>
              <a:buSzPts val="1400"/>
              <a:buFont typeface="Times New Roman"/>
              <a:buNone/>
              <a:defRPr sz="1400"/>
            </a:lvl8pPr>
            <a:lvl9pPr marL="4114800" lvl="8" indent="-228600" algn="l">
              <a:spcBef>
                <a:spcPts val="280"/>
              </a:spcBef>
              <a:spcAft>
                <a:spcPts val="0"/>
              </a:spcAft>
              <a:buSzPts val="1400"/>
              <a:buFont typeface="Times New Roman"/>
              <a:buNone/>
              <a:defRPr sz="1400"/>
            </a:lvl9pPr>
          </a:lstStyle>
          <a:p>
            <a:endParaRPr/>
          </a:p>
        </p:txBody>
      </p:sp>
      <p:sp>
        <p:nvSpPr>
          <p:cNvPr id="80" name="Google Shape;80;p14"/>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sz="140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1981200" y="2179637"/>
            <a:ext cx="190500" cy="46783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1" name="Google Shape;11;p1"/>
          <p:cNvSpPr txBox="1"/>
          <p:nvPr/>
        </p:nvSpPr>
        <p:spPr>
          <a:xfrm>
            <a:off x="6908800" y="6400800"/>
            <a:ext cx="19050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2" name="Google Shape;12;p1"/>
          <p:cNvSpPr txBox="1"/>
          <p:nvPr/>
        </p:nvSpPr>
        <p:spPr>
          <a:xfrm>
            <a:off x="609600" y="6172200"/>
            <a:ext cx="3886200" cy="533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3" name="Google Shape;13;p1"/>
          <p:cNvSpPr txBox="1"/>
          <p:nvPr/>
        </p:nvSpPr>
        <p:spPr>
          <a:xfrm>
            <a:off x="2667000" y="6462712"/>
            <a:ext cx="6400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4" name="Google Shape;14;p1"/>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480"/>
              </a:spcBef>
              <a:spcAft>
                <a:spcPts val="0"/>
              </a:spcAft>
              <a:buClr>
                <a:srgbClr val="A50021"/>
              </a:buClr>
              <a:buSzPts val="1800"/>
              <a:buFont typeface="Arial"/>
              <a:buChar char="●"/>
              <a:defRPr sz="2400" b="1" i="0" u="none" strike="noStrike" cap="none">
                <a:solidFill>
                  <a:schemeClr val="dk1"/>
                </a:solidFill>
                <a:latin typeface="Times New Roman"/>
                <a:ea typeface="Times New Roman"/>
                <a:cs typeface="Times New Roman"/>
                <a:sym typeface="Times New Roman"/>
              </a:defRPr>
            </a:lvl1pPr>
            <a:lvl2pPr marL="914400" marR="0" lvl="1" indent="-355600" algn="l" rtl="0">
              <a:spcBef>
                <a:spcPts val="400"/>
              </a:spcBef>
              <a:spcAft>
                <a:spcPts val="0"/>
              </a:spcAft>
              <a:buClr>
                <a:srgbClr val="A50021"/>
              </a:buClr>
              <a:buSzPts val="2000"/>
              <a:buFont typeface="Times New Roman"/>
              <a:buChar char="•"/>
              <a:defRPr sz="2000" b="1"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rgbClr val="A50021"/>
              </a:buClr>
              <a:buSzPts val="2400"/>
              <a:buFont typeface="Times New Roman"/>
              <a:buChar char="–"/>
              <a:defRPr sz="2400" b="1"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rgbClr val="A50021"/>
              </a:buClr>
              <a:buSzPts val="2000"/>
              <a:buFont typeface="Times New Roman"/>
              <a:buChar char="–"/>
              <a:defRPr sz="2000" b="1"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rgbClr val="A50021"/>
              </a:buClr>
              <a:buSzPts val="2000"/>
              <a:buFont typeface="Times New Roman"/>
              <a:buChar char="»"/>
              <a:defRPr sz="2000" b="1"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6pPr>
            <a:lvl7pPr marL="3200400" marR="0" lvl="6"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7pPr>
            <a:lvl8pPr marL="3657600" marR="0" lvl="7"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8pPr>
            <a:lvl9pPr marL="4114800" marR="0" lvl="8"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9pPr>
          </a:lstStyle>
          <a:p>
            <a:endParaRPr/>
          </a:p>
        </p:txBody>
      </p:sp>
      <p:sp>
        <p:nvSpPr>
          <p:cNvPr id="15" name="Google Shape;15;p1"/>
          <p:cNvSpPr txBox="1">
            <a:spLocks noGrp="1"/>
          </p:cNvSpPr>
          <p:nvPr>
            <p:ph type="title"/>
          </p:nvPr>
        </p:nvSpPr>
        <p:spPr>
          <a:xfrm>
            <a:off x="609600" y="152400"/>
            <a:ext cx="7588250" cy="6858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6pPr>
            <a:lvl7pPr marR="0" lvl="6"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7pPr>
            <a:lvl8pPr marR="0" lvl="7"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8pPr>
            <a:lvl9pPr marR="0" lvl="8"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9pPr>
          </a:lstStyle>
          <a:p>
            <a:endParaRPr/>
          </a:p>
        </p:txBody>
      </p:sp>
      <p:sp>
        <p:nvSpPr>
          <p:cNvPr id="16" name="Google Shape;16;p1"/>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700"/>
              </a:spcBef>
              <a:spcAft>
                <a:spcPts val="0"/>
              </a:spcAft>
              <a:buSzPts val="1400"/>
              <a:buNone/>
              <a:defRPr sz="1400" b="0" i="0" u="none">
                <a:solidFill>
                  <a:schemeClr val="lt1"/>
                </a:solidFill>
                <a:latin typeface="Arial Narrow"/>
                <a:ea typeface="Arial Narrow"/>
                <a:cs typeface="Arial Narrow"/>
                <a:sym typeface="Arial Narrow"/>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7" name="Google Shape;17;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lt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8" name="Google Shape;18;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chemeClr val="lt1"/>
              </a:buClr>
              <a:buSzPts val="1800"/>
              <a:buFont typeface="Times New Roman"/>
              <a:buNone/>
              <a:defRPr sz="1800" b="0" i="0" u="none">
                <a:solidFill>
                  <a:schemeClr val="lt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25"/>
        <p:cNvGrpSpPr/>
        <p:nvPr/>
      </p:nvGrpSpPr>
      <p:grpSpPr>
        <a:xfrm>
          <a:off x="0" y="0"/>
          <a:ext cx="0" cy="0"/>
          <a:chOff x="0" y="0"/>
          <a:chExt cx="0" cy="0"/>
        </a:xfrm>
      </p:grpSpPr>
      <p:sp>
        <p:nvSpPr>
          <p:cNvPr id="26" name="Google Shape;26;p3"/>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480"/>
              </a:spcBef>
              <a:spcAft>
                <a:spcPts val="0"/>
              </a:spcAft>
              <a:buClr>
                <a:srgbClr val="A50021"/>
              </a:buClr>
              <a:buSzPts val="1800"/>
              <a:buFont typeface="Arial"/>
              <a:buChar char="●"/>
              <a:defRPr sz="2400" b="1" i="0" u="none" strike="noStrike" cap="none">
                <a:solidFill>
                  <a:schemeClr val="dk1"/>
                </a:solidFill>
                <a:latin typeface="Times New Roman"/>
                <a:ea typeface="Times New Roman"/>
                <a:cs typeface="Times New Roman"/>
                <a:sym typeface="Times New Roman"/>
              </a:defRPr>
            </a:lvl1pPr>
            <a:lvl2pPr marL="914400" marR="0" lvl="1" indent="-355600" algn="l" rtl="0">
              <a:spcBef>
                <a:spcPts val="400"/>
              </a:spcBef>
              <a:spcAft>
                <a:spcPts val="0"/>
              </a:spcAft>
              <a:buClr>
                <a:srgbClr val="A50021"/>
              </a:buClr>
              <a:buSzPts val="2000"/>
              <a:buFont typeface="Times New Roman"/>
              <a:buChar char="•"/>
              <a:defRPr sz="2000" b="1"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rgbClr val="A50021"/>
              </a:buClr>
              <a:buSzPts val="2400"/>
              <a:buFont typeface="Times New Roman"/>
              <a:buChar char="–"/>
              <a:defRPr sz="2400" b="1"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rgbClr val="A50021"/>
              </a:buClr>
              <a:buSzPts val="2000"/>
              <a:buFont typeface="Times New Roman"/>
              <a:buChar char="–"/>
              <a:defRPr sz="2000" b="1"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rgbClr val="A50021"/>
              </a:buClr>
              <a:buSzPts val="2000"/>
              <a:buFont typeface="Times New Roman"/>
              <a:buChar char="»"/>
              <a:defRPr sz="2000" b="1"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6pPr>
            <a:lvl7pPr marL="3200400" marR="0" lvl="6"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7pPr>
            <a:lvl8pPr marL="3657600" marR="0" lvl="7"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8pPr>
            <a:lvl9pPr marL="4114800" marR="0" lvl="8"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9pPr>
          </a:lstStyle>
          <a:p>
            <a:endParaRPr/>
          </a:p>
        </p:txBody>
      </p:sp>
      <p:sp>
        <p:nvSpPr>
          <p:cNvPr id="27" name="Google Shape;27;p3"/>
          <p:cNvSpPr txBox="1">
            <a:spLocks noGrp="1"/>
          </p:cNvSpPr>
          <p:nvPr>
            <p:ph type="dt" idx="10"/>
          </p:nvPr>
        </p:nvSpPr>
        <p:spPr>
          <a:xfrm>
            <a:off x="122555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700"/>
              </a:spcBef>
              <a:spcAft>
                <a:spcPts val="0"/>
              </a:spcAft>
              <a:buSzPts val="1400"/>
              <a:buNone/>
              <a:defRPr sz="1400" b="0" i="0" u="none">
                <a:solidFill>
                  <a:schemeClr val="lt1"/>
                </a:solidFill>
                <a:latin typeface="Arial Narrow"/>
                <a:ea typeface="Arial Narrow"/>
                <a:cs typeface="Arial Narrow"/>
                <a:sym typeface="Arial Narrow"/>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28" name="Google Shape;28;p3"/>
          <p:cNvSpPr txBox="1"/>
          <p:nvPr/>
        </p:nvSpPr>
        <p:spPr>
          <a:xfrm>
            <a:off x="1981200" y="2179637"/>
            <a:ext cx="190500" cy="46783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29" name="Google Shape;29;p3"/>
          <p:cNvSpPr txBox="1">
            <a:spLocks noGrp="1"/>
          </p:cNvSpPr>
          <p:nvPr>
            <p:ph type="title"/>
          </p:nvPr>
        </p:nvSpPr>
        <p:spPr>
          <a:xfrm>
            <a:off x="609600" y="152400"/>
            <a:ext cx="7588250" cy="6858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6pPr>
            <a:lvl7pPr marR="0" lvl="6"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7pPr>
            <a:lvl8pPr marR="0" lvl="7"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8pPr>
            <a:lvl9pPr marR="0" lvl="8"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9pPr>
          </a:lstStyle>
          <a:p>
            <a:endParaRPr/>
          </a:p>
        </p:txBody>
      </p:sp>
      <p:sp>
        <p:nvSpPr>
          <p:cNvPr id="30" name="Google Shape;30;p3"/>
          <p:cNvSpPr txBox="1"/>
          <p:nvPr/>
        </p:nvSpPr>
        <p:spPr>
          <a:xfrm>
            <a:off x="6908800" y="6400800"/>
            <a:ext cx="19050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31" name="Google Shape;31;p3"/>
          <p:cNvSpPr txBox="1"/>
          <p:nvPr/>
        </p:nvSpPr>
        <p:spPr>
          <a:xfrm>
            <a:off x="609600" y="6172200"/>
            <a:ext cx="3886200" cy="533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32" name="Google Shape;32;p3"/>
          <p:cNvSpPr txBox="1"/>
          <p:nvPr/>
        </p:nvSpPr>
        <p:spPr>
          <a:xfrm>
            <a:off x="2667000" y="6462712"/>
            <a:ext cx="6400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70C0"/>
              </a:buClr>
              <a:buSzPts val="3600"/>
              <a:buFont typeface="Times New Roman"/>
              <a:buNone/>
            </a:pPr>
            <a:r>
              <a:rPr lang="en-US" sz="3600" b="1" i="0" u="none">
                <a:solidFill>
                  <a:srgbClr val="0070C0"/>
                </a:solidFill>
                <a:latin typeface="Times New Roman"/>
                <a:ea typeface="Times New Roman"/>
                <a:cs typeface="Times New Roman"/>
                <a:sym typeface="Times New Roman"/>
              </a:rPr>
              <a:t>         Basic Docker commands</a:t>
            </a:r>
            <a:endParaRPr/>
          </a:p>
        </p:txBody>
      </p:sp>
      <p:sp>
        <p:nvSpPr>
          <p:cNvPr id="86" name="Google Shape;86;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800"/>
              <a:buNone/>
            </a:pPr>
            <a:r>
              <a:rPr lang="en-US" sz="2400" b="1" i="0" u="none">
                <a:solidFill>
                  <a:srgbClr val="FF0000"/>
                </a:solidFill>
                <a:latin typeface="Times New Roman"/>
                <a:ea typeface="Times New Roman"/>
                <a:cs typeface="Times New Roman"/>
                <a:sym typeface="Times New Roman"/>
              </a:rPr>
              <a:t>Course Code: INT332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xfrm>
            <a:off x="0" y="0"/>
            <a:ext cx="6500812"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92" name="Google Shape;92;p16"/>
          <p:cNvSpPr txBox="1">
            <a:spLocks noGrp="1"/>
          </p:cNvSpPr>
          <p:nvPr>
            <p:ph type="body" idx="1"/>
          </p:nvPr>
        </p:nvSpPr>
        <p:spPr>
          <a:xfrm>
            <a:off x="457200" y="2286000"/>
            <a:ext cx="8229600" cy="38401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strike="noStrike" cap="none">
                <a:solidFill>
                  <a:schemeClr val="dk1"/>
                </a:solidFill>
                <a:latin typeface="Times New Roman"/>
                <a:ea typeface="Times New Roman"/>
                <a:cs typeface="Times New Roman"/>
                <a:sym typeface="Times New Roman"/>
              </a:rPr>
              <a:t>$ docker --version </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strike="noStrike" cap="none">
              <a:solidFill>
                <a:schemeClr val="dk1"/>
              </a:solidFill>
              <a:latin typeface="Times New Roman"/>
              <a:ea typeface="Times New Roman"/>
              <a:cs typeface="Times New Roman"/>
              <a:sym typeface="Times New Roman"/>
            </a:endParaRPr>
          </a:p>
          <a:p>
            <a:pPr marL="342900" marR="0" lvl="0" indent="-228600" algn="l" rtl="0">
              <a:lnSpc>
                <a:spcPct val="100000"/>
              </a:lnSpc>
              <a:spcBef>
                <a:spcPts val="480"/>
              </a:spcBef>
              <a:spcAft>
                <a:spcPts val="0"/>
              </a:spcAft>
              <a:buClr>
                <a:schemeClr val="dk1"/>
              </a:buClr>
              <a:buSzPts val="1800"/>
              <a:buFont typeface="Arial"/>
              <a:buNone/>
            </a:pPr>
            <a:endParaRPr sz="24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strike="noStrike" cap="none">
                <a:solidFill>
                  <a:schemeClr val="dk1"/>
                </a:solidFill>
                <a:latin typeface="Times New Roman"/>
                <a:ea typeface="Times New Roman"/>
                <a:cs typeface="Times New Roman"/>
                <a:sym typeface="Times New Roman"/>
              </a:rPr>
              <a:t>Docker version 18.09.6, build 481bc77</a:t>
            </a:r>
            <a:endParaRPr/>
          </a:p>
        </p:txBody>
      </p:sp>
      <p:pic>
        <p:nvPicPr>
          <p:cNvPr id="93" name="Google Shape;93;p16"/>
          <p:cNvPicPr preferRelativeResize="0"/>
          <p:nvPr/>
        </p:nvPicPr>
        <p:blipFill rotWithShape="1">
          <a:blip r:embed="rId3">
            <a:alphaModFix/>
          </a:blip>
          <a:srcRect/>
          <a:stretch/>
        </p:blipFill>
        <p:spPr>
          <a:xfrm>
            <a:off x="0" y="0"/>
            <a:ext cx="6500812" cy="1571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0" y="0"/>
            <a:ext cx="6357937" cy="107156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200"/>
              <a:buFont typeface="Times New Roman"/>
              <a:buNone/>
            </a:pPr>
            <a:r>
              <a:rPr lang="en-US" sz="3200" b="1" i="0" u="none">
                <a:solidFill>
                  <a:schemeClr val="dk1"/>
                </a:solidFill>
                <a:latin typeface="Times New Roman"/>
                <a:ea typeface="Times New Roman"/>
                <a:cs typeface="Times New Roman"/>
                <a:sym typeface="Times New Roman"/>
              </a:rPr>
              <a:t>2. Docker info</a:t>
            </a:r>
            <a:br>
              <a:rPr lang="en-US" sz="2000" b="0" i="0" u="none">
                <a:solidFill>
                  <a:schemeClr val="dk1"/>
                </a:solidFill>
                <a:latin typeface="Times New Roman"/>
                <a:ea typeface="Times New Roman"/>
                <a:cs typeface="Times New Roman"/>
                <a:sym typeface="Times New Roman"/>
              </a:rPr>
            </a:br>
            <a:endParaRPr/>
          </a:p>
        </p:txBody>
      </p:sp>
      <p:sp>
        <p:nvSpPr>
          <p:cNvPr id="99" name="Google Shape;99;p17"/>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strike="noStrike" cap="none">
                <a:solidFill>
                  <a:schemeClr val="dk1"/>
                </a:solidFill>
                <a:latin typeface="Times New Roman"/>
                <a:ea typeface="Times New Roman"/>
                <a:cs typeface="Times New Roman"/>
                <a:sym typeface="Times New Roman"/>
              </a:rPr>
              <a:t>Get detailed information about docker installed on the system including the kernel version, number of containers and images, etc.</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strike="noStrike" cap="none">
                <a:solidFill>
                  <a:schemeClr val="dk1"/>
                </a:solidFill>
                <a:latin typeface="Times New Roman"/>
                <a:ea typeface="Times New Roman"/>
                <a:cs typeface="Times New Roman"/>
                <a:sym typeface="Times New Roman"/>
              </a:rPr>
              <a:t>$ docker info </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Containers: 3 </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Running: 1 </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Paused: 0 </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Stopped: 2 </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Images: 3 </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Server Version: 18.09.6 </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Storage Driver: overlay2</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 Backing Filesystem: extfs </a:t>
            </a:r>
            <a:endParaRPr/>
          </a:p>
          <a:p>
            <a:pPr marL="342900" marR="0" lvl="0" indent="-342900" algn="l" rtl="0">
              <a:lnSpc>
                <a:spcPct val="100000"/>
              </a:lnSpc>
              <a:spcBef>
                <a:spcPts val="320"/>
              </a:spcBef>
              <a:spcAft>
                <a:spcPts val="0"/>
              </a:spcAft>
              <a:buClr>
                <a:schemeClr val="dk1"/>
              </a:buClr>
              <a:buSzPts val="1200"/>
              <a:buFont typeface="Arial"/>
              <a:buChar char="•"/>
            </a:pPr>
            <a:r>
              <a:rPr lang="en-US" sz="1600" b="0" i="0" u="none" strike="noStrike" cap="none">
                <a:solidFill>
                  <a:schemeClr val="dk1"/>
                </a:solidFill>
                <a:latin typeface="Times New Roman"/>
                <a:ea typeface="Times New Roman"/>
                <a:cs typeface="Times New Roman"/>
                <a:sym typeface="Times New Roman"/>
              </a:rPr>
              <a:t>Supports d_type: true Native Overlay Diff: true Logging Driver: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xfrm>
            <a:off x="0" y="0"/>
            <a:ext cx="7588250" cy="1500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200"/>
              <a:buFont typeface="Times New Roman"/>
              <a:buNone/>
            </a:pPr>
            <a:r>
              <a:rPr lang="en-US" sz="3200" b="1" i="0" u="none">
                <a:solidFill>
                  <a:schemeClr val="dk1"/>
                </a:solidFill>
                <a:latin typeface="Times New Roman"/>
                <a:ea typeface="Times New Roman"/>
                <a:cs typeface="Times New Roman"/>
                <a:sym typeface="Times New Roman"/>
              </a:rPr>
              <a:t>3. Checking History</a:t>
            </a:r>
            <a:br>
              <a:rPr lang="en-US" sz="3600" b="1" i="0" u="none">
                <a:solidFill>
                  <a:schemeClr val="dk1"/>
                </a:solidFill>
                <a:latin typeface="Times New Roman"/>
                <a:ea typeface="Times New Roman"/>
                <a:cs typeface="Times New Roman"/>
                <a:sym typeface="Times New Roman"/>
              </a:rPr>
            </a:br>
            <a:r>
              <a:rPr lang="en-US" sz="3600" b="0" i="0" u="none">
                <a:solidFill>
                  <a:schemeClr val="dk1"/>
                </a:solidFill>
                <a:latin typeface="Times New Roman"/>
                <a:ea typeface="Times New Roman"/>
                <a:cs typeface="Times New Roman"/>
                <a:sym typeface="Times New Roman"/>
              </a:rPr>
              <a:t>.</a:t>
            </a:r>
            <a:br>
              <a:rPr lang="en-US" sz="3600" b="0" i="0" u="none">
                <a:solidFill>
                  <a:schemeClr val="dk1"/>
                </a:solidFill>
                <a:latin typeface="Times New Roman"/>
                <a:ea typeface="Times New Roman"/>
                <a:cs typeface="Times New Roman"/>
                <a:sym typeface="Times New Roman"/>
              </a:rPr>
            </a:br>
            <a:endParaRPr/>
          </a:p>
        </p:txBody>
      </p:sp>
      <p:sp>
        <p:nvSpPr>
          <p:cNvPr id="105" name="Google Shape;105;p18"/>
          <p:cNvSpPr txBox="1">
            <a:spLocks noGrp="1"/>
          </p:cNvSpPr>
          <p:nvPr>
            <p:ph type="body" idx="1"/>
          </p:nvPr>
        </p:nvSpPr>
        <p:spPr>
          <a:xfrm>
            <a:off x="0" y="785812"/>
            <a:ext cx="8915400" cy="53863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strike="noStrike" cap="none">
                <a:solidFill>
                  <a:schemeClr val="dk1"/>
                </a:solidFill>
                <a:latin typeface="Times New Roman"/>
                <a:ea typeface="Times New Roman"/>
                <a:cs typeface="Times New Roman"/>
                <a:sym typeface="Times New Roman"/>
              </a:rPr>
              <a:t>Shows the history of a docker image with the image name mentioned in the command</a:t>
            </a:r>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strike="noStrike" cap="none">
                <a:solidFill>
                  <a:schemeClr val="dk1"/>
                </a:solidFill>
                <a:latin typeface="Times New Roman"/>
                <a:ea typeface="Times New Roman"/>
                <a:cs typeface="Times New Roman"/>
                <a:sym typeface="Times New Roman"/>
              </a:rPr>
              <a:t>                             $ docker history httpd</a:t>
            </a:r>
            <a:endParaRPr/>
          </a:p>
          <a:p>
            <a:pPr marL="342900" marR="0" lvl="0" indent="-342900" algn="l"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strike="noStrike" cap="none">
                <a:solidFill>
                  <a:schemeClr val="dk1"/>
                </a:solidFill>
                <a:latin typeface="Times New Roman"/>
                <a:ea typeface="Times New Roman"/>
                <a:cs typeface="Times New Roman"/>
                <a:sym typeface="Times New Roman"/>
              </a:rPr>
              <a:t>IMAGE         CREATED    CREATED BY    SIZE      COMMENT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0" y="0"/>
            <a:ext cx="7588250" cy="10001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4 .</a:t>
            </a:r>
            <a:r>
              <a:rPr lang="en-US" sz="3600" b="1" i="0" u="none">
                <a:solidFill>
                  <a:schemeClr val="dk1"/>
                </a:solidFill>
                <a:latin typeface="Times New Roman"/>
                <a:ea typeface="Times New Roman"/>
                <a:cs typeface="Times New Roman"/>
                <a:sym typeface="Times New Roman"/>
              </a:rPr>
              <a:t> Downloading Image</a:t>
            </a:r>
            <a:br>
              <a:rPr lang="en-US" sz="3600" b="1" i="0" u="none">
                <a:solidFill>
                  <a:schemeClr val="dk1"/>
                </a:solidFill>
                <a:latin typeface="Times New Roman"/>
                <a:ea typeface="Times New Roman"/>
                <a:cs typeface="Times New Roman"/>
                <a:sym typeface="Times New Roman"/>
              </a:rPr>
            </a:br>
            <a:endParaRPr/>
          </a:p>
        </p:txBody>
      </p:sp>
      <p:sp>
        <p:nvSpPr>
          <p:cNvPr id="111" name="Google Shape;111;p19"/>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50021"/>
              </a:buClr>
              <a:buSzPts val="1800"/>
              <a:buFont typeface="Arial"/>
              <a:buNone/>
            </a:pPr>
            <a:r>
              <a:rPr lang="en-US" sz="2400" b="0" i="0" u="none" strike="noStrike" cap="none">
                <a:solidFill>
                  <a:schemeClr val="dk1"/>
                </a:solidFill>
                <a:latin typeface="Times New Roman"/>
                <a:ea typeface="Times New Roman"/>
                <a:cs typeface="Times New Roman"/>
                <a:sym typeface="Times New Roman"/>
              </a:rPr>
              <a:t>     When we need to pull the docker image from dockerhub (docker repository) then ,the following example of pulling the the image and here we are taking Apache HTTP server image.</a:t>
            </a:r>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strike="noStrike" cap="none">
                <a:solidFill>
                  <a:schemeClr val="dk1"/>
                </a:solidFill>
                <a:latin typeface="Times New Roman"/>
                <a:ea typeface="Times New Roman"/>
                <a:cs typeface="Times New Roman"/>
                <a:sym typeface="Times New Roman"/>
              </a:rPr>
              <a:t>                             $ docker pull httpd</a:t>
            </a:r>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strike="noStrike" cap="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strike="noStrike" cap="none">
                <a:solidFill>
                  <a:schemeClr val="dk1"/>
                </a:solidFill>
                <a:latin typeface="Times New Roman"/>
                <a:ea typeface="Times New Roman"/>
                <a:cs typeface="Times New Roman"/>
                <a:sym typeface="Times New Roman"/>
              </a:rPr>
              <a:t> </a:t>
            </a:r>
            <a:endParaRPr/>
          </a:p>
        </p:txBody>
      </p:sp>
      <p:pic>
        <p:nvPicPr>
          <p:cNvPr id="112" name="Google Shape;112;p19"/>
          <p:cNvPicPr preferRelativeResize="0"/>
          <p:nvPr/>
        </p:nvPicPr>
        <p:blipFill rotWithShape="1">
          <a:blip r:embed="rId3">
            <a:alphaModFix/>
          </a:blip>
          <a:srcRect/>
          <a:stretch/>
        </p:blipFill>
        <p:spPr>
          <a:xfrm>
            <a:off x="1143000" y="3071812"/>
            <a:ext cx="7058025" cy="36433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0" y="0"/>
            <a:ext cx="7588250" cy="107156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5. </a:t>
            </a:r>
            <a:r>
              <a:rPr lang="en-US" sz="3600" b="1" i="0" u="none">
                <a:solidFill>
                  <a:schemeClr val="dk1"/>
                </a:solidFill>
                <a:latin typeface="Times New Roman"/>
                <a:ea typeface="Times New Roman"/>
                <a:cs typeface="Times New Roman"/>
                <a:sym typeface="Times New Roman"/>
              </a:rPr>
              <a:t>Images</a:t>
            </a:r>
            <a:br>
              <a:rPr lang="en-US" sz="3600" b="1" i="0" u="none">
                <a:solidFill>
                  <a:schemeClr val="dk1"/>
                </a:solidFill>
                <a:latin typeface="Times New Roman"/>
                <a:ea typeface="Times New Roman"/>
                <a:cs typeface="Times New Roman"/>
                <a:sym typeface="Times New Roman"/>
              </a:rPr>
            </a:br>
            <a:endParaRPr/>
          </a:p>
        </p:txBody>
      </p:sp>
      <p:sp>
        <p:nvSpPr>
          <p:cNvPr id="118" name="Google Shape;118;p20"/>
          <p:cNvSpPr txBox="1">
            <a:spLocks noGrp="1"/>
          </p:cNvSpPr>
          <p:nvPr>
            <p:ph type="body" idx="1"/>
          </p:nvPr>
        </p:nvSpPr>
        <p:spPr>
          <a:xfrm>
            <a:off x="357187" y="928687"/>
            <a:ext cx="8558212" cy="21431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50021"/>
              </a:buClr>
              <a:buSzPts val="1800"/>
              <a:buFont typeface="Arial"/>
              <a:buNone/>
            </a:pPr>
            <a:r>
              <a:rPr lang="en-US" sz="2400" b="0" i="0" u="none" strike="noStrike" cap="none">
                <a:solidFill>
                  <a:schemeClr val="dk1"/>
                </a:solidFill>
                <a:latin typeface="Times New Roman"/>
                <a:ea typeface="Times New Roman"/>
                <a:cs typeface="Times New Roman"/>
                <a:sym typeface="Times New Roman"/>
              </a:rPr>
              <a:t>To list all the docker images pulled on the system with image details such as TAG/IMAGE ID/SIZE etc.</a:t>
            </a:r>
            <a:endParaRPr/>
          </a:p>
          <a:p>
            <a:pPr marL="342900" marR="0" lvl="0" indent="-342900" algn="ctr" rtl="0">
              <a:lnSpc>
                <a:spcPct val="100000"/>
              </a:lnSpc>
              <a:spcBef>
                <a:spcPts val="480"/>
              </a:spcBef>
              <a:spcAft>
                <a:spcPts val="0"/>
              </a:spcAft>
              <a:buClr>
                <a:srgbClr val="A50021"/>
              </a:buClr>
              <a:buSzPts val="1800"/>
              <a:buFont typeface="Arial"/>
              <a:buNone/>
            </a:pPr>
            <a:r>
              <a:rPr lang="en-US" sz="2400" b="1" i="0" u="none" strike="noStrike" cap="none">
                <a:solidFill>
                  <a:schemeClr val="dk1"/>
                </a:solidFill>
                <a:latin typeface="Times New Roman"/>
                <a:ea typeface="Times New Roman"/>
                <a:cs typeface="Times New Roman"/>
                <a:sym typeface="Times New Roman"/>
              </a:rPr>
              <a:t>$ docker images</a:t>
            </a:r>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342900" algn="ctr" rtl="0">
              <a:lnSpc>
                <a:spcPct val="100000"/>
              </a:lnSpc>
              <a:spcBef>
                <a:spcPts val="480"/>
              </a:spcBef>
              <a:spcAft>
                <a:spcPts val="0"/>
              </a:spcAft>
              <a:buClr>
                <a:srgbClr val="A50021"/>
              </a:buClr>
              <a:buSzPts val="1800"/>
              <a:buFont typeface="Arial"/>
              <a:buNone/>
            </a:pPr>
            <a:endParaRPr sz="2400" b="1" i="0" u="none" strike="noStrike" cap="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1" i="0" u="none">
              <a:solidFill>
                <a:schemeClr val="dk1"/>
              </a:solidFill>
              <a:latin typeface="Times New Roman"/>
              <a:ea typeface="Times New Roman"/>
              <a:cs typeface="Times New Roman"/>
              <a:sym typeface="Times New Roman"/>
            </a:endParaRPr>
          </a:p>
        </p:txBody>
      </p:sp>
      <p:pic>
        <p:nvPicPr>
          <p:cNvPr id="119" name="Google Shape;119;p20"/>
          <p:cNvPicPr preferRelativeResize="0"/>
          <p:nvPr/>
        </p:nvPicPr>
        <p:blipFill rotWithShape="1">
          <a:blip r:embed="rId3">
            <a:alphaModFix/>
          </a:blip>
          <a:srcRect/>
          <a:stretch/>
        </p:blipFill>
        <p:spPr>
          <a:xfrm>
            <a:off x="695325" y="2571750"/>
            <a:ext cx="7753350" cy="2857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6.RUN</a:t>
            </a:r>
            <a:endParaRPr/>
          </a:p>
        </p:txBody>
      </p:sp>
      <p:sp>
        <p:nvSpPr>
          <p:cNvPr id="125" name="Google Shape;125;p21"/>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The </a:t>
            </a:r>
            <a:r>
              <a:rPr lang="en-US" sz="2400" b="1" i="0" u="none">
                <a:solidFill>
                  <a:schemeClr val="dk1"/>
                </a:solidFill>
                <a:latin typeface="Times New Roman"/>
                <a:ea typeface="Times New Roman"/>
                <a:cs typeface="Times New Roman"/>
                <a:sym typeface="Times New Roman"/>
              </a:rPr>
              <a:t>‘docker run’ </a:t>
            </a:r>
            <a:r>
              <a:rPr lang="en-US" sz="2400" b="0" i="0" u="none">
                <a:solidFill>
                  <a:schemeClr val="dk1"/>
                </a:solidFill>
                <a:latin typeface="Times New Roman"/>
                <a:ea typeface="Times New Roman"/>
                <a:cs typeface="Times New Roman"/>
                <a:sym typeface="Times New Roman"/>
              </a:rPr>
              <a:t>command is used to create and start a new container from a </a:t>
            </a:r>
            <a:r>
              <a:rPr lang="en-US" sz="2400" b="1" i="0" u="sng">
                <a:solidFill>
                  <a:schemeClr val="dk1"/>
                </a:solidFill>
                <a:latin typeface="Times New Roman"/>
                <a:ea typeface="Times New Roman"/>
                <a:cs typeface="Times New Roman"/>
                <a:sym typeface="Times New Roman"/>
              </a:rPr>
              <a:t>Docker </a:t>
            </a:r>
            <a:r>
              <a:rPr lang="en-US" sz="2400" b="0" i="0" u="none">
                <a:solidFill>
                  <a:schemeClr val="dk1"/>
                </a:solidFill>
                <a:latin typeface="Times New Roman"/>
                <a:ea typeface="Times New Roman"/>
                <a:cs typeface="Times New Roman"/>
                <a:sym typeface="Times New Roman"/>
              </a:rPr>
              <a:t>image. The basic syntax of the </a:t>
            </a:r>
            <a:r>
              <a:rPr lang="en-US" sz="2400" b="1" i="0" u="none">
                <a:solidFill>
                  <a:schemeClr val="dk1"/>
                </a:solidFill>
                <a:latin typeface="Times New Roman"/>
                <a:ea typeface="Times New Roman"/>
                <a:cs typeface="Times New Roman"/>
                <a:sym typeface="Times New Roman"/>
              </a:rPr>
              <a:t>‘docker run’</a:t>
            </a:r>
            <a:r>
              <a:rPr lang="en-US" sz="2400" b="0" i="0" u="none">
                <a:solidFill>
                  <a:schemeClr val="dk1"/>
                </a:solidFill>
                <a:latin typeface="Times New Roman"/>
                <a:ea typeface="Times New Roman"/>
                <a:cs typeface="Times New Roman"/>
                <a:sym typeface="Times New Roman"/>
              </a:rPr>
              <a:t> command is as follows:</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docker run [OPTIONS] IMAGE [COMMAND] [ARG…]</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1" u="none">
                <a:solidFill>
                  <a:schemeClr val="dk1"/>
                </a:solidFill>
                <a:latin typeface="Times New Roman"/>
                <a:ea typeface="Times New Roman"/>
                <a:cs typeface="Times New Roman"/>
                <a:sym typeface="Times New Roman"/>
              </a:rPr>
              <a:t>where,</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OPTIONS:</a:t>
            </a:r>
            <a:r>
              <a:rPr lang="en-US" sz="2400" b="0" i="1" u="none">
                <a:solidFill>
                  <a:schemeClr val="dk1"/>
                </a:solidFill>
                <a:latin typeface="Times New Roman"/>
                <a:ea typeface="Times New Roman"/>
                <a:cs typeface="Times New Roman"/>
                <a:sym typeface="Times New Roman"/>
              </a:rPr>
              <a:t> optional flags that configure the behaviour of the container, such as setting environment variables, mounting volumes, etc.</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IMAGE:</a:t>
            </a:r>
            <a:r>
              <a:rPr lang="en-US" sz="2400" b="0" i="1" u="none">
                <a:solidFill>
                  <a:schemeClr val="dk1"/>
                </a:solidFill>
                <a:latin typeface="Times New Roman"/>
                <a:ea typeface="Times New Roman"/>
                <a:cs typeface="Times New Roman"/>
                <a:sym typeface="Times New Roman"/>
              </a:rPr>
              <a:t> the name of the Docker image to be run.</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COMMAND: </a:t>
            </a:r>
            <a:r>
              <a:rPr lang="en-US" sz="2400" b="0" i="1" u="none">
                <a:solidFill>
                  <a:schemeClr val="dk1"/>
                </a:solidFill>
                <a:latin typeface="Times New Roman"/>
                <a:ea typeface="Times New Roman"/>
                <a:cs typeface="Times New Roman"/>
                <a:sym typeface="Times New Roman"/>
              </a:rPr>
              <a:t>the command to be executed when the container is started. If not provided, the default command specified in the Docker image will be used.</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ARG:</a:t>
            </a:r>
            <a:r>
              <a:rPr lang="en-US" sz="2400" b="0" i="1" u="none">
                <a:solidFill>
                  <a:schemeClr val="dk1"/>
                </a:solidFill>
                <a:latin typeface="Times New Roman"/>
                <a:ea typeface="Times New Roman"/>
                <a:cs typeface="Times New Roman"/>
                <a:sym typeface="Times New Roman"/>
              </a:rPr>
              <a:t> optional arguments passed to the command.</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-d means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0" y="0"/>
            <a:ext cx="7588250" cy="1500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800"/>
              <a:buFont typeface="Times New Roman"/>
              <a:buNone/>
            </a:pPr>
            <a:br>
              <a:rPr lang="en-US" sz="2800" b="1" i="0" u="none">
                <a:solidFill>
                  <a:schemeClr val="dk1"/>
                </a:solidFill>
                <a:latin typeface="Times New Roman"/>
                <a:ea typeface="Times New Roman"/>
                <a:cs typeface="Times New Roman"/>
                <a:sym typeface="Times New Roman"/>
              </a:rPr>
            </a:br>
            <a:br>
              <a:rPr lang="en-US" sz="2800" b="1" i="0" u="none">
                <a:solidFill>
                  <a:schemeClr val="dk1"/>
                </a:solidFill>
                <a:latin typeface="Times New Roman"/>
                <a:ea typeface="Times New Roman"/>
                <a:cs typeface="Times New Roman"/>
                <a:sym typeface="Times New Roman"/>
              </a:rPr>
            </a:br>
            <a:br>
              <a:rPr lang="en-US" sz="2800" b="1" i="0" u="none">
                <a:solidFill>
                  <a:schemeClr val="dk1"/>
                </a:solidFill>
                <a:latin typeface="Times New Roman"/>
                <a:ea typeface="Times New Roman"/>
                <a:cs typeface="Times New Roman"/>
                <a:sym typeface="Times New Roman"/>
              </a:rPr>
            </a:br>
            <a:br>
              <a:rPr lang="en-US" sz="2800" b="1" i="0" u="none">
                <a:solidFill>
                  <a:schemeClr val="dk1"/>
                </a:solidFill>
                <a:latin typeface="Times New Roman"/>
                <a:ea typeface="Times New Roman"/>
                <a:cs typeface="Times New Roman"/>
                <a:sym typeface="Times New Roman"/>
              </a:rPr>
            </a:br>
            <a:br>
              <a:rPr lang="en-US" sz="2800" b="1" i="0" u="none">
                <a:solidFill>
                  <a:schemeClr val="dk1"/>
                </a:solidFill>
                <a:latin typeface="Times New Roman"/>
                <a:ea typeface="Times New Roman"/>
                <a:cs typeface="Times New Roman"/>
                <a:sym typeface="Times New Roman"/>
              </a:rPr>
            </a:br>
            <a:r>
              <a:rPr lang="en-US" sz="2800" b="1" i="0" u="none">
                <a:solidFill>
                  <a:schemeClr val="dk1"/>
                </a:solidFill>
                <a:latin typeface="Times New Roman"/>
                <a:ea typeface="Times New Roman"/>
                <a:cs typeface="Times New Roman"/>
                <a:sym typeface="Times New Roman"/>
              </a:rPr>
              <a:t>Options Available for executing Docker Run Command</a:t>
            </a:r>
            <a:br>
              <a:rPr lang="en-US" sz="3600" b="1" i="0" u="none">
                <a:solidFill>
                  <a:schemeClr val="dk1"/>
                </a:solidFill>
                <a:latin typeface="Times New Roman"/>
                <a:ea typeface="Times New Roman"/>
                <a:cs typeface="Times New Roman"/>
                <a:sym typeface="Times New Roman"/>
              </a:rPr>
            </a:br>
            <a:endParaRPr/>
          </a:p>
        </p:txBody>
      </p:sp>
      <p:sp>
        <p:nvSpPr>
          <p:cNvPr id="131" name="Google Shape;131;p22"/>
          <p:cNvSpPr txBox="1">
            <a:spLocks noGrp="1"/>
          </p:cNvSpPr>
          <p:nvPr>
            <p:ph type="body" idx="1"/>
          </p:nvPr>
        </p:nvSpPr>
        <p:spPr>
          <a:xfrm>
            <a:off x="357187" y="1357312"/>
            <a:ext cx="8558212" cy="48148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Some commonly used options for executing the docker run command inside a container:</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1" u="none">
                <a:solidFill>
                  <a:schemeClr val="dk1"/>
                </a:solidFill>
                <a:latin typeface="Times New Roman"/>
                <a:ea typeface="Times New Roman"/>
                <a:cs typeface="Times New Roman"/>
                <a:sym typeface="Times New Roman"/>
              </a:rPr>
              <a:t>-it: Runs the container in interactive mode, allowing you to interact with the container through the command line.</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1" u="none">
                <a:solidFill>
                  <a:schemeClr val="dk1"/>
                </a:solidFill>
                <a:latin typeface="Times New Roman"/>
                <a:ea typeface="Times New Roman"/>
                <a:cs typeface="Times New Roman"/>
                <a:sym typeface="Times New Roman"/>
              </a:rPr>
              <a:t>-d: Runs the container in the background.</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1" u="none">
                <a:solidFill>
                  <a:schemeClr val="dk1"/>
                </a:solidFill>
                <a:latin typeface="Times New Roman"/>
                <a:ea typeface="Times New Roman"/>
                <a:cs typeface="Times New Roman"/>
                <a:sym typeface="Times New Roman"/>
              </a:rPr>
              <a:t>-- name: Specifies a name for the container.</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1" u="none">
                <a:solidFill>
                  <a:schemeClr val="dk1"/>
                </a:solidFill>
                <a:latin typeface="Times New Roman"/>
                <a:ea typeface="Times New Roman"/>
                <a:cs typeface="Times New Roman"/>
                <a:sym typeface="Times New Roman"/>
              </a:rPr>
              <a:t>  -- rm: Automatically removes the container when it exits.</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1" u="none">
                <a:solidFill>
                  <a:schemeClr val="dk1"/>
                </a:solidFill>
                <a:latin typeface="Times New Roman"/>
                <a:ea typeface="Times New Roman"/>
                <a:cs typeface="Times New Roman"/>
                <a:sym typeface="Times New Roman"/>
              </a:rPr>
              <a:t>-p: Maps a host port to a container port.</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-e / --env</a:t>
            </a:r>
            <a:r>
              <a:rPr lang="en-US" sz="2400" b="0" i="1" u="none">
                <a:solidFill>
                  <a:schemeClr val="dk1"/>
                </a:solidFill>
                <a:latin typeface="Times New Roman"/>
                <a:ea typeface="Times New Roman"/>
                <a:cs typeface="Times New Roman"/>
                <a:sym typeface="Times New Roman"/>
              </a:rPr>
              <a:t>: Sets an environment variable inside the container.</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1" u="none">
                <a:solidFill>
                  <a:schemeClr val="dk1"/>
                </a:solidFill>
                <a:latin typeface="Times New Roman"/>
                <a:ea typeface="Times New Roman"/>
                <a:cs typeface="Times New Roman"/>
                <a:sym typeface="Times New Roman"/>
              </a:rPr>
              <a:t>-v: Mounts a host volume inside the container.</a:t>
            </a: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0" y="0"/>
            <a:ext cx="7588250" cy="107156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200"/>
              <a:buFont typeface="Times New Roman"/>
              <a:buNone/>
            </a:pPr>
            <a:r>
              <a:rPr lang="en-US" sz="3200" b="0" i="0" u="none">
                <a:solidFill>
                  <a:schemeClr val="dk1"/>
                </a:solidFill>
                <a:latin typeface="Times New Roman"/>
                <a:ea typeface="Times New Roman"/>
                <a:cs typeface="Times New Roman"/>
                <a:sym typeface="Times New Roman"/>
              </a:rPr>
              <a:t>1</a:t>
            </a:r>
            <a:r>
              <a:rPr lang="en-US" sz="3200" b="0" i="0" u="none" baseline="30000">
                <a:solidFill>
                  <a:schemeClr val="dk1"/>
                </a:solidFill>
                <a:latin typeface="Times New Roman"/>
                <a:ea typeface="Times New Roman"/>
                <a:cs typeface="Times New Roman"/>
                <a:sym typeface="Times New Roman"/>
              </a:rPr>
              <a:t>st</a:t>
            </a:r>
            <a:r>
              <a:rPr lang="en-US" sz="3200" b="0" i="0" u="none">
                <a:solidFill>
                  <a:schemeClr val="dk1"/>
                </a:solidFill>
                <a:latin typeface="Times New Roman"/>
                <a:ea typeface="Times New Roman"/>
                <a:cs typeface="Times New Roman"/>
                <a:sym typeface="Times New Roman"/>
              </a:rPr>
              <a:t> Example : </a:t>
            </a:r>
            <a:r>
              <a:rPr lang="en-US" sz="3200" b="1" i="0" u="none">
                <a:solidFill>
                  <a:schemeClr val="dk1"/>
                </a:solidFill>
                <a:latin typeface="Times New Roman"/>
                <a:ea typeface="Times New Roman"/>
                <a:cs typeface="Times New Roman"/>
                <a:sym typeface="Times New Roman"/>
              </a:rPr>
              <a:t>Running a Simple Image:</a:t>
            </a:r>
            <a:br>
              <a:rPr lang="en-US" sz="3200" b="0" i="0" u="none">
                <a:solidFill>
                  <a:schemeClr val="dk1"/>
                </a:solidFill>
                <a:latin typeface="Times New Roman"/>
                <a:ea typeface="Times New Roman"/>
                <a:cs typeface="Times New Roman"/>
                <a:sym typeface="Times New Roman"/>
              </a:rPr>
            </a:br>
            <a:endParaRPr/>
          </a:p>
        </p:txBody>
      </p:sp>
      <p:sp>
        <p:nvSpPr>
          <p:cNvPr id="137" name="Google Shape;137;p23"/>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50021"/>
              </a:buClr>
              <a:buSzPts val="1800"/>
              <a:buFont typeface="Arial"/>
              <a:buNone/>
            </a:pPr>
            <a:r>
              <a:rPr lang="en-US" sz="2400" b="1" i="1" u="none">
                <a:solidFill>
                  <a:schemeClr val="dk1"/>
                </a:solidFill>
                <a:latin typeface="Times New Roman"/>
                <a:ea typeface="Times New Roman"/>
                <a:cs typeface="Times New Roman"/>
                <a:sym typeface="Times New Roman"/>
              </a:rPr>
              <a:t>           docker run httpd echo “Hello, World!”</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This command runs a new container from the </a:t>
            </a:r>
            <a:r>
              <a:rPr lang="en-US" sz="2400" b="1" i="0" u="none">
                <a:solidFill>
                  <a:schemeClr val="dk1"/>
                </a:solidFill>
                <a:latin typeface="Times New Roman"/>
                <a:ea typeface="Times New Roman"/>
                <a:cs typeface="Times New Roman"/>
                <a:sym typeface="Times New Roman"/>
              </a:rPr>
              <a:t>‘</a:t>
            </a:r>
            <a:r>
              <a:rPr lang="en-US" sz="2400" b="1" i="1" u="none">
                <a:solidFill>
                  <a:schemeClr val="dk1"/>
                </a:solidFill>
                <a:latin typeface="Times New Roman"/>
                <a:ea typeface="Times New Roman"/>
                <a:cs typeface="Times New Roman"/>
                <a:sym typeface="Times New Roman"/>
              </a:rPr>
              <a:t>httpd </a:t>
            </a:r>
            <a:r>
              <a:rPr lang="en-US" sz="2400" b="1" i="0" u="none">
                <a:solidFill>
                  <a:schemeClr val="dk1"/>
                </a:solidFill>
                <a:latin typeface="Times New Roman"/>
                <a:ea typeface="Times New Roman"/>
                <a:cs typeface="Times New Roman"/>
                <a:sym typeface="Times New Roman"/>
              </a:rPr>
              <a:t>’</a:t>
            </a:r>
            <a:r>
              <a:rPr lang="en-US" sz="2400" b="0" i="0" u="none">
                <a:solidFill>
                  <a:schemeClr val="dk1"/>
                </a:solidFill>
                <a:latin typeface="Times New Roman"/>
                <a:ea typeface="Times New Roman"/>
                <a:cs typeface="Times New Roman"/>
                <a:sym typeface="Times New Roman"/>
              </a:rPr>
              <a:t> image and executes the </a:t>
            </a:r>
            <a:r>
              <a:rPr lang="en-US" sz="2400" b="1" i="0" u="none">
                <a:solidFill>
                  <a:schemeClr val="dk1"/>
                </a:solidFill>
                <a:latin typeface="Times New Roman"/>
                <a:ea typeface="Times New Roman"/>
                <a:cs typeface="Times New Roman"/>
                <a:sym typeface="Times New Roman"/>
              </a:rPr>
              <a:t>‘echo’</a:t>
            </a:r>
            <a:r>
              <a:rPr lang="en-US" sz="2400" b="0" i="0" u="none">
                <a:solidFill>
                  <a:schemeClr val="dk1"/>
                </a:solidFill>
                <a:latin typeface="Times New Roman"/>
                <a:ea typeface="Times New Roman"/>
                <a:cs typeface="Times New Roman"/>
                <a:sym typeface="Times New Roman"/>
              </a:rPr>
              <a:t> command with the argument “Hello, World!”.</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2</a:t>
            </a:r>
            <a:r>
              <a:rPr lang="en-US" sz="3600" b="0" i="0" u="none" baseline="30000">
                <a:solidFill>
                  <a:schemeClr val="dk1"/>
                </a:solidFill>
                <a:latin typeface="Times New Roman"/>
                <a:ea typeface="Times New Roman"/>
                <a:cs typeface="Times New Roman"/>
                <a:sym typeface="Times New Roman"/>
              </a:rPr>
              <a:t>nd</a:t>
            </a:r>
            <a:r>
              <a:rPr lang="en-US" sz="3600" b="0" i="0" u="none">
                <a:solidFill>
                  <a:schemeClr val="dk1"/>
                </a:solidFill>
                <a:latin typeface="Times New Roman"/>
                <a:ea typeface="Times New Roman"/>
                <a:cs typeface="Times New Roman"/>
                <a:sym typeface="Times New Roman"/>
              </a:rPr>
              <a:t> example</a:t>
            </a:r>
            <a:endParaRPr/>
          </a:p>
        </p:txBody>
      </p:sp>
      <p:sp>
        <p:nvSpPr>
          <p:cNvPr id="143" name="Google Shape;143;p24"/>
          <p:cNvSpPr txBox="1">
            <a:spLocks noGrp="1"/>
          </p:cNvSpPr>
          <p:nvPr>
            <p:ph type="body" idx="1"/>
          </p:nvPr>
        </p:nvSpPr>
        <p:spPr>
          <a:xfrm>
            <a:off x="609600" y="1266825"/>
            <a:ext cx="8534400" cy="53054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Running a Container with a Specific Name:</a:t>
            </a:r>
            <a:endParaRPr/>
          </a:p>
          <a:p>
            <a:pPr marL="342900" marR="0" lvl="0" indent="-228600" algn="l" rtl="0">
              <a:lnSpc>
                <a:spcPct val="100000"/>
              </a:lnSpc>
              <a:spcBef>
                <a:spcPts val="480"/>
              </a:spcBef>
              <a:spcAft>
                <a:spcPts val="0"/>
              </a:spcAft>
              <a:buClr>
                <a:schemeClr val="dk1"/>
              </a:buClr>
              <a:buSzPts val="1800"/>
              <a:buFont typeface="Arial"/>
              <a:buNone/>
            </a:pPr>
            <a:endParaRPr sz="2400" b="0" i="1"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rgbClr val="FF0000"/>
                </a:solidFill>
                <a:latin typeface="Times New Roman"/>
                <a:ea typeface="Times New Roman"/>
                <a:cs typeface="Times New Roman"/>
                <a:sym typeface="Times New Roman"/>
              </a:rPr>
              <a:t>$ docker run  --name my-container httpd</a:t>
            </a:r>
            <a:r>
              <a:rPr lang="en-US" sz="2400" b="1" i="0" u="none">
                <a:solidFill>
                  <a:schemeClr val="dk1"/>
                </a:solidFill>
                <a:latin typeface="Times New Roman"/>
                <a:ea typeface="Times New Roman"/>
                <a:cs typeface="Times New Roman"/>
                <a:sym typeface="Times New Roman"/>
              </a:rPr>
              <a:t> </a:t>
            </a:r>
            <a:r>
              <a:rPr lang="en-US" sz="2400" b="1" i="1" u="none">
                <a:solidFill>
                  <a:srgbClr val="FF0000"/>
                </a:solidFill>
                <a:latin typeface="Times New Roman"/>
                <a:ea typeface="Times New Roman"/>
                <a:cs typeface="Times New Roman"/>
                <a:sym typeface="Times New Roman"/>
              </a:rPr>
              <a:t>echo “Hello, World!”</a:t>
            </a:r>
            <a:endParaRPr sz="2400" b="1" i="0" u="none">
              <a:solidFill>
                <a:srgbClr val="FF0000"/>
              </a:solidFill>
              <a:latin typeface="Times New Roman"/>
              <a:ea typeface="Times New Roman"/>
              <a:cs typeface="Times New Roman"/>
              <a:sym typeface="Times New Roman"/>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--name : this option is to give the name of container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my-container: it is the name of container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Echo: it is the command</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“hello,world!” – it is argument used</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1" u="none">
                <a:solidFill>
                  <a:schemeClr val="dk1"/>
                </a:solidFill>
                <a:latin typeface="Times New Roman"/>
                <a:ea typeface="Times New Roman"/>
                <a:cs typeface="Times New Roman"/>
                <a:sym typeface="Times New Roman"/>
              </a:rPr>
              <a:t> </a:t>
            </a:r>
            <a:r>
              <a:rPr lang="en-US" sz="2400" b="0" i="0" u="none">
                <a:solidFill>
                  <a:schemeClr val="dk1"/>
                </a:solidFill>
                <a:latin typeface="Times New Roman"/>
                <a:ea typeface="Times New Roman"/>
                <a:cs typeface="Times New Roman"/>
                <a:sym typeface="Times New Roman"/>
              </a:rPr>
              <a:t>This command runs a new container with the specified name “my-container” from the </a:t>
            </a:r>
            <a:r>
              <a:rPr lang="en-US" sz="2400" b="1" i="0" u="none">
                <a:solidFill>
                  <a:schemeClr val="dk1"/>
                </a:solidFill>
                <a:latin typeface="Times New Roman"/>
                <a:ea typeface="Times New Roman"/>
                <a:cs typeface="Times New Roman"/>
                <a:sym typeface="Times New Roman"/>
              </a:rPr>
              <a:t>httpd</a:t>
            </a:r>
            <a:r>
              <a:rPr lang="en-US" sz="2400" b="0" i="0" u="none">
                <a:solidFill>
                  <a:schemeClr val="dk1"/>
                </a:solidFill>
                <a:latin typeface="Times New Roman"/>
                <a:ea typeface="Times New Roman"/>
                <a:cs typeface="Times New Roman"/>
                <a:sym typeface="Times New Roman"/>
              </a:rPr>
              <a:t> image and executes the echo command with the argument “Hello, World!”.</a:t>
            </a:r>
            <a:endParaRPr sz="2400" b="1" i="1" u="none">
              <a:solidFill>
                <a:schemeClr val="dk1"/>
              </a:solidFill>
              <a:latin typeface="Times New Roman"/>
              <a:ea typeface="Times New Roman"/>
              <a:cs typeface="Times New Roman"/>
              <a:sym typeface="Times New Roman"/>
            </a:endParaRPr>
          </a:p>
          <a:p>
            <a:pPr marL="342900" marR="0" lvl="0" indent="-228600" algn="l" rtl="0">
              <a:lnSpc>
                <a:spcPct val="100000"/>
              </a:lnSpc>
              <a:spcBef>
                <a:spcPts val="480"/>
              </a:spcBef>
              <a:spcAft>
                <a:spcPts val="0"/>
              </a:spcAft>
              <a:buClr>
                <a:schemeClr val="dk1"/>
              </a:buClr>
              <a:buSzPts val="1800"/>
              <a:buFont typeface="Arial"/>
              <a:buNone/>
            </a:pPr>
            <a:endParaRPr sz="2400" b="0" i="1"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1" u="non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What are Environment Variables</a:t>
            </a:r>
            <a:endParaRPr/>
          </a:p>
        </p:txBody>
      </p:sp>
      <p:sp>
        <p:nvSpPr>
          <p:cNvPr id="149" name="Google Shape;149;p25"/>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Environment variables are </a:t>
            </a:r>
            <a:r>
              <a:rPr lang="en-US" sz="2400" b="1" i="0" u="none">
                <a:solidFill>
                  <a:schemeClr val="dk1"/>
                </a:solidFill>
                <a:latin typeface="Times New Roman"/>
                <a:ea typeface="Times New Roman"/>
                <a:cs typeface="Times New Roman"/>
                <a:sym typeface="Times New Roman"/>
              </a:rPr>
              <a:t>key–value pairs</a:t>
            </a:r>
            <a:r>
              <a:rPr lang="en-US" sz="2400" b="0" i="0" u="none">
                <a:solidFill>
                  <a:schemeClr val="dk1"/>
                </a:solidFill>
                <a:latin typeface="Times New Roman"/>
                <a:ea typeface="Times New Roman"/>
                <a:cs typeface="Times New Roman"/>
                <a:sym typeface="Times New Roman"/>
              </a:rPr>
              <a:t> used by applications to:</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Read configuration</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Store secrets (usernames, passwords)</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Control application behavior </a:t>
            </a:r>
            <a:r>
              <a:rPr lang="en-US" sz="2400" b="1" i="0" u="none">
                <a:solidFill>
                  <a:schemeClr val="dk1"/>
                </a:solidFill>
                <a:latin typeface="Times New Roman"/>
                <a:ea typeface="Times New Roman"/>
                <a:cs typeface="Times New Roman"/>
                <a:sym typeface="Times New Roman"/>
              </a:rPr>
              <a:t>without changing the image</a:t>
            </a:r>
            <a:endParaRPr sz="2400" b="0"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Arial"/>
              <a:buChar char="•"/>
            </a:pPr>
            <a:r>
              <a:rPr lang="en-US" sz="2400" b="0" i="1" u="none">
                <a:solidFill>
                  <a:schemeClr val="dk1"/>
                </a:solidFill>
                <a:latin typeface="Times New Roman"/>
                <a:ea typeface="Times New Roman"/>
                <a:cs typeface="Times New Roman"/>
                <a:sym typeface="Times New Roman"/>
              </a:rPr>
              <a:t>Environment variables allow us to configure containers dynamically.</a:t>
            </a: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6"/>
          <p:cNvSpPr txBox="1">
            <a:spLocks noGrp="1"/>
          </p:cNvSpPr>
          <p:nvPr>
            <p:ph type="title"/>
          </p:nvPr>
        </p:nvSpPr>
        <p:spPr>
          <a:xfrm>
            <a:off x="0" y="0"/>
            <a:ext cx="7588250" cy="11969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Need  of environment variables in Docker</a:t>
            </a:r>
            <a:endParaRPr/>
          </a:p>
        </p:txBody>
      </p:sp>
      <p:sp>
        <p:nvSpPr>
          <p:cNvPr id="155" name="Google Shape;155;p26"/>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1" i="0" u="none">
                <a:solidFill>
                  <a:srgbClr val="FF0000"/>
                </a:solidFill>
                <a:latin typeface="Times New Roman"/>
                <a:ea typeface="Times New Roman"/>
                <a:cs typeface="Times New Roman"/>
                <a:sym typeface="Times New Roman"/>
              </a:rPr>
              <a:t>Without -e:</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Configuration must be </a:t>
            </a:r>
            <a:r>
              <a:rPr lang="en-US" sz="2400" b="1" i="0" u="none">
                <a:solidFill>
                  <a:schemeClr val="dk1"/>
                </a:solidFill>
                <a:latin typeface="Times New Roman"/>
                <a:ea typeface="Times New Roman"/>
                <a:cs typeface="Times New Roman"/>
                <a:sym typeface="Times New Roman"/>
              </a:rPr>
              <a:t>hard-coded</a:t>
            </a:r>
            <a:r>
              <a:rPr lang="en-US" sz="2400" b="0" i="0" u="none">
                <a:solidFill>
                  <a:schemeClr val="dk1"/>
                </a:solidFill>
                <a:latin typeface="Times New Roman"/>
                <a:ea typeface="Times New Roman"/>
                <a:cs typeface="Times New Roman"/>
                <a:sym typeface="Times New Roman"/>
              </a:rPr>
              <a:t> in the image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Need to rebuild image for every change </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rgbClr val="FF0000"/>
                </a:solidFill>
                <a:latin typeface="Times New Roman"/>
                <a:ea typeface="Times New Roman"/>
                <a:cs typeface="Times New Roman"/>
                <a:sym typeface="Times New Roman"/>
              </a:rPr>
              <a:t>With -e:</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Same image → different behavior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Secure &amp; flexible configuration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Widely used in </a:t>
            </a:r>
            <a:r>
              <a:rPr lang="en-US" sz="2400" b="1" i="0" u="none">
                <a:solidFill>
                  <a:schemeClr val="dk1"/>
                </a:solidFill>
                <a:latin typeface="Times New Roman"/>
                <a:ea typeface="Times New Roman"/>
                <a:cs typeface="Times New Roman"/>
                <a:sym typeface="Times New Roman"/>
              </a:rPr>
              <a:t>microservices &amp; cloud deployments</a:t>
            </a:r>
            <a:r>
              <a:rPr lang="en-US" sz="2400" b="0" i="0" u="none">
                <a:solidFill>
                  <a:schemeClr val="dk1"/>
                </a:solidFill>
                <a:latin typeface="Times New Roman"/>
                <a:ea typeface="Times New Roman"/>
                <a:cs typeface="Times New Roman"/>
                <a:sym typeface="Times New Roman"/>
              </a:rPr>
              <a:t> </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7"/>
          <p:cNvSpPr txBox="1">
            <a:spLocks noGrp="1"/>
          </p:cNvSpPr>
          <p:nvPr>
            <p:ph type="title"/>
          </p:nvPr>
        </p:nvSpPr>
        <p:spPr>
          <a:xfrm>
            <a:off x="0" y="0"/>
            <a:ext cx="7588250" cy="135731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3</a:t>
            </a:r>
            <a:r>
              <a:rPr lang="en-US" sz="3600" b="0" i="0" u="none" baseline="30000">
                <a:solidFill>
                  <a:schemeClr val="dk1"/>
                </a:solidFill>
                <a:latin typeface="Times New Roman"/>
                <a:ea typeface="Times New Roman"/>
                <a:cs typeface="Times New Roman"/>
                <a:sym typeface="Times New Roman"/>
              </a:rPr>
              <a:t>rd</a:t>
            </a:r>
            <a:r>
              <a:rPr lang="en-US" sz="3600" b="0" i="0" u="none">
                <a:solidFill>
                  <a:schemeClr val="dk1"/>
                </a:solidFill>
                <a:latin typeface="Times New Roman"/>
                <a:ea typeface="Times New Roman"/>
                <a:cs typeface="Times New Roman"/>
                <a:sym typeface="Times New Roman"/>
              </a:rPr>
              <a:t> Example : </a:t>
            </a:r>
            <a:r>
              <a:rPr lang="en-US" sz="3600" b="1" i="0" u="none">
                <a:solidFill>
                  <a:schemeClr val="dk1"/>
                </a:solidFill>
                <a:latin typeface="Times New Roman"/>
                <a:ea typeface="Times New Roman"/>
                <a:cs typeface="Times New Roman"/>
                <a:sym typeface="Times New Roman"/>
              </a:rPr>
              <a:t>Setting Environment:</a:t>
            </a:r>
            <a:br>
              <a:rPr lang="en-US" sz="3600" b="0" i="0" u="none">
                <a:solidFill>
                  <a:schemeClr val="dk1"/>
                </a:solidFill>
                <a:latin typeface="Times New Roman"/>
                <a:ea typeface="Times New Roman"/>
                <a:cs typeface="Times New Roman"/>
                <a:sym typeface="Times New Roman"/>
              </a:rPr>
            </a:br>
            <a:endParaRPr/>
          </a:p>
        </p:txBody>
      </p:sp>
      <p:sp>
        <p:nvSpPr>
          <p:cNvPr id="161" name="Google Shape;161;p27"/>
          <p:cNvSpPr txBox="1">
            <a:spLocks noGrp="1"/>
          </p:cNvSpPr>
          <p:nvPr>
            <p:ph type="body" idx="1"/>
          </p:nvPr>
        </p:nvSpPr>
        <p:spPr>
          <a:xfrm>
            <a:off x="285750" y="1143000"/>
            <a:ext cx="8629650" cy="5029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docker run -e MY_VAR=value httpd env</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This command sets an environment variable </a:t>
            </a:r>
            <a:r>
              <a:rPr lang="en-US" sz="2400" b="1" i="0" u="none">
                <a:solidFill>
                  <a:schemeClr val="dk1"/>
                </a:solidFill>
                <a:latin typeface="Times New Roman"/>
                <a:ea typeface="Times New Roman"/>
                <a:cs typeface="Times New Roman"/>
                <a:sym typeface="Times New Roman"/>
              </a:rPr>
              <a:t>‘MY_VAR’</a:t>
            </a:r>
            <a:r>
              <a:rPr lang="en-US" sz="2400" b="0" i="0" u="none">
                <a:solidFill>
                  <a:schemeClr val="dk1"/>
                </a:solidFill>
                <a:latin typeface="Times New Roman"/>
                <a:ea typeface="Times New Roman"/>
                <a:cs typeface="Times New Roman"/>
                <a:sym typeface="Times New Roman"/>
              </a:rPr>
              <a:t> to the value</a:t>
            </a:r>
            <a:r>
              <a:rPr lang="en-US" sz="2400" b="1" i="0" u="none">
                <a:solidFill>
                  <a:schemeClr val="dk1"/>
                </a:solidFill>
                <a:latin typeface="Times New Roman"/>
                <a:ea typeface="Times New Roman"/>
                <a:cs typeface="Times New Roman"/>
                <a:sym typeface="Times New Roman"/>
              </a:rPr>
              <a:t> “value”</a:t>
            </a:r>
            <a:r>
              <a:rPr lang="en-US" sz="2400" b="0" i="0" u="none">
                <a:solidFill>
                  <a:schemeClr val="dk1"/>
                </a:solidFill>
                <a:latin typeface="Times New Roman"/>
                <a:ea typeface="Times New Roman"/>
                <a:cs typeface="Times New Roman"/>
                <a:sym typeface="Times New Roman"/>
              </a:rPr>
              <a:t> and runs a new container from the </a:t>
            </a:r>
            <a:r>
              <a:rPr lang="en-US" sz="2400" b="1" i="0" u="none">
                <a:solidFill>
                  <a:schemeClr val="dk1"/>
                </a:solidFill>
                <a:latin typeface="Times New Roman"/>
                <a:ea typeface="Times New Roman"/>
                <a:cs typeface="Times New Roman"/>
                <a:sym typeface="Times New Roman"/>
              </a:rPr>
              <a:t>‘httpd’</a:t>
            </a:r>
            <a:r>
              <a:rPr lang="en-US" sz="2400" b="0" i="0" u="none">
                <a:solidFill>
                  <a:schemeClr val="dk1"/>
                </a:solidFill>
                <a:latin typeface="Times New Roman"/>
                <a:ea typeface="Times New Roman"/>
                <a:cs typeface="Times New Roman"/>
                <a:sym typeface="Times New Roman"/>
              </a:rPr>
              <a:t> image. </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The</a:t>
            </a:r>
            <a:r>
              <a:rPr lang="en-US" sz="2400" b="1" i="0" u="none">
                <a:solidFill>
                  <a:schemeClr val="dk1"/>
                </a:solidFill>
                <a:latin typeface="Times New Roman"/>
                <a:ea typeface="Times New Roman"/>
                <a:cs typeface="Times New Roman"/>
                <a:sym typeface="Times New Roman"/>
              </a:rPr>
              <a:t> ‘env’</a:t>
            </a:r>
            <a:r>
              <a:rPr lang="en-US" sz="2400" b="0" i="0" u="none">
                <a:solidFill>
                  <a:schemeClr val="dk1"/>
                </a:solidFill>
                <a:latin typeface="Times New Roman"/>
                <a:ea typeface="Times New Roman"/>
                <a:cs typeface="Times New Roman"/>
                <a:sym typeface="Times New Roman"/>
              </a:rPr>
              <a:t> command is executed to display the list of environment variables in the container.</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167" name="Google Shape;167;p28"/>
          <p:cNvSpPr txBox="1">
            <a:spLocks noGrp="1"/>
          </p:cNvSpPr>
          <p:nvPr>
            <p:ph type="body" idx="1"/>
          </p:nvPr>
        </p:nvSpPr>
        <p:spPr>
          <a:xfrm>
            <a:off x="0" y="685800"/>
            <a:ext cx="8915400" cy="67040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2</a:t>
            </a:r>
            <a:r>
              <a:rPr lang="en-US" sz="2400" b="0" i="0" u="none" baseline="30000">
                <a:solidFill>
                  <a:schemeClr val="dk1"/>
                </a:solidFill>
                <a:latin typeface="Times New Roman"/>
                <a:ea typeface="Times New Roman"/>
                <a:cs typeface="Times New Roman"/>
                <a:sym typeface="Times New Roman"/>
              </a:rPr>
              <a:t>nd</a:t>
            </a:r>
            <a:r>
              <a:rPr lang="en-US" sz="2400" b="0" i="0" u="none">
                <a:solidFill>
                  <a:schemeClr val="dk1"/>
                </a:solidFill>
                <a:latin typeface="Times New Roman"/>
                <a:ea typeface="Times New Roman"/>
                <a:cs typeface="Times New Roman"/>
                <a:sym typeface="Times New Roman"/>
              </a:rPr>
              <a:t> Example: Run a container from Image and display the variable name inside it.</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a:t>
            </a:r>
            <a:r>
              <a:rPr lang="en-US" sz="2400" b="1" i="0" u="none">
                <a:solidFill>
                  <a:srgbClr val="FF0000"/>
                </a:solidFill>
                <a:latin typeface="Times New Roman"/>
                <a:ea typeface="Times New Roman"/>
                <a:cs typeface="Times New Roman"/>
                <a:sym typeface="Times New Roman"/>
              </a:rPr>
              <a:t>docker run -it -e MY_NAME=Harpreet ubuntu bash</a:t>
            </a:r>
            <a:endParaRPr/>
          </a:p>
          <a:p>
            <a:pPr marL="0" marR="0" lvl="0" indent="0" algn="l" rtl="0">
              <a:lnSpc>
                <a:spcPct val="100000"/>
              </a:lnSpc>
              <a:spcBef>
                <a:spcPts val="480"/>
              </a:spcBef>
              <a:spcAft>
                <a:spcPts val="0"/>
              </a:spcAft>
              <a:buClr>
                <a:srgbClr val="A50021"/>
              </a:buClr>
              <a:buSzPts val="1800"/>
              <a:buFont typeface="Arial"/>
              <a:buNone/>
            </a:pPr>
            <a:endParaRPr sz="2400" b="1" i="0" u="none">
              <a:solidFill>
                <a:srgbClr val="FF0000"/>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It will open the container and you can check the env variable inside it as:</a:t>
            </a:r>
            <a:endParaRPr/>
          </a:p>
          <a:p>
            <a:pPr marL="0" marR="0" lvl="0" indent="0" algn="l" rtl="0">
              <a:lnSpc>
                <a:spcPct val="100000"/>
              </a:lnSpc>
              <a:spcBef>
                <a:spcPts val="480"/>
              </a:spcBef>
              <a:spcAft>
                <a:spcPts val="0"/>
              </a:spcAft>
              <a:buClr>
                <a:srgbClr val="A50021"/>
              </a:buClr>
              <a:buSzPts val="1800"/>
              <a:buFont typeface="Arial"/>
              <a:buNone/>
            </a:pPr>
            <a:endParaRPr sz="2400" b="1"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Echo $ MY_NAME</a:t>
            </a:r>
            <a:endParaRPr/>
          </a:p>
          <a:p>
            <a:pPr marL="0" marR="0" lvl="0" indent="0" algn="l" rtl="0">
              <a:lnSpc>
                <a:spcPct val="100000"/>
              </a:lnSpc>
              <a:spcBef>
                <a:spcPts val="480"/>
              </a:spcBef>
              <a:spcAft>
                <a:spcPts val="0"/>
              </a:spcAft>
              <a:buClr>
                <a:srgbClr val="A50021"/>
              </a:buClr>
              <a:buSzPts val="1800"/>
              <a:buFont typeface="Arial"/>
              <a:buNone/>
            </a:pPr>
            <a:endParaRPr sz="2400" b="1"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endParaRPr sz="2400" b="1"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Kindly note :</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MY_NAME is created inside the container</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Host system is not affected</a:t>
            </a:r>
            <a:endParaRPr/>
          </a:p>
          <a:p>
            <a:pPr marL="0" marR="0" lvl="0" indent="0" algn="l" rtl="0">
              <a:lnSpc>
                <a:spcPct val="100000"/>
              </a:lnSpc>
              <a:spcBef>
                <a:spcPts val="480"/>
              </a:spcBef>
              <a:spcAft>
                <a:spcPts val="0"/>
              </a:spcAft>
              <a:buClr>
                <a:srgbClr val="A50021"/>
              </a:buClr>
              <a:buSzPts val="1800"/>
              <a:buFont typeface="Arial"/>
              <a:buNone/>
            </a:pPr>
            <a:endParaRPr sz="2400" b="1"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1" i="0" u="none">
              <a:solidFill>
                <a:schemeClr val="dk1"/>
              </a:solidFill>
              <a:latin typeface="Times New Roman"/>
              <a:ea typeface="Times New Roman"/>
              <a:cs typeface="Times New Roman"/>
              <a:sym typeface="Times New Roman"/>
            </a:endParaRPr>
          </a:p>
        </p:txBody>
      </p:sp>
      <p:sp>
        <p:nvSpPr>
          <p:cNvPr id="168" name="Google Shape;168;p28"/>
          <p:cNvSpPr txBox="1"/>
          <p:nvPr/>
        </p:nvSpPr>
        <p:spPr>
          <a:xfrm rot="10800000" flipH="1">
            <a:off x="-671512" y="-300037"/>
            <a:ext cx="9815512" cy="646112"/>
          </a:xfrm>
          <a:prstGeom prst="rect">
            <a:avLst/>
          </a:prstGeom>
          <a:noFill/>
          <a:ln>
            <a:noFill/>
          </a:ln>
        </p:spPr>
        <p:txBody>
          <a:bodyPr spcFirstLastPara="1" wrap="square" lIns="91425" tIns="45700" rIns="91425" bIns="45700" anchor="ctr" anchorCtr="0">
            <a:spAutoFit/>
          </a:bodyPr>
          <a:lstStyle/>
          <a:p>
            <a:pPr marL="0" marR="0" lvl="0" indent="-63500" algn="l" rtl="0">
              <a:lnSpc>
                <a:spcPct val="100000"/>
              </a:lnSpc>
              <a:spcBef>
                <a:spcPts val="0"/>
              </a:spcBef>
              <a:spcAft>
                <a:spcPts val="0"/>
              </a:spcAft>
              <a:buClr>
                <a:schemeClr val="lt1"/>
              </a:buClr>
              <a:buSzPts val="1000"/>
              <a:buFont typeface="Arimo"/>
              <a:buChar char="•"/>
            </a:pPr>
            <a:r>
              <a:rPr lang="en-US" sz="1000" b="0" i="0" u="none">
                <a:solidFill>
                  <a:schemeClr val="lt1"/>
                </a:solidFill>
                <a:latin typeface="Arimo"/>
                <a:ea typeface="Arimo"/>
                <a:cs typeface="Arimo"/>
                <a:sym typeface="Arimo"/>
              </a:rPr>
              <a:t>MY_NAME</a:t>
            </a:r>
            <a:r>
              <a:rPr lang="en-US" sz="600" b="0" i="0" u="none">
                <a:solidFill>
                  <a:schemeClr val="lt1"/>
                </a:solidFill>
                <a:latin typeface="Arial"/>
                <a:ea typeface="Arial"/>
                <a:cs typeface="Arial"/>
                <a:sym typeface="Arial"/>
              </a:rPr>
              <a:t> is created </a:t>
            </a:r>
            <a:r>
              <a:rPr lang="en-US" sz="1800" b="1" i="0" u="none">
                <a:solidFill>
                  <a:schemeClr val="lt1"/>
                </a:solidFill>
                <a:latin typeface="Arial"/>
                <a:ea typeface="Arial"/>
                <a:cs typeface="Arial"/>
                <a:sym typeface="Arial"/>
              </a:rPr>
              <a:t>inside the container</a:t>
            </a:r>
            <a:endParaRPr/>
          </a:p>
          <a:p>
            <a:pPr marL="0" marR="0" lvl="0" indent="-114300" algn="l" rtl="0">
              <a:lnSpc>
                <a:spcPct val="100000"/>
              </a:lnSpc>
              <a:spcBef>
                <a:spcPts val="0"/>
              </a:spcBef>
              <a:spcAft>
                <a:spcPts val="0"/>
              </a:spcAft>
              <a:buClr>
                <a:schemeClr val="lt1"/>
              </a:buClr>
              <a:buSzPts val="1800"/>
              <a:buFont typeface="Arial"/>
              <a:buChar char="•"/>
            </a:pPr>
            <a:r>
              <a:rPr lang="en-US" sz="1800" b="0" i="0" u="none">
                <a:solidFill>
                  <a:schemeClr val="lt1"/>
                </a:solidFill>
                <a:latin typeface="Arial"/>
                <a:ea typeface="Arial"/>
                <a:cs typeface="Arial"/>
                <a:sym typeface="Arial"/>
              </a:rPr>
              <a:t>Host system is </a:t>
            </a:r>
            <a:r>
              <a:rPr lang="en-US" sz="1800" b="1" i="0" u="none">
                <a:solidFill>
                  <a:schemeClr val="lt1"/>
                </a:solidFill>
                <a:latin typeface="Arial"/>
                <a:ea typeface="Arial"/>
                <a:cs typeface="Arial"/>
                <a:sym typeface="Arial"/>
              </a:rPr>
              <a:t>not affected</a:t>
            </a:r>
            <a:endParaRPr/>
          </a:p>
        </p:txBody>
      </p:sp>
      <p:sp>
        <p:nvSpPr>
          <p:cNvPr id="169" name="Google Shape;169;p28"/>
          <p:cNvSpPr txBox="1"/>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63500" algn="l" rtl="0">
              <a:lnSpc>
                <a:spcPct val="100000"/>
              </a:lnSpc>
              <a:spcBef>
                <a:spcPts val="0"/>
              </a:spcBef>
              <a:spcAft>
                <a:spcPts val="0"/>
              </a:spcAft>
              <a:buClr>
                <a:schemeClr val="lt1"/>
              </a:buClr>
              <a:buSzPts val="1000"/>
              <a:buFont typeface="Arimo"/>
              <a:buChar char="•"/>
            </a:pPr>
            <a:r>
              <a:rPr lang="en-US" sz="1000" b="0" i="0" u="none">
                <a:solidFill>
                  <a:schemeClr val="lt1"/>
                </a:solidFill>
                <a:latin typeface="Arimo"/>
                <a:ea typeface="Arimo"/>
                <a:cs typeface="Arimo"/>
                <a:sym typeface="Arimo"/>
              </a:rPr>
              <a:t>MY_NAME</a:t>
            </a:r>
            <a:r>
              <a:rPr lang="en-US" sz="600" b="0" i="0" u="none">
                <a:solidFill>
                  <a:schemeClr val="lt1"/>
                </a:solidFill>
                <a:latin typeface="Arial"/>
                <a:ea typeface="Arial"/>
                <a:cs typeface="Arial"/>
                <a:sym typeface="Arial"/>
              </a:rPr>
              <a:t> is created </a:t>
            </a:r>
            <a:r>
              <a:rPr lang="en-US" sz="1800" b="1" i="0" u="none">
                <a:solidFill>
                  <a:schemeClr val="lt1"/>
                </a:solidFill>
                <a:latin typeface="Arial"/>
                <a:ea typeface="Arial"/>
                <a:cs typeface="Arial"/>
                <a:sym typeface="Arial"/>
              </a:rPr>
              <a:t>inside the container</a:t>
            </a:r>
            <a:endParaRPr/>
          </a:p>
          <a:p>
            <a:pPr marL="0" marR="0" lvl="0" indent="-114300" algn="l" rtl="0">
              <a:lnSpc>
                <a:spcPct val="100000"/>
              </a:lnSpc>
              <a:spcBef>
                <a:spcPts val="0"/>
              </a:spcBef>
              <a:spcAft>
                <a:spcPts val="0"/>
              </a:spcAft>
              <a:buClr>
                <a:schemeClr val="lt1"/>
              </a:buClr>
              <a:buSzPts val="1800"/>
              <a:buFont typeface="Arial"/>
              <a:buChar char="•"/>
            </a:pPr>
            <a:r>
              <a:rPr lang="en-US" sz="1800" b="0" i="0" u="none">
                <a:solidFill>
                  <a:schemeClr val="lt1"/>
                </a:solidFill>
                <a:latin typeface="Arial"/>
                <a:ea typeface="Arial"/>
                <a:cs typeface="Arial"/>
                <a:sym typeface="Arial"/>
              </a:rPr>
              <a:t>Host system is </a:t>
            </a:r>
            <a:r>
              <a:rPr lang="en-US" sz="1800" b="1" i="0" u="none">
                <a:solidFill>
                  <a:schemeClr val="lt1"/>
                </a:solidFill>
                <a:latin typeface="Arial"/>
                <a:ea typeface="Arial"/>
                <a:cs typeface="Arial"/>
                <a:sym typeface="Arial"/>
              </a:rPr>
              <a:t>not affected</a:t>
            </a:r>
            <a:endParaRPr/>
          </a:p>
        </p:txBody>
      </p:sp>
      <p:sp>
        <p:nvSpPr>
          <p:cNvPr id="170" name="Google Shape;170;p28"/>
          <p:cNvSpPr txBox="1"/>
          <p:nvPr/>
        </p:nvSpPr>
        <p:spPr>
          <a:xfrm>
            <a:off x="152400" y="152400"/>
            <a:ext cx="9144000" cy="0"/>
          </a:xfrm>
          <a:prstGeom prst="rect">
            <a:avLst/>
          </a:prstGeom>
          <a:noFill/>
          <a:ln>
            <a:noFill/>
          </a:ln>
        </p:spPr>
        <p:txBody>
          <a:bodyPr spcFirstLastPara="1" wrap="square" lIns="91425" tIns="45700" rIns="91425" bIns="45700" anchor="ctr" anchorCtr="0">
            <a:spAutoFit/>
          </a:bodyPr>
          <a:lstStyle/>
          <a:p>
            <a:pPr marL="0" marR="0" lvl="0" indent="-63500" algn="l" rtl="0">
              <a:lnSpc>
                <a:spcPct val="100000"/>
              </a:lnSpc>
              <a:spcBef>
                <a:spcPts val="0"/>
              </a:spcBef>
              <a:spcAft>
                <a:spcPts val="0"/>
              </a:spcAft>
              <a:buClr>
                <a:schemeClr val="lt1"/>
              </a:buClr>
              <a:buSzPts val="1000"/>
              <a:buFont typeface="Arimo"/>
              <a:buChar char="•"/>
            </a:pPr>
            <a:r>
              <a:rPr lang="en-US" sz="1000" b="0" i="0" u="none">
                <a:solidFill>
                  <a:schemeClr val="lt1"/>
                </a:solidFill>
                <a:latin typeface="Arimo"/>
                <a:ea typeface="Arimo"/>
                <a:cs typeface="Arimo"/>
                <a:sym typeface="Arimo"/>
              </a:rPr>
              <a:t>MY_NAME</a:t>
            </a:r>
            <a:r>
              <a:rPr lang="en-US" sz="600" b="0" i="0" u="none">
                <a:solidFill>
                  <a:schemeClr val="lt1"/>
                </a:solidFill>
                <a:latin typeface="Arial"/>
                <a:ea typeface="Arial"/>
                <a:cs typeface="Arial"/>
                <a:sym typeface="Arial"/>
              </a:rPr>
              <a:t> is created </a:t>
            </a:r>
            <a:r>
              <a:rPr lang="en-US" sz="1800" b="1" i="0" u="none">
                <a:solidFill>
                  <a:schemeClr val="lt1"/>
                </a:solidFill>
                <a:latin typeface="Arial"/>
                <a:ea typeface="Arial"/>
                <a:cs typeface="Arial"/>
                <a:sym typeface="Arial"/>
              </a:rPr>
              <a:t>inside the container</a:t>
            </a:r>
            <a:endParaRPr/>
          </a:p>
          <a:p>
            <a:pPr marL="0" marR="0" lvl="0" indent="-114300" algn="l" rtl="0">
              <a:lnSpc>
                <a:spcPct val="100000"/>
              </a:lnSpc>
              <a:spcBef>
                <a:spcPts val="0"/>
              </a:spcBef>
              <a:spcAft>
                <a:spcPts val="0"/>
              </a:spcAft>
              <a:buClr>
                <a:schemeClr val="lt1"/>
              </a:buClr>
              <a:buSzPts val="1800"/>
              <a:buFont typeface="Arial"/>
              <a:buChar char="•"/>
            </a:pPr>
            <a:r>
              <a:rPr lang="en-US" sz="1800" b="0" i="0" u="none">
                <a:solidFill>
                  <a:schemeClr val="lt1"/>
                </a:solidFill>
                <a:latin typeface="Arial"/>
                <a:ea typeface="Arial"/>
                <a:cs typeface="Arial"/>
                <a:sym typeface="Arial"/>
              </a:rPr>
              <a:t>Host system is </a:t>
            </a:r>
            <a:r>
              <a:rPr lang="en-US" sz="1800" b="1" i="0" u="none">
                <a:solidFill>
                  <a:schemeClr val="lt1"/>
                </a:solidFill>
                <a:latin typeface="Arial"/>
                <a:ea typeface="Arial"/>
                <a:cs typeface="Arial"/>
                <a:sym typeface="Arial"/>
              </a:rPr>
              <a:t>not affected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9"/>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Multiple Environment Variables</a:t>
            </a:r>
            <a:endParaRPr/>
          </a:p>
        </p:txBody>
      </p:sp>
      <p:sp>
        <p:nvSpPr>
          <p:cNvPr id="176" name="Google Shape;176;p29"/>
          <p:cNvSpPr txBox="1">
            <a:spLocks noGrp="1"/>
          </p:cNvSpPr>
          <p:nvPr>
            <p:ph type="body" idx="1"/>
          </p:nvPr>
        </p:nvSpPr>
        <p:spPr>
          <a:xfrm>
            <a:off x="107950" y="908050"/>
            <a:ext cx="8807450" cy="6337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run -e APP_ENV=production -e APP_VERSION=1.0 nginx</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rgbClr val="FF0000"/>
                </a:solidFill>
                <a:latin typeface="Times New Roman"/>
                <a:ea typeface="Times New Roman"/>
                <a:cs typeface="Times New Roman"/>
                <a:sym typeface="Times New Roman"/>
              </a:rPr>
              <a:t>Same for MySQL Container</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-d \</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 MYSQL_ROOT_PASSWORD=root123 \</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 MYSQL_DATABASE=college \</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 MYSQL_USER=admin \</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 MYSQL_PASSWORD=admin123 \</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mysql:8</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Without these variables, MySQL container will fail to start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p:nvPr>
        </p:nvSpPr>
        <p:spPr>
          <a:xfrm>
            <a:off x="0" y="0"/>
            <a:ext cx="7588250" cy="1266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Next is : Passing Environment Variable from Host System</a:t>
            </a:r>
            <a:endParaRPr/>
          </a:p>
        </p:txBody>
      </p:sp>
      <p:sp>
        <p:nvSpPr>
          <p:cNvPr id="182" name="Google Shape;182;p30"/>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Ex#1: </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Step 1: Set variable on host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export APP_PORT=8080</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Step 2: </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-e APP_PORT nginx env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1"/>
          <p:cNvSpPr txBox="1">
            <a:spLocks noGrp="1"/>
          </p:cNvSpPr>
          <p:nvPr>
            <p:ph type="title"/>
          </p:nvPr>
        </p:nvSpPr>
        <p:spPr>
          <a:xfrm>
            <a:off x="250825" y="731837"/>
            <a:ext cx="7661275" cy="7524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800"/>
              <a:buFont typeface="Times New Roman"/>
              <a:buNone/>
            </a:pPr>
            <a:r>
              <a:rPr lang="en-US" sz="2800" b="0" i="0" u="none">
                <a:solidFill>
                  <a:schemeClr val="dk1"/>
                </a:solidFill>
                <a:latin typeface="Times New Roman"/>
                <a:ea typeface="Times New Roman"/>
                <a:cs typeface="Times New Roman"/>
                <a:sym typeface="Times New Roman"/>
              </a:rPr>
              <a:t>Another way : Using --env-file (Clean &amp; Professional Way)</a:t>
            </a:r>
            <a:endParaRPr/>
          </a:p>
        </p:txBody>
      </p:sp>
      <p:sp>
        <p:nvSpPr>
          <p:cNvPr id="188" name="Google Shape;188;p31"/>
          <p:cNvSpPr txBox="1">
            <a:spLocks noGrp="1"/>
          </p:cNvSpPr>
          <p:nvPr>
            <p:ph type="body" idx="1"/>
          </p:nvPr>
        </p:nvSpPr>
        <p:spPr>
          <a:xfrm>
            <a:off x="609600" y="1628775"/>
            <a:ext cx="8305800" cy="45434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Create .env file</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DB_HOST=localhost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DB_USER=root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DB_PASS=secret</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Then Run container</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--env-file .env myapp</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2"/>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4th Example</a:t>
            </a:r>
            <a:endParaRPr/>
          </a:p>
        </p:txBody>
      </p:sp>
      <p:sp>
        <p:nvSpPr>
          <p:cNvPr id="194" name="Google Shape;194;p32"/>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 docker run -it -d httpd</a:t>
            </a:r>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Here :</a:t>
            </a:r>
            <a:endParaRPr/>
          </a:p>
          <a:p>
            <a:pPr marL="342900" marR="0" lvl="0" indent="-342900" algn="l" rtl="0">
              <a:lnSpc>
                <a:spcPct val="100000"/>
              </a:lnSpc>
              <a:spcBef>
                <a:spcPts val="480"/>
              </a:spcBef>
              <a:spcAft>
                <a:spcPts val="0"/>
              </a:spcAft>
              <a:buClr>
                <a:schemeClr val="dk1"/>
              </a:buClr>
              <a:buSzPts val="1800"/>
              <a:buFont typeface="Noto Sans Symbols"/>
              <a:buChar char="⮚"/>
            </a:pPr>
            <a:r>
              <a:rPr lang="en-US" sz="2400" b="1" i="0" u="none">
                <a:solidFill>
                  <a:schemeClr val="dk1"/>
                </a:solidFill>
                <a:latin typeface="Times New Roman"/>
                <a:ea typeface="Times New Roman"/>
                <a:cs typeface="Times New Roman"/>
                <a:sym typeface="Times New Roman"/>
              </a:rPr>
              <a:t>   -it </a:t>
            </a:r>
            <a:r>
              <a:rPr lang="en-US" sz="2400" b="0" i="0" u="none">
                <a:solidFill>
                  <a:schemeClr val="dk1"/>
                </a:solidFill>
                <a:latin typeface="Times New Roman"/>
                <a:ea typeface="Times New Roman"/>
                <a:cs typeface="Times New Roman"/>
                <a:sym typeface="Times New Roman"/>
              </a:rPr>
              <a:t> flag enables interactive mode, so you can interact with the container’s command line</a:t>
            </a:r>
            <a:endParaRPr sz="2400" b="1"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The -d flag runs the container in the background and the </a:t>
            </a:r>
            <a:r>
              <a:rPr lang="en-US" sz="2400" b="1" i="0" u="none">
                <a:solidFill>
                  <a:schemeClr val="dk1"/>
                </a:solidFill>
                <a:latin typeface="Times New Roman"/>
                <a:ea typeface="Times New Roman"/>
                <a:cs typeface="Times New Roman"/>
                <a:sym typeface="Times New Roman"/>
              </a:rPr>
              <a:t>httpd </a:t>
            </a:r>
            <a:r>
              <a:rPr lang="en-US" sz="2400" b="0" i="0" u="none">
                <a:solidFill>
                  <a:schemeClr val="dk1"/>
                </a:solidFill>
                <a:latin typeface="Times New Roman"/>
                <a:ea typeface="Times New Roman"/>
                <a:cs typeface="Times New Roman"/>
                <a:sym typeface="Times New Roman"/>
              </a:rPr>
              <a:t>argument specifies the image name to use for the container. This command will pull the </a:t>
            </a:r>
            <a:r>
              <a:rPr lang="en-US" sz="2400" b="1" i="0" u="none">
                <a:solidFill>
                  <a:schemeClr val="dk1"/>
                </a:solidFill>
                <a:latin typeface="Times New Roman"/>
                <a:ea typeface="Times New Roman"/>
                <a:cs typeface="Times New Roman"/>
                <a:sym typeface="Times New Roman"/>
              </a:rPr>
              <a:t>httpd</a:t>
            </a:r>
            <a:r>
              <a:rPr lang="en-US" sz="2400" b="0" i="0" u="none">
                <a:solidFill>
                  <a:schemeClr val="dk1"/>
                </a:solidFill>
                <a:latin typeface="Times New Roman"/>
                <a:ea typeface="Times New Roman"/>
                <a:cs typeface="Times New Roman"/>
                <a:sym typeface="Times New Roman"/>
              </a:rPr>
              <a:t> image from Docker Hub if it is not already present on your local machine, create a container based on that image, and start it in the background.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3"/>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pic>
        <p:nvPicPr>
          <p:cNvPr id="200" name="Google Shape;200;p33"/>
          <p:cNvPicPr preferRelativeResize="0">
            <a:picLocks noGrp="1"/>
          </p:cNvPicPr>
          <p:nvPr>
            <p:ph type="body" idx="1"/>
          </p:nvPr>
        </p:nvPicPr>
        <p:blipFill rotWithShape="1">
          <a:blip r:embed="rId3">
            <a:alphaModFix/>
          </a:blip>
          <a:srcRect/>
          <a:stretch/>
        </p:blipFill>
        <p:spPr>
          <a:xfrm>
            <a:off x="250825" y="1052512"/>
            <a:ext cx="8713787" cy="55451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4"/>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-p optional flag in run command</a:t>
            </a:r>
            <a:endParaRPr/>
          </a:p>
        </p:txBody>
      </p:sp>
      <p:sp>
        <p:nvSpPr>
          <p:cNvPr id="206" name="Google Shape;206;p34"/>
          <p:cNvSpPr txBox="1">
            <a:spLocks noGrp="1"/>
          </p:cNvSpPr>
          <p:nvPr>
            <p:ph type="body" idx="1"/>
          </p:nvPr>
        </p:nvSpPr>
        <p:spPr>
          <a:xfrm>
            <a:off x="609600" y="1266825"/>
            <a:ext cx="8305800" cy="53308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-p stands for </a:t>
            </a:r>
            <a:r>
              <a:rPr lang="en-US" sz="2400" b="1" i="1" u="none">
                <a:solidFill>
                  <a:schemeClr val="dk1"/>
                </a:solidFill>
                <a:latin typeface="Times New Roman"/>
                <a:ea typeface="Times New Roman"/>
                <a:cs typeface="Times New Roman"/>
                <a:sym typeface="Times New Roman"/>
              </a:rPr>
              <a:t>publish port</a:t>
            </a:r>
            <a:r>
              <a:rPr lang="en-US" sz="2400" b="1" i="0" u="none">
                <a:solidFill>
                  <a:schemeClr val="dk1"/>
                </a:solidFill>
                <a:latin typeface="Times New Roman"/>
                <a:ea typeface="Times New Roman"/>
                <a:cs typeface="Times New Roman"/>
                <a:sym typeface="Times New Roman"/>
              </a:rPr>
              <a:t>.</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It maps a </a:t>
            </a:r>
            <a:r>
              <a:rPr lang="en-US" sz="2400" b="1" i="0" u="none">
                <a:solidFill>
                  <a:schemeClr val="dk1"/>
                </a:solidFill>
                <a:latin typeface="Times New Roman"/>
                <a:ea typeface="Times New Roman"/>
                <a:cs typeface="Times New Roman"/>
                <a:sym typeface="Times New Roman"/>
              </a:rPr>
              <a:t>port on your host machine</a:t>
            </a:r>
            <a:r>
              <a:rPr lang="en-US" sz="2400" b="0" i="0" u="none">
                <a:solidFill>
                  <a:schemeClr val="dk1"/>
                </a:solidFill>
                <a:latin typeface="Times New Roman"/>
                <a:ea typeface="Times New Roman"/>
                <a:cs typeface="Times New Roman"/>
                <a:sym typeface="Times New Roman"/>
              </a:rPr>
              <a:t> to a </a:t>
            </a:r>
            <a:r>
              <a:rPr lang="en-US" sz="2400" b="1" i="0" u="none">
                <a:solidFill>
                  <a:schemeClr val="dk1"/>
                </a:solidFill>
                <a:latin typeface="Times New Roman"/>
                <a:ea typeface="Times New Roman"/>
                <a:cs typeface="Times New Roman"/>
                <a:sym typeface="Times New Roman"/>
              </a:rPr>
              <a:t>port inside the container</a:t>
            </a:r>
            <a:r>
              <a:rPr lang="en-US" sz="24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In simple words:</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-p allows users outside the container to access an application running inside the container.</a:t>
            </a: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By default:</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Containers run in an </a:t>
            </a:r>
            <a:r>
              <a:rPr lang="en-US" sz="2400" b="1" i="0" u="none">
                <a:solidFill>
                  <a:schemeClr val="dk1"/>
                </a:solidFill>
                <a:latin typeface="Times New Roman"/>
                <a:ea typeface="Times New Roman"/>
                <a:cs typeface="Times New Roman"/>
                <a:sym typeface="Times New Roman"/>
              </a:rPr>
              <a:t>isolated network</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Applications inside containers are </a:t>
            </a:r>
            <a:r>
              <a:rPr lang="en-US" sz="2400" b="1" i="0" u="none">
                <a:solidFill>
                  <a:schemeClr val="dk1"/>
                </a:solidFill>
                <a:latin typeface="Times New Roman"/>
                <a:ea typeface="Times New Roman"/>
                <a:cs typeface="Times New Roman"/>
                <a:sym typeface="Times New Roman"/>
              </a:rPr>
              <a:t>NOT accessible from the host/browser</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So if a web server is running </a:t>
            </a:r>
            <a:r>
              <a:rPr lang="en-US" sz="2400" b="1" i="0" u="none">
                <a:solidFill>
                  <a:schemeClr val="dk1"/>
                </a:solidFill>
                <a:latin typeface="Times New Roman"/>
                <a:ea typeface="Times New Roman"/>
                <a:cs typeface="Times New Roman"/>
                <a:sym typeface="Times New Roman"/>
              </a:rPr>
              <a:t>inside a container</a:t>
            </a:r>
            <a:r>
              <a:rPr lang="en-US" sz="2400" b="0" i="0" u="none">
                <a:solidFill>
                  <a:schemeClr val="dk1"/>
                </a:solidFill>
                <a:latin typeface="Times New Roman"/>
                <a:ea typeface="Times New Roman"/>
                <a:cs typeface="Times New Roman"/>
                <a:sym typeface="Times New Roman"/>
              </a:rPr>
              <a:t>, you </a:t>
            </a:r>
            <a:r>
              <a:rPr lang="en-US" sz="2400" b="1" i="0" u="none">
                <a:solidFill>
                  <a:schemeClr val="dk1"/>
                </a:solidFill>
                <a:latin typeface="Times New Roman"/>
                <a:ea typeface="Times New Roman"/>
                <a:cs typeface="Times New Roman"/>
                <a:sym typeface="Times New Roman"/>
              </a:rPr>
              <a:t>must expose it</a:t>
            </a:r>
            <a:r>
              <a:rPr lang="en-US" sz="2400" b="0" i="0" u="none">
                <a:solidFill>
                  <a:schemeClr val="dk1"/>
                </a:solidFill>
                <a:latin typeface="Times New Roman"/>
                <a:ea typeface="Times New Roman"/>
                <a:cs typeface="Times New Roman"/>
                <a:sym typeface="Times New Roman"/>
              </a:rPr>
              <a:t> using -p.</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5"/>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Syntax of –p </a:t>
            </a:r>
            <a:endParaRPr/>
          </a:p>
        </p:txBody>
      </p:sp>
      <p:sp>
        <p:nvSpPr>
          <p:cNvPr id="212" name="Google Shape;212;p35"/>
          <p:cNvSpPr txBox="1">
            <a:spLocks noGrp="1"/>
          </p:cNvSpPr>
          <p:nvPr>
            <p:ph type="body" idx="1"/>
          </p:nvPr>
        </p:nvSpPr>
        <p:spPr>
          <a:xfrm>
            <a:off x="250825" y="908050"/>
            <a:ext cx="8664575" cy="5264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-p &lt;HOST_PORT&gt;:&lt;CONTAINER_PORT&gt; IMAGE</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graphicFrame>
        <p:nvGraphicFramePr>
          <p:cNvPr id="213" name="Google Shape;213;p35"/>
          <p:cNvGraphicFramePr/>
          <p:nvPr/>
        </p:nvGraphicFramePr>
        <p:xfrm>
          <a:off x="207962" y="2060575"/>
          <a:ext cx="8305800" cy="1098040"/>
        </p:xfrm>
        <a:graphic>
          <a:graphicData uri="http://schemas.openxmlformats.org/drawingml/2006/table">
            <a:tbl>
              <a:tblPr>
                <a:noFill/>
                <a:tableStyleId>{18027C93-1E35-4AD7-87A9-21D739A60C18}</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6512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Part</a:t>
                      </a:r>
                      <a:endParaRPr/>
                    </a:p>
                  </a:txBody>
                  <a:tcPr marL="91450" marR="91450" marT="45675" marB="45675" anchor="ct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Description</a:t>
                      </a:r>
                      <a:endParaRPr/>
                    </a:p>
                  </a:txBody>
                  <a:tcPr marL="91450" marR="91450" marT="45675" marB="45675" anchor="ctr"/>
                </a:tc>
                <a:extLst>
                  <a:ext uri="{0D108BD9-81ED-4DB2-BD59-A6C34878D82A}">
                    <a16:rowId xmlns:a16="http://schemas.microsoft.com/office/drawing/2014/main" val="10000"/>
                  </a:ext>
                </a:extLst>
              </a:tr>
              <a:tr h="366700">
                <a:tc>
                  <a:txBody>
                    <a:bodyPr/>
                    <a:lstStyle/>
                    <a:p>
                      <a:pPr marL="0" marR="0" lvl="0" indent="0" algn="l" rtl="0">
                        <a:lnSpc>
                          <a:spcPct val="100000"/>
                        </a:lnSpc>
                        <a:spcBef>
                          <a:spcPts val="0"/>
                        </a:spcBef>
                        <a:spcAft>
                          <a:spcPts val="0"/>
                        </a:spcAft>
                        <a:buClr>
                          <a:schemeClr val="dk1"/>
                        </a:buClr>
                        <a:buSzPts val="1800"/>
                        <a:buFont typeface="Courier New"/>
                        <a:buNone/>
                      </a:pPr>
                      <a:r>
                        <a:rPr lang="en-US" sz="1800" b="0" i="0" u="none" strike="noStrike" cap="none">
                          <a:solidFill>
                            <a:schemeClr val="dk1"/>
                          </a:solidFill>
                          <a:latin typeface="Courier New"/>
                          <a:ea typeface="Courier New"/>
                          <a:cs typeface="Courier New"/>
                          <a:sym typeface="Courier New"/>
                        </a:rPr>
                        <a:t>HOST_PORT</a:t>
                      </a:r>
                      <a:endParaRPr/>
                    </a:p>
                  </a:txBody>
                  <a:tcPr marL="91450" marR="91450" marT="45675" marB="45675" anchor="ct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Port on your system (Laptop/Server)</a:t>
                      </a:r>
                      <a:endParaRPr/>
                    </a:p>
                  </a:txBody>
                  <a:tcPr marL="91450" marR="91450" marT="45675" marB="45675" anchor="ctr"/>
                </a:tc>
                <a:extLst>
                  <a:ext uri="{0D108BD9-81ED-4DB2-BD59-A6C34878D82A}">
                    <a16:rowId xmlns:a16="http://schemas.microsoft.com/office/drawing/2014/main" val="10001"/>
                  </a:ext>
                </a:extLst>
              </a:tr>
              <a:tr h="365125">
                <a:tc>
                  <a:txBody>
                    <a:bodyPr/>
                    <a:lstStyle/>
                    <a:p>
                      <a:pPr marL="0" marR="0" lvl="0" indent="0" algn="l" rtl="0">
                        <a:lnSpc>
                          <a:spcPct val="100000"/>
                        </a:lnSpc>
                        <a:spcBef>
                          <a:spcPts val="0"/>
                        </a:spcBef>
                        <a:spcAft>
                          <a:spcPts val="0"/>
                        </a:spcAft>
                        <a:buClr>
                          <a:schemeClr val="dk1"/>
                        </a:buClr>
                        <a:buSzPts val="1800"/>
                        <a:buFont typeface="Courier New"/>
                        <a:buNone/>
                      </a:pPr>
                      <a:r>
                        <a:rPr lang="en-US" sz="1800" b="0" i="0" u="none" strike="noStrike" cap="none">
                          <a:solidFill>
                            <a:schemeClr val="dk1"/>
                          </a:solidFill>
                          <a:latin typeface="Courier New"/>
                          <a:ea typeface="Courier New"/>
                          <a:cs typeface="Courier New"/>
                          <a:sym typeface="Courier New"/>
                        </a:rPr>
                        <a:t>CONTAINER_PORT</a:t>
                      </a:r>
                      <a:endParaRPr/>
                    </a:p>
                  </a:txBody>
                  <a:tcPr marL="91450" marR="91450" marT="45675" marB="45675" anchor="ct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Port where app runs inside container</a:t>
                      </a:r>
                      <a:endParaRPr/>
                    </a:p>
                  </a:txBody>
                  <a:tcPr marL="91450" marR="91450" marT="45675" marB="4567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6"/>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EX#1:</a:t>
            </a:r>
            <a:endParaRPr/>
          </a:p>
        </p:txBody>
      </p:sp>
      <p:sp>
        <p:nvSpPr>
          <p:cNvPr id="219" name="Google Shape;219;p36"/>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Without –p </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run nginx</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As no port mapping done here</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
        <p:nvSpPr>
          <p:cNvPr id="220" name="Google Shape;220;p36"/>
          <p:cNvSpPr txBox="1"/>
          <p:nvPr/>
        </p:nvSpPr>
        <p:spPr>
          <a:xfrm>
            <a:off x="609600" y="3121025"/>
            <a:ext cx="5235575" cy="369887"/>
          </a:xfrm>
          <a:prstGeom prst="rect">
            <a:avLst/>
          </a:prstGeom>
          <a:noFill/>
          <a:ln>
            <a:noFill/>
          </a:ln>
        </p:spPr>
        <p:txBody>
          <a:bodyPr spcFirstLastPara="1" wrap="square" lIns="91425" tIns="45700" rIns="91425" bIns="45700" anchor="ctr" anchorCtr="0">
            <a:spAutoFit/>
          </a:bodyPr>
          <a:lstStyle/>
          <a:p>
            <a:pPr marL="0" marR="0" lvl="0" indent="-114300" algn="l" rtl="0">
              <a:lnSpc>
                <a:spcPct val="100000"/>
              </a:lnSpc>
              <a:spcBef>
                <a:spcPts val="0"/>
              </a:spcBef>
              <a:spcAft>
                <a:spcPts val="0"/>
              </a:spcAft>
              <a:buClr>
                <a:schemeClr val="dk1"/>
              </a:buClr>
              <a:buSzPts val="1800"/>
              <a:buFont typeface="Arial"/>
              <a:buChar char="•"/>
            </a:pPr>
            <a:r>
              <a:rPr lang="en-US" sz="1800" b="0" i="0" u="none">
                <a:solidFill>
                  <a:schemeClr val="dk1"/>
                </a:solidFill>
                <a:latin typeface="Arial"/>
                <a:ea typeface="Arial"/>
                <a:cs typeface="Arial"/>
                <a:sym typeface="Arial"/>
              </a:rPr>
              <a:t>Try opening browser: But it is  Not accessible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7"/>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226" name="Google Shape;226;p37"/>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Now try to Run Nginx with -p</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run -p 8080:80 nginx</a:t>
            </a:r>
            <a:endParaRPr/>
          </a:p>
          <a:p>
            <a:pPr marL="0" marR="0" lvl="0" indent="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What happens internally?</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Browser → localhost:8080 → Docker Host → Container:80 → Nginx</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8"/>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232" name="Google Shape;232;p38"/>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run -d -p 3307:3306 --name mysql-test –e MYSQL_ROOT_PASSWORD=root123  mysql</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docker exec -it mysql-test bash</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mysql -h 127.0.0.1 -P 3306 -u root –p</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9"/>
          <p:cNvSpPr txBox="1">
            <a:spLocks noGrp="1"/>
          </p:cNvSpPr>
          <p:nvPr>
            <p:ph type="title"/>
          </p:nvPr>
        </p:nvSpPr>
        <p:spPr>
          <a:xfrm>
            <a:off x="0" y="0"/>
            <a:ext cx="7588250" cy="10001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7 </a:t>
            </a:r>
            <a:r>
              <a:rPr lang="en-US" sz="3600" b="1" i="0" u="none">
                <a:solidFill>
                  <a:schemeClr val="dk1"/>
                </a:solidFill>
                <a:latin typeface="Times New Roman"/>
                <a:ea typeface="Times New Roman"/>
                <a:cs typeface="Times New Roman"/>
                <a:sym typeface="Times New Roman"/>
              </a:rPr>
              <a:t>What’s running?</a:t>
            </a:r>
            <a:br>
              <a:rPr lang="en-US" sz="3600" b="1" i="0" u="none">
                <a:solidFill>
                  <a:schemeClr val="dk1"/>
                </a:solidFill>
                <a:latin typeface="Times New Roman"/>
                <a:ea typeface="Times New Roman"/>
                <a:cs typeface="Times New Roman"/>
                <a:sym typeface="Times New Roman"/>
              </a:rPr>
            </a:br>
            <a:endParaRPr/>
          </a:p>
        </p:txBody>
      </p:sp>
      <p:sp>
        <p:nvSpPr>
          <p:cNvPr id="239" name="Google Shape;239;p39"/>
          <p:cNvSpPr txBox="1">
            <a:spLocks noGrp="1"/>
          </p:cNvSpPr>
          <p:nvPr>
            <p:ph type="body" idx="1"/>
          </p:nvPr>
        </p:nvSpPr>
        <p:spPr>
          <a:xfrm>
            <a:off x="609600" y="1266825"/>
            <a:ext cx="8305800" cy="21621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To  lists all the docker containers are running with container details.</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rgbClr val="FF0000"/>
                </a:solidFill>
                <a:latin typeface="Times New Roman"/>
                <a:ea typeface="Times New Roman"/>
                <a:cs typeface="Times New Roman"/>
                <a:sym typeface="Times New Roman"/>
              </a:rPr>
              <a:t>$ docker ps</a:t>
            </a:r>
            <a:endParaRPr/>
          </a:p>
        </p:txBody>
      </p:sp>
      <p:pic>
        <p:nvPicPr>
          <p:cNvPr id="240" name="Google Shape;240;p39"/>
          <p:cNvPicPr preferRelativeResize="0"/>
          <p:nvPr/>
        </p:nvPicPr>
        <p:blipFill rotWithShape="1">
          <a:blip r:embed="rId3">
            <a:alphaModFix/>
          </a:blip>
          <a:srcRect/>
          <a:stretch/>
        </p:blipFill>
        <p:spPr>
          <a:xfrm>
            <a:off x="285750" y="4054475"/>
            <a:ext cx="8429625" cy="158908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0"/>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TASK #1:</a:t>
            </a:r>
            <a:endParaRPr/>
          </a:p>
        </p:txBody>
      </p:sp>
      <p:sp>
        <p:nvSpPr>
          <p:cNvPr id="246" name="Google Shape;246;p40"/>
          <p:cNvSpPr txBox="1">
            <a:spLocks noGrp="1"/>
          </p:cNvSpPr>
          <p:nvPr>
            <p:ph type="body" idx="1"/>
          </p:nvPr>
        </p:nvSpPr>
        <p:spPr>
          <a:xfrm>
            <a:off x="107950" y="908050"/>
            <a:ext cx="8807450" cy="5264150"/>
          </a:xfrm>
          <a:prstGeom prst="rect">
            <a:avLst/>
          </a:prstGeom>
          <a:noFill/>
          <a:ln>
            <a:noFill/>
          </a:ln>
        </p:spPr>
        <p:txBody>
          <a:bodyPr spcFirstLastPara="1" wrap="square" lIns="91425" tIns="45700" rIns="91425" bIns="45700" anchor="ctr" anchorCtr="0">
            <a:spAutoFit/>
          </a:bodyPr>
          <a:lstStyle/>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Run Ubuntu container</a:t>
            </a:r>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Pass </a:t>
            </a:r>
            <a:r>
              <a:rPr lang="en-US" sz="1000" b="0" i="0" u="none">
                <a:solidFill>
                  <a:schemeClr val="lt1"/>
                </a:solidFill>
                <a:latin typeface="Arimo"/>
                <a:ea typeface="Arimo"/>
                <a:cs typeface="Arimo"/>
                <a:sym typeface="Arimo"/>
              </a:rPr>
              <a:t>-e COLLEGE=CSE</a:t>
            </a:r>
            <a:endParaRPr sz="600" b="0" i="0" u="none">
              <a:solidFill>
                <a:schemeClr val="lt1"/>
              </a:solidFill>
              <a:latin typeface="Arial"/>
              <a:ea typeface="Arial"/>
              <a:cs typeface="Arial"/>
              <a:sym typeface="Arial"/>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Show </a:t>
            </a:r>
            <a:r>
              <a:rPr lang="en-US" sz="1000" b="0" i="0" u="none">
                <a:solidFill>
                  <a:schemeClr val="lt1"/>
                </a:solidFill>
                <a:latin typeface="Arimo"/>
                <a:ea typeface="Arimo"/>
                <a:cs typeface="Arimo"/>
                <a:sym typeface="Arimo"/>
              </a:rPr>
              <a:t>echo $COLLEGE</a:t>
            </a:r>
            <a:endParaRPr sz="600" b="0" i="0" u="none">
              <a:solidFill>
                <a:schemeClr val="lt1"/>
              </a:solidFill>
              <a:latin typeface="Arial"/>
              <a:ea typeface="Arial"/>
              <a:cs typeface="Arial"/>
              <a:sym typeface="Arial"/>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Stop container → variable disappears</a:t>
            </a:r>
            <a:endParaRPr/>
          </a:p>
        </p:txBody>
      </p:sp>
      <p:sp>
        <p:nvSpPr>
          <p:cNvPr id="247" name="Google Shape;247;p40"/>
          <p:cNvSpPr txBox="1"/>
          <p:nvPr/>
        </p:nvSpPr>
        <p:spPr>
          <a:xfrm>
            <a:off x="1187450" y="1412875"/>
            <a:ext cx="5976937" cy="34163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lt1"/>
              </a:buClr>
              <a:buSzPts val="1800"/>
              <a:buFont typeface="Arial"/>
              <a:buNone/>
            </a:pPr>
            <a:endParaRPr sz="18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800"/>
              <a:buFont typeface="Arial"/>
              <a:buNone/>
            </a:pPr>
            <a:endParaRPr sz="18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800"/>
              <a:buFont typeface="Arial"/>
              <a:buNone/>
            </a:pPr>
            <a:endParaRPr sz="1800" b="0" i="0" u="none">
              <a:solidFill>
                <a:schemeClr val="dk1"/>
              </a:solidFill>
              <a:latin typeface="Arial"/>
              <a:ea typeface="Arial"/>
              <a:cs typeface="Arial"/>
              <a:sym typeface="Arial"/>
            </a:endParaRPr>
          </a:p>
          <a:p>
            <a:pPr marL="0" marR="0" lvl="0" indent="-1778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Arial"/>
                <a:ea typeface="Arial"/>
                <a:cs typeface="Arial"/>
                <a:sym typeface="Arial"/>
              </a:rPr>
              <a:t>Run Ubuntu container</a:t>
            </a:r>
            <a:endParaRPr/>
          </a:p>
          <a:p>
            <a:pPr marL="0" marR="0" lvl="0" indent="-1778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Arial"/>
                <a:ea typeface="Arial"/>
                <a:cs typeface="Arial"/>
                <a:sym typeface="Arial"/>
              </a:rPr>
              <a:t>Pass </a:t>
            </a:r>
            <a:r>
              <a:rPr lang="en-US" sz="1800" b="0" i="0" u="none">
                <a:solidFill>
                  <a:schemeClr val="dk1"/>
                </a:solidFill>
                <a:latin typeface="Arimo"/>
                <a:ea typeface="Arimo"/>
                <a:cs typeface="Arimo"/>
                <a:sym typeface="Arimo"/>
              </a:rPr>
              <a:t>-e COLLEGE=CSE</a:t>
            </a:r>
            <a:endParaRPr sz="1100" b="0" i="0" u="none">
              <a:solidFill>
                <a:schemeClr val="dk1"/>
              </a:solidFill>
              <a:latin typeface="Arial"/>
              <a:ea typeface="Arial"/>
              <a:cs typeface="Arial"/>
              <a:sym typeface="Arial"/>
            </a:endParaRPr>
          </a:p>
          <a:p>
            <a:pPr marL="0" marR="0" lvl="0" indent="-2032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Arial"/>
                <a:ea typeface="Arial"/>
                <a:cs typeface="Arial"/>
                <a:sym typeface="Arial"/>
              </a:rPr>
              <a:t>Show </a:t>
            </a:r>
            <a:r>
              <a:rPr lang="en-US" sz="2000" b="0" i="0" u="none">
                <a:solidFill>
                  <a:schemeClr val="dk1"/>
                </a:solidFill>
                <a:latin typeface="Arimo"/>
                <a:ea typeface="Arimo"/>
                <a:cs typeface="Arimo"/>
                <a:sym typeface="Arimo"/>
              </a:rPr>
              <a:t>echo $COLLEGE</a:t>
            </a:r>
            <a:endParaRPr sz="1000" b="0" i="0" u="none">
              <a:solidFill>
                <a:schemeClr val="dk1"/>
              </a:solidFill>
              <a:latin typeface="Arial"/>
              <a:ea typeface="Arial"/>
              <a:cs typeface="Arial"/>
              <a:sym typeface="Arial"/>
            </a:endParaRPr>
          </a:p>
          <a:p>
            <a:pPr marL="0" marR="0" lvl="0" indent="-1778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Arial"/>
                <a:ea typeface="Arial"/>
                <a:cs typeface="Arial"/>
                <a:sym typeface="Arial"/>
              </a:rPr>
              <a:t>Stop container  then check what happened</a:t>
            </a:r>
            <a:endParaRPr/>
          </a:p>
          <a:p>
            <a:pPr marL="0" marR="0" lvl="0" indent="0" algn="l" rtl="0">
              <a:lnSpc>
                <a:spcPct val="100000"/>
              </a:lnSpc>
              <a:spcBef>
                <a:spcPts val="0"/>
              </a:spcBef>
              <a:spcAft>
                <a:spcPts val="0"/>
              </a:spcAft>
              <a:buNone/>
            </a:pPr>
            <a:endParaRPr sz="2800" b="0" i="0" u="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1"/>
          <p:cNvSpPr txBox="1">
            <a:spLocks noGrp="1"/>
          </p:cNvSpPr>
          <p:nvPr>
            <p:ph type="title"/>
          </p:nvPr>
        </p:nvSpPr>
        <p:spPr>
          <a:xfrm>
            <a:off x="0" y="0"/>
            <a:ext cx="7588250" cy="107156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8. </a:t>
            </a:r>
            <a:r>
              <a:rPr lang="en-US" sz="3600" b="1" i="0" u="none">
                <a:solidFill>
                  <a:schemeClr val="dk1"/>
                </a:solidFill>
                <a:latin typeface="Times New Roman"/>
                <a:ea typeface="Times New Roman"/>
                <a:cs typeface="Times New Roman"/>
                <a:sym typeface="Times New Roman"/>
              </a:rPr>
              <a:t>ps -a</a:t>
            </a:r>
            <a:br>
              <a:rPr lang="en-US" sz="3600" b="1" i="0" u="none">
                <a:solidFill>
                  <a:schemeClr val="dk1"/>
                </a:solidFill>
                <a:latin typeface="Times New Roman"/>
                <a:ea typeface="Times New Roman"/>
                <a:cs typeface="Times New Roman"/>
                <a:sym typeface="Times New Roman"/>
              </a:rPr>
            </a:br>
            <a:endParaRPr/>
          </a:p>
        </p:txBody>
      </p:sp>
      <p:sp>
        <p:nvSpPr>
          <p:cNvPr id="253" name="Google Shape;253;p41"/>
          <p:cNvSpPr txBox="1">
            <a:spLocks noGrp="1"/>
          </p:cNvSpPr>
          <p:nvPr>
            <p:ph type="body" idx="1"/>
          </p:nvPr>
        </p:nvSpPr>
        <p:spPr>
          <a:xfrm>
            <a:off x="609600" y="1266825"/>
            <a:ext cx="7891462" cy="15906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To list all the docker containers running/exited/stopped with container details</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rgbClr val="FF0000"/>
                </a:solidFill>
                <a:latin typeface="Times New Roman"/>
                <a:ea typeface="Times New Roman"/>
                <a:cs typeface="Times New Roman"/>
                <a:sym typeface="Times New Roman"/>
              </a:rPr>
              <a:t>$ docker ps -a</a:t>
            </a:r>
            <a:endParaRPr/>
          </a:p>
          <a:p>
            <a:pPr marL="342900" marR="0" lvl="0" indent="-228600" algn="l" rtl="0">
              <a:spcBef>
                <a:spcPts val="480"/>
              </a:spcBef>
              <a:spcAft>
                <a:spcPts val="0"/>
              </a:spcAft>
              <a:buClr>
                <a:srgbClr val="A50021"/>
              </a:buClr>
              <a:buSzPts val="1800"/>
              <a:buFont typeface="Arial"/>
              <a:buNone/>
            </a:pPr>
            <a:endParaRPr sz="2400" b="1" i="0" u="none">
              <a:solidFill>
                <a:srgbClr val="FF0000"/>
              </a:solidFill>
              <a:latin typeface="Times New Roman"/>
              <a:ea typeface="Times New Roman"/>
              <a:cs typeface="Times New Roman"/>
              <a:sym typeface="Times New Roman"/>
            </a:endParaRPr>
          </a:p>
        </p:txBody>
      </p:sp>
      <p:pic>
        <p:nvPicPr>
          <p:cNvPr id="254" name="Google Shape;254;p41"/>
          <p:cNvPicPr preferRelativeResize="0"/>
          <p:nvPr/>
        </p:nvPicPr>
        <p:blipFill rotWithShape="1">
          <a:blip r:embed="rId3">
            <a:alphaModFix/>
          </a:blip>
          <a:srcRect/>
          <a:stretch/>
        </p:blipFill>
        <p:spPr>
          <a:xfrm>
            <a:off x="504825" y="3429000"/>
            <a:ext cx="7567612" cy="30718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2"/>
          <p:cNvSpPr txBox="1">
            <a:spLocks noGrp="1"/>
          </p:cNvSpPr>
          <p:nvPr>
            <p:ph type="title"/>
          </p:nvPr>
        </p:nvSpPr>
        <p:spPr>
          <a:xfrm>
            <a:off x="0" y="0"/>
            <a:ext cx="758825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9.</a:t>
            </a:r>
            <a:r>
              <a:rPr lang="en-US" sz="3600" b="1" i="0" u="none">
                <a:solidFill>
                  <a:schemeClr val="dk1"/>
                </a:solidFill>
                <a:latin typeface="Times New Roman"/>
                <a:ea typeface="Times New Roman"/>
                <a:cs typeface="Times New Roman"/>
                <a:sym typeface="Times New Roman"/>
              </a:rPr>
              <a:t> exec</a:t>
            </a:r>
            <a:br>
              <a:rPr lang="en-US" sz="3600" b="1" i="0" u="none">
                <a:solidFill>
                  <a:schemeClr val="dk1"/>
                </a:solidFill>
                <a:latin typeface="Times New Roman"/>
                <a:ea typeface="Times New Roman"/>
                <a:cs typeface="Times New Roman"/>
                <a:sym typeface="Times New Roman"/>
              </a:rPr>
            </a:br>
            <a:endParaRPr/>
          </a:p>
        </p:txBody>
      </p:sp>
      <p:sp>
        <p:nvSpPr>
          <p:cNvPr id="260" name="Google Shape;260;p42"/>
          <p:cNvSpPr txBox="1">
            <a:spLocks noGrp="1"/>
          </p:cNvSpPr>
          <p:nvPr>
            <p:ph type="body" idx="1"/>
          </p:nvPr>
        </p:nvSpPr>
        <p:spPr>
          <a:xfrm>
            <a:off x="0" y="928687"/>
            <a:ext cx="8915400" cy="2286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Access the docker container and run commands inside the container in bash </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a:t>
            </a:r>
            <a:r>
              <a:rPr lang="en-US" sz="2400" b="1" i="0" u="none">
                <a:solidFill>
                  <a:srgbClr val="FF0000"/>
                </a:solidFill>
                <a:latin typeface="Times New Roman"/>
                <a:ea typeface="Times New Roman"/>
                <a:cs typeface="Times New Roman"/>
                <a:sym typeface="Times New Roman"/>
              </a:rPr>
              <a:t>$ docker  exec  -it  09ca6feb6efc bash/env</a:t>
            </a:r>
            <a:endParaRPr/>
          </a:p>
          <a:p>
            <a:pPr marL="342900" marR="0" lvl="0" indent="-34290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09ca6feb6efc --- it is Id of the container </a:t>
            </a:r>
            <a:endParaRPr/>
          </a:p>
          <a:p>
            <a:pPr marL="342900" marR="0" lvl="0" indent="-342900" algn="l" rtl="0">
              <a:lnSpc>
                <a:spcPct val="100000"/>
              </a:lnSpc>
              <a:spcBef>
                <a:spcPts val="480"/>
              </a:spcBef>
              <a:spcAft>
                <a:spcPts val="0"/>
              </a:spcAft>
              <a:buClr>
                <a:srgbClr val="A50021"/>
              </a:buClr>
              <a:buSzPts val="1800"/>
              <a:buFont typeface="Arial"/>
              <a:buNone/>
            </a:pPr>
            <a:endParaRPr sz="2400" b="1"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1" i="0" u="none">
              <a:solidFill>
                <a:srgbClr val="FF0000"/>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1" i="0" u="none">
              <a:solidFill>
                <a:srgbClr val="FF0000"/>
              </a:solidFill>
              <a:latin typeface="Times New Roman"/>
              <a:ea typeface="Times New Roman"/>
              <a:cs typeface="Times New Roman"/>
              <a:sym typeface="Times New Roman"/>
            </a:endParaRPr>
          </a:p>
        </p:txBody>
      </p:sp>
      <p:pic>
        <p:nvPicPr>
          <p:cNvPr id="261" name="Google Shape;261;p42"/>
          <p:cNvPicPr preferRelativeResize="0"/>
          <p:nvPr/>
        </p:nvPicPr>
        <p:blipFill rotWithShape="1">
          <a:blip r:embed="rId3">
            <a:alphaModFix/>
          </a:blip>
          <a:srcRect/>
          <a:stretch/>
        </p:blipFill>
        <p:spPr>
          <a:xfrm>
            <a:off x="214312" y="3643312"/>
            <a:ext cx="8572500" cy="2085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3"/>
          <p:cNvSpPr txBox="1">
            <a:spLocks noGrp="1"/>
          </p:cNvSpPr>
          <p:nvPr>
            <p:ph type="title"/>
          </p:nvPr>
        </p:nvSpPr>
        <p:spPr>
          <a:xfrm>
            <a:off x="0" y="0"/>
            <a:ext cx="7588250" cy="12858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10.</a:t>
            </a:r>
            <a:r>
              <a:rPr lang="en-US" sz="3600" b="1" i="0" u="none">
                <a:solidFill>
                  <a:schemeClr val="dk1"/>
                </a:solidFill>
                <a:latin typeface="Times New Roman"/>
                <a:ea typeface="Times New Roman"/>
                <a:cs typeface="Times New Roman"/>
                <a:sym typeface="Times New Roman"/>
              </a:rPr>
              <a:t> Removing container</a:t>
            </a:r>
            <a:br>
              <a:rPr lang="en-US" sz="3600" b="1" i="0" u="none">
                <a:solidFill>
                  <a:schemeClr val="dk1"/>
                </a:solidFill>
                <a:latin typeface="Times New Roman"/>
                <a:ea typeface="Times New Roman"/>
                <a:cs typeface="Times New Roman"/>
                <a:sym typeface="Times New Roman"/>
              </a:rPr>
            </a:br>
            <a:endParaRPr/>
          </a:p>
        </p:txBody>
      </p:sp>
      <p:sp>
        <p:nvSpPr>
          <p:cNvPr id="267" name="Google Shape;267;p43"/>
          <p:cNvSpPr txBox="1">
            <a:spLocks noGrp="1"/>
          </p:cNvSpPr>
          <p:nvPr>
            <p:ph type="body" idx="1"/>
          </p:nvPr>
        </p:nvSpPr>
        <p:spPr>
          <a:xfrm>
            <a:off x="609600" y="1266825"/>
            <a:ext cx="8305800" cy="29479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Remove the docker container with container id mentioned in the command.</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rgbClr val="FF0000"/>
                </a:solidFill>
                <a:latin typeface="Times New Roman"/>
                <a:ea typeface="Times New Roman"/>
                <a:cs typeface="Times New Roman"/>
                <a:sym typeface="Times New Roman"/>
              </a:rPr>
              <a:t>                  $ docker  rm  9b6343d3b5a0 </a:t>
            </a:r>
            <a:br>
              <a:rPr lang="en-US" sz="2400" b="0" i="0" u="none">
                <a:solidFill>
                  <a:schemeClr val="dk1"/>
                </a:solidFill>
                <a:latin typeface="Times New Roman"/>
                <a:ea typeface="Times New Roman"/>
                <a:cs typeface="Times New Roman"/>
                <a:sym typeface="Times New Roman"/>
              </a:rPr>
            </a:b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Run the below command to check if the container got removed or not.</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a:t>
            </a:r>
            <a:r>
              <a:rPr lang="en-US" sz="2400" b="0" i="0" u="none">
                <a:solidFill>
                  <a:srgbClr val="FF0000"/>
                </a:solidFill>
                <a:latin typeface="Times New Roman"/>
                <a:ea typeface="Times New Roman"/>
                <a:cs typeface="Times New Roman"/>
                <a:sym typeface="Times New Roman"/>
              </a:rPr>
              <a:t>$ docker ps -a</a:t>
            </a:r>
            <a:endParaRPr/>
          </a:p>
        </p:txBody>
      </p:sp>
      <p:pic>
        <p:nvPicPr>
          <p:cNvPr id="268" name="Google Shape;268;p43"/>
          <p:cNvPicPr preferRelativeResize="0"/>
          <p:nvPr/>
        </p:nvPicPr>
        <p:blipFill rotWithShape="1">
          <a:blip r:embed="rId3">
            <a:alphaModFix/>
          </a:blip>
          <a:srcRect/>
          <a:stretch/>
        </p:blipFill>
        <p:spPr>
          <a:xfrm>
            <a:off x="500062" y="4429125"/>
            <a:ext cx="8501062" cy="24288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4"/>
          <p:cNvSpPr txBox="1">
            <a:spLocks noGrp="1"/>
          </p:cNvSpPr>
          <p:nvPr>
            <p:ph type="title"/>
          </p:nvPr>
        </p:nvSpPr>
        <p:spPr>
          <a:xfrm>
            <a:off x="0" y="0"/>
            <a:ext cx="7588250" cy="107156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11. </a:t>
            </a:r>
            <a:r>
              <a:rPr lang="en-US" sz="3600" b="1" i="0" u="none">
                <a:solidFill>
                  <a:schemeClr val="dk1"/>
                </a:solidFill>
                <a:latin typeface="Times New Roman"/>
                <a:ea typeface="Times New Roman"/>
                <a:cs typeface="Times New Roman"/>
                <a:sym typeface="Times New Roman"/>
              </a:rPr>
              <a:t>Removing image</a:t>
            </a:r>
            <a:br>
              <a:rPr lang="en-US" sz="3600" b="1" i="0" u="none">
                <a:solidFill>
                  <a:schemeClr val="dk1"/>
                </a:solidFill>
                <a:latin typeface="Times New Roman"/>
                <a:ea typeface="Times New Roman"/>
                <a:cs typeface="Times New Roman"/>
                <a:sym typeface="Times New Roman"/>
              </a:rPr>
            </a:br>
            <a:endParaRPr/>
          </a:p>
        </p:txBody>
      </p:sp>
      <p:sp>
        <p:nvSpPr>
          <p:cNvPr id="274" name="Google Shape;274;p44"/>
          <p:cNvSpPr txBox="1">
            <a:spLocks noGrp="1"/>
          </p:cNvSpPr>
          <p:nvPr>
            <p:ph type="body" idx="1"/>
          </p:nvPr>
        </p:nvSpPr>
        <p:spPr>
          <a:xfrm>
            <a:off x="214312" y="857250"/>
            <a:ext cx="8701087" cy="12858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Remove the docker image with the docker image id mentioned in the command</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rgbClr val="FF0000"/>
                </a:solidFill>
                <a:latin typeface="Times New Roman"/>
                <a:ea typeface="Times New Roman"/>
                <a:cs typeface="Times New Roman"/>
                <a:sym typeface="Times New Roman"/>
              </a:rPr>
              <a:t>          $ docker rmi fce289e99eb9</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rgbClr val="FF0000"/>
              </a:solidFill>
              <a:latin typeface="Times New Roman"/>
              <a:ea typeface="Times New Roman"/>
              <a:cs typeface="Times New Roman"/>
              <a:sym typeface="Times New Roman"/>
            </a:endParaRPr>
          </a:p>
        </p:txBody>
      </p:sp>
      <p:pic>
        <p:nvPicPr>
          <p:cNvPr id="275" name="Google Shape;275;p44"/>
          <p:cNvPicPr preferRelativeResize="0"/>
          <p:nvPr/>
        </p:nvPicPr>
        <p:blipFill rotWithShape="1">
          <a:blip r:embed="rId3">
            <a:alphaModFix/>
          </a:blip>
          <a:srcRect/>
          <a:stretch/>
        </p:blipFill>
        <p:spPr>
          <a:xfrm>
            <a:off x="785812" y="2214562"/>
            <a:ext cx="7705725" cy="3124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5"/>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..contd..</a:t>
            </a:r>
            <a:endParaRPr/>
          </a:p>
        </p:txBody>
      </p:sp>
      <p:sp>
        <p:nvSpPr>
          <p:cNvPr id="281" name="Google Shape;281;p45"/>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To remove the image forcefully </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docker rmi –f  &lt;image id&gt;</a:t>
            </a:r>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rmi -f 92fa43a2ff60503fdf250</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Untagged: httpd:latest</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Untagged: httpd@sha256:7765977cf2063fec486b63ddea574faf8fbed285f2b17020fa7ef70a4926cdec</a:t>
            </a:r>
            <a:endParaRPr/>
          </a:p>
          <a:p>
            <a:pPr marL="342900" marR="0" lvl="0" indent="-34290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Deleted: sha256:92fa43a2ff60503fdf250ef0a16d4170aa2a47c4b5a60d427724283543a8792a</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8"/>
          <p:cNvSpPr txBox="1">
            <a:spLocks noGrp="1"/>
          </p:cNvSpPr>
          <p:nvPr>
            <p:ph type="title"/>
          </p:nvPr>
        </p:nvSpPr>
        <p:spPr>
          <a:xfrm>
            <a:off x="0" y="0"/>
            <a:ext cx="7588250" cy="11969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Docker container</a:t>
            </a:r>
            <a:r>
              <a:rPr lang="en-US" sz="3600" b="0" i="0" u="none">
                <a:solidFill>
                  <a:schemeClr val="dk1"/>
                </a:solidFill>
                <a:latin typeface="Times New Roman"/>
                <a:ea typeface="Times New Roman"/>
                <a:cs typeface="Times New Roman"/>
                <a:sym typeface="Times New Roman"/>
              </a:rPr>
              <a:t> commands:</a:t>
            </a:r>
            <a:br>
              <a:rPr lang="en-US" sz="3600" b="0" i="0" u="none">
                <a:solidFill>
                  <a:schemeClr val="dk1"/>
                </a:solidFill>
                <a:latin typeface="Times New Roman"/>
                <a:ea typeface="Times New Roman"/>
                <a:cs typeface="Times New Roman"/>
                <a:sym typeface="Times New Roman"/>
              </a:rPr>
            </a:br>
            <a:endParaRPr/>
          </a:p>
        </p:txBody>
      </p:sp>
      <p:sp>
        <p:nvSpPr>
          <p:cNvPr id="302" name="Google Shape;302;p48"/>
          <p:cNvSpPr txBox="1">
            <a:spLocks noGrp="1"/>
          </p:cNvSpPr>
          <p:nvPr>
            <p:ph type="body" idx="1"/>
          </p:nvPr>
        </p:nvSpPr>
        <p:spPr>
          <a:xfrm>
            <a:off x="323850" y="908050"/>
            <a:ext cx="8591550" cy="5264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1. Container Lifecycle Management</a:t>
            </a:r>
            <a:endParaRPr sz="2400" b="0"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Run a container</a:t>
            </a:r>
            <a:r>
              <a:rPr lang="en-US" sz="2400" b="0" i="0" u="none">
                <a:solidFill>
                  <a:schemeClr val="dk1"/>
                </a:solidFill>
                <a:latin typeface="Times New Roman"/>
                <a:ea typeface="Times New Roman"/>
                <a:cs typeface="Times New Roman"/>
                <a:sym typeface="Times New Roman"/>
              </a:rPr>
              <a:t> (creates and starts it)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run -d -p 80:80 --name my_container nginx</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Start a stopped container</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start &lt;container_id/name&gt;</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Stop a running container</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stop &lt;container_id/name&gt;</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Restart a container</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restart &lt;container_id/name&gt;</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Pause a container</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pause &lt;container_id/name&gt;</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9"/>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308" name="Google Shape;308;p49"/>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…contd….</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Unpause a paused container</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unpause &lt;container_id/name&gt;</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Kill a container (force stop)</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kill &lt;container_id/name&gt;</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Remove a container</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rm &lt;container_id/name&gt;</a:t>
            </a:r>
            <a:endParaRPr/>
          </a:p>
          <a:p>
            <a:pPr marL="0" marR="0" lvl="0" indent="-1143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Remove all stopped containers</a:t>
            </a:r>
            <a:r>
              <a:rPr lang="en-US" sz="2400" b="0" i="0" u="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container prune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0"/>
          <p:cNvSpPr txBox="1">
            <a:spLocks noGrp="1"/>
          </p:cNvSpPr>
          <p:nvPr>
            <p:ph type="title"/>
          </p:nvPr>
        </p:nvSpPr>
        <p:spPr>
          <a:xfrm>
            <a:off x="0" y="0"/>
            <a:ext cx="7588250" cy="112553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2.</a:t>
            </a:r>
            <a:r>
              <a:rPr lang="en-US" sz="3600" b="1" i="0" u="none">
                <a:solidFill>
                  <a:schemeClr val="dk1"/>
                </a:solidFill>
                <a:latin typeface="Times New Roman"/>
                <a:ea typeface="Times New Roman"/>
                <a:cs typeface="Times New Roman"/>
                <a:sym typeface="Times New Roman"/>
              </a:rPr>
              <a:t> Listing and Inspecting Containers</a:t>
            </a:r>
            <a:br>
              <a:rPr lang="en-US" sz="3600" b="0" i="0" u="none">
                <a:solidFill>
                  <a:schemeClr val="dk1"/>
                </a:solidFill>
                <a:latin typeface="Times New Roman"/>
                <a:ea typeface="Times New Roman"/>
                <a:cs typeface="Times New Roman"/>
                <a:sym typeface="Times New Roman"/>
              </a:rPr>
            </a:br>
            <a:endParaRPr/>
          </a:p>
        </p:txBody>
      </p:sp>
      <p:sp>
        <p:nvSpPr>
          <p:cNvPr id="314" name="Google Shape;314;p50"/>
          <p:cNvSpPr txBox="1">
            <a:spLocks noGrp="1"/>
          </p:cNvSpPr>
          <p:nvPr>
            <p:ph type="body" idx="1"/>
          </p:nvPr>
        </p:nvSpPr>
        <p:spPr>
          <a:xfrm>
            <a:off x="609600" y="1266825"/>
            <a:ext cx="8305800" cy="53308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List all running containers</a:t>
            </a:r>
            <a:r>
              <a:rPr lang="en-US" sz="24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ps</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List all containers (including stopped ones)</a:t>
            </a:r>
            <a:r>
              <a:rPr lang="en-US" sz="24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ps -a</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Show detailed info about a container</a:t>
            </a:r>
            <a:r>
              <a:rPr lang="en-US" sz="24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inspect &lt;container_id/name&gt;</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Display resource usage stats of a container</a:t>
            </a:r>
            <a:r>
              <a:rPr lang="en-US" sz="24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stats &lt;container_id/name&gt;</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View container logs</a:t>
            </a:r>
            <a:r>
              <a:rPr lang="en-US" sz="24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logs &lt;container_id/name&gt;</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Follow logs in real-time</a:t>
            </a:r>
            <a:r>
              <a:rPr lang="en-US" sz="24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logs -f &lt;container_id/name&gt;</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1"/>
          <p:cNvSpPr txBox="1">
            <a:spLocks noGrp="1"/>
          </p:cNvSpPr>
          <p:nvPr>
            <p:ph type="title"/>
          </p:nvPr>
        </p:nvSpPr>
        <p:spPr>
          <a:xfrm>
            <a:off x="0" y="0"/>
            <a:ext cx="7588250" cy="112553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3. Container Interaction</a:t>
            </a:r>
            <a:br>
              <a:rPr lang="en-US" sz="2800" b="0" i="0" u="none">
                <a:solidFill>
                  <a:schemeClr val="dk1"/>
                </a:solidFill>
                <a:latin typeface="Times New Roman"/>
                <a:ea typeface="Times New Roman"/>
                <a:cs typeface="Times New Roman"/>
                <a:sym typeface="Times New Roman"/>
              </a:rPr>
            </a:br>
            <a:endParaRPr/>
          </a:p>
        </p:txBody>
      </p:sp>
      <p:sp>
        <p:nvSpPr>
          <p:cNvPr id="320" name="Google Shape;320;p51"/>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Execute a command inside a running container</a:t>
            </a:r>
            <a:r>
              <a:rPr lang="en-US" sz="2400" b="0" i="0" u="none">
                <a:solidFill>
                  <a:schemeClr val="dk1"/>
                </a:solidFill>
                <a:latin typeface="Times New Roman"/>
                <a:ea typeface="Times New Roman"/>
                <a:cs typeface="Times New Roman"/>
                <a:sym typeface="Times New Roman"/>
              </a:rPr>
              <a:t> </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exec -it &lt;container_id/name&gt; &lt;command&gt;</a:t>
            </a:r>
            <a:endParaRPr sz="32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Attach to a running container's interactive shell</a:t>
            </a:r>
            <a:r>
              <a:rPr lang="en-US" sz="2400" b="0" i="0" u="none">
                <a:solidFill>
                  <a:schemeClr val="dk1"/>
                </a:solidFill>
                <a:latin typeface="Times New Roman"/>
                <a:ea typeface="Times New Roman"/>
                <a:cs typeface="Times New Roman"/>
                <a:sym typeface="Times New Roman"/>
              </a:rPr>
              <a:t> </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attach &lt;container_id/name&gt;</a:t>
            </a:r>
            <a:endParaRPr sz="32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1" i="0" u="none">
                <a:solidFill>
                  <a:schemeClr val="dk1"/>
                </a:solidFill>
                <a:latin typeface="Times New Roman"/>
                <a:ea typeface="Times New Roman"/>
                <a:cs typeface="Times New Roman"/>
                <a:sym typeface="Times New Roman"/>
              </a:rPr>
              <a:t>Copy files between container and host</a:t>
            </a:r>
            <a:r>
              <a:rPr lang="en-US" sz="2400" b="0" i="0" u="none">
                <a:solidFill>
                  <a:schemeClr val="dk1"/>
                </a:solidFill>
                <a:latin typeface="Times New Roman"/>
                <a:ea typeface="Times New Roman"/>
                <a:cs typeface="Times New Roman"/>
                <a:sym typeface="Times New Roman"/>
              </a:rPr>
              <a:t> </a:t>
            </a:r>
            <a:endParaRPr sz="2000" b="0" i="0" u="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400"/>
              </a:spcBef>
              <a:spcAft>
                <a:spcPts val="0"/>
              </a:spcAft>
              <a:buClr>
                <a:schemeClr val="dk1"/>
              </a:buClr>
              <a:buSzPts val="2000"/>
              <a:buFont typeface="Times New Roman"/>
              <a:buChar char="•"/>
            </a:pPr>
            <a:r>
              <a:rPr lang="en-US" sz="2000" b="0" i="0" u="none" strike="noStrike" cap="none">
                <a:solidFill>
                  <a:schemeClr val="dk1"/>
                </a:solidFill>
                <a:latin typeface="Times New Roman"/>
                <a:ea typeface="Times New Roman"/>
                <a:cs typeface="Times New Roman"/>
                <a:sym typeface="Times New Roman"/>
              </a:rPr>
              <a:t>From container to host: </a:t>
            </a:r>
            <a:endParaRPr sz="1800" b="0" i="0" u="none" strike="noStrike" cap="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400"/>
              </a:spcBef>
              <a:spcAft>
                <a:spcPts val="0"/>
              </a:spcAft>
              <a:buClr>
                <a:schemeClr val="dk1"/>
              </a:buClr>
              <a:buSzPts val="2000"/>
              <a:buFont typeface="Times New Roman"/>
              <a:buChar char="•"/>
            </a:pPr>
            <a:r>
              <a:rPr lang="en-US" sz="2000" b="0" i="0" u="none" strike="noStrike" cap="none">
                <a:solidFill>
                  <a:schemeClr val="dk1"/>
                </a:solidFill>
                <a:latin typeface="Times New Roman"/>
                <a:ea typeface="Times New Roman"/>
                <a:cs typeface="Times New Roman"/>
                <a:sym typeface="Times New Roman"/>
              </a:rPr>
              <a:t>docker cp &lt;container_id&gt;:&lt;container_path&gt; &lt;host_path&gt;</a:t>
            </a:r>
            <a:endParaRPr sz="2800" b="0" i="0" u="none" strike="noStrike" cap="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400"/>
              </a:spcBef>
              <a:spcAft>
                <a:spcPts val="0"/>
              </a:spcAft>
              <a:buClr>
                <a:schemeClr val="dk1"/>
              </a:buClr>
              <a:buSzPts val="2000"/>
              <a:buFont typeface="Times New Roman"/>
              <a:buChar char="•"/>
            </a:pPr>
            <a:r>
              <a:rPr lang="en-US" sz="2000" b="0" i="0" u="none" strike="noStrike" cap="none">
                <a:solidFill>
                  <a:schemeClr val="dk1"/>
                </a:solidFill>
                <a:latin typeface="Times New Roman"/>
                <a:ea typeface="Times New Roman"/>
                <a:cs typeface="Times New Roman"/>
                <a:sym typeface="Times New Roman"/>
              </a:rPr>
              <a:t>From host to container: </a:t>
            </a:r>
            <a:endParaRPr sz="1800" b="0" i="0" u="none" strike="noStrike" cap="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400"/>
              </a:spcBef>
              <a:spcAft>
                <a:spcPts val="0"/>
              </a:spcAft>
              <a:buClr>
                <a:schemeClr val="dk1"/>
              </a:buClr>
              <a:buSzPts val="2000"/>
              <a:buFont typeface="Times New Roman"/>
              <a:buChar char="•"/>
            </a:pPr>
            <a:r>
              <a:rPr lang="en-US" sz="2000" b="0" i="0" u="none" strike="noStrike" cap="none">
                <a:solidFill>
                  <a:schemeClr val="dk1"/>
                </a:solidFill>
                <a:latin typeface="Times New Roman"/>
                <a:ea typeface="Times New Roman"/>
                <a:cs typeface="Times New Roman"/>
                <a:sym typeface="Times New Roman"/>
              </a:rPr>
              <a:t>docker cp &lt;host_path&gt; &lt;container_id&gt;:&lt;container_path&gt;</a:t>
            </a:r>
            <a:endParaRPr sz="28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E.g:</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2"/>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Practice questions:</a:t>
            </a:r>
            <a:endParaRPr/>
          </a:p>
        </p:txBody>
      </p:sp>
      <p:sp>
        <p:nvSpPr>
          <p:cNvPr id="326" name="Google Shape;326;p52"/>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1. You need to start a new container using the nginx image while setting an environment variable ENV_MODE=production. Write the docker run command to achieve this.</a:t>
            </a:r>
            <a:endParaRPr/>
          </a:p>
          <a:p>
            <a:pPr marL="342900" marR="0" lvl="0" indent="-22860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2. You have a running container named my_app, but it's not behaving as expected. You want to check its logs to debug any errors. Write the command to view its logs and follow new log entries in real-time.</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3. A container named web_server was stopped. Write the command to:a) Start the container again.b) Stop the container when needed.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3"/>
          <p:cNvSpPr txBox="1">
            <a:spLocks noGrp="1"/>
          </p:cNvSpPr>
          <p:nvPr>
            <p:ph type="title"/>
          </p:nvPr>
        </p:nvSpPr>
        <p:spPr>
          <a:xfrm>
            <a:off x="179387" y="260350"/>
            <a:ext cx="7408862" cy="4254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Docker Volumes</a:t>
            </a:r>
            <a:endParaRPr/>
          </a:p>
        </p:txBody>
      </p:sp>
      <p:sp>
        <p:nvSpPr>
          <p:cNvPr id="332" name="Google Shape;332;p53"/>
          <p:cNvSpPr txBox="1">
            <a:spLocks noGrp="1"/>
          </p:cNvSpPr>
          <p:nvPr>
            <p:ph type="body" idx="1"/>
          </p:nvPr>
        </p:nvSpPr>
        <p:spPr>
          <a:xfrm>
            <a:off x="250825" y="836612"/>
            <a:ext cx="8664575" cy="53355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A </a:t>
            </a:r>
            <a:r>
              <a:rPr lang="en-US" sz="2400" b="1" i="0" u="none">
                <a:solidFill>
                  <a:schemeClr val="dk1"/>
                </a:solidFill>
                <a:latin typeface="Times New Roman"/>
                <a:ea typeface="Times New Roman"/>
                <a:cs typeface="Times New Roman"/>
                <a:sym typeface="Times New Roman"/>
              </a:rPr>
              <a:t>Docker volume</a:t>
            </a:r>
            <a:r>
              <a:rPr lang="en-US" sz="2400" b="0" i="0" u="none">
                <a:solidFill>
                  <a:schemeClr val="dk1"/>
                </a:solidFill>
                <a:latin typeface="Times New Roman"/>
                <a:ea typeface="Times New Roman"/>
                <a:cs typeface="Times New Roman"/>
                <a:sym typeface="Times New Roman"/>
              </a:rPr>
              <a:t> is a </a:t>
            </a:r>
            <a:r>
              <a:rPr lang="en-US" sz="2400" b="1" i="0" u="none">
                <a:solidFill>
                  <a:schemeClr val="dk1"/>
                </a:solidFill>
                <a:latin typeface="Times New Roman"/>
                <a:ea typeface="Times New Roman"/>
                <a:cs typeface="Times New Roman"/>
                <a:sym typeface="Times New Roman"/>
              </a:rPr>
              <a:t>persistent storage mechanism</a:t>
            </a:r>
            <a:r>
              <a:rPr lang="en-US" sz="2400" b="0" i="0" u="none">
                <a:solidFill>
                  <a:schemeClr val="dk1"/>
                </a:solidFill>
                <a:latin typeface="Times New Roman"/>
                <a:ea typeface="Times New Roman"/>
                <a:cs typeface="Times New Roman"/>
                <a:sym typeface="Times New Roman"/>
              </a:rPr>
              <a:t> used by containers to </a:t>
            </a:r>
            <a:r>
              <a:rPr lang="en-US" sz="2400" b="1" i="0" u="none">
                <a:solidFill>
                  <a:schemeClr val="dk1"/>
                </a:solidFill>
                <a:latin typeface="Times New Roman"/>
                <a:ea typeface="Times New Roman"/>
                <a:cs typeface="Times New Roman"/>
                <a:sym typeface="Times New Roman"/>
              </a:rPr>
              <a:t>store data outside the container’s writable layer</a:t>
            </a:r>
            <a:r>
              <a:rPr lang="en-US" sz="2400" b="0" i="0" u="none">
                <a:solidFill>
                  <a:schemeClr val="dk1"/>
                </a:solidFill>
                <a:latin typeface="Times New Roman"/>
                <a:ea typeface="Times New Roman"/>
                <a:cs typeface="Times New Roman"/>
                <a:sym typeface="Times New Roman"/>
              </a:rPr>
              <a: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Key idea:</a:t>
            </a:r>
            <a:br>
              <a:rPr lang="en-US" sz="2400" b="0" i="0" u="none">
                <a:solidFill>
                  <a:schemeClr val="dk1"/>
                </a:solidFill>
                <a:latin typeface="Times New Roman"/>
                <a:ea typeface="Times New Roman"/>
                <a:cs typeface="Times New Roman"/>
                <a:sym typeface="Times New Roman"/>
              </a:rPr>
            </a:b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Containers are temporary, volumes are permanent.</a:t>
            </a: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If a container:</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stops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crashes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is deleted </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 </a:t>
            </a:r>
            <a:r>
              <a:rPr lang="en-US" sz="2400" b="1" i="0" u="none">
                <a:solidFill>
                  <a:schemeClr val="dk1"/>
                </a:solidFill>
                <a:latin typeface="Times New Roman"/>
                <a:ea typeface="Times New Roman"/>
                <a:cs typeface="Times New Roman"/>
                <a:sym typeface="Times New Roman"/>
              </a:rPr>
              <a:t>Volume data stays safe</a:t>
            </a:r>
            <a:r>
              <a:rPr lang="en-US" sz="2400" b="0" i="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4"/>
          <p:cNvSpPr txBox="1">
            <a:spLocks noGrp="1"/>
          </p:cNvSpPr>
          <p:nvPr>
            <p:ph type="title"/>
          </p:nvPr>
        </p:nvSpPr>
        <p:spPr>
          <a:xfrm>
            <a:off x="0" y="0"/>
            <a:ext cx="7588250" cy="105251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Why do we need Docker Volumes?</a:t>
            </a:r>
            <a:br>
              <a:rPr lang="en-US" sz="3600" b="1" i="0" u="none">
                <a:solidFill>
                  <a:schemeClr val="dk1"/>
                </a:solidFill>
                <a:latin typeface="Times New Roman"/>
                <a:ea typeface="Times New Roman"/>
                <a:cs typeface="Times New Roman"/>
                <a:sym typeface="Times New Roman"/>
              </a:rPr>
            </a:br>
            <a:endParaRPr/>
          </a:p>
        </p:txBody>
      </p:sp>
      <p:sp>
        <p:nvSpPr>
          <p:cNvPr id="338" name="Google Shape;338;p54"/>
          <p:cNvSpPr txBox="1">
            <a:spLocks noGrp="1"/>
          </p:cNvSpPr>
          <p:nvPr>
            <p:ph type="body" idx="1"/>
          </p:nvPr>
        </p:nvSpPr>
        <p:spPr>
          <a:xfrm>
            <a:off x="179387" y="836612"/>
            <a:ext cx="8736012" cy="53355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Without volumes:</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Container data is stored </a:t>
            </a:r>
            <a:r>
              <a:rPr lang="en-US" sz="2400" b="1" i="0" u="none">
                <a:solidFill>
                  <a:schemeClr val="dk1"/>
                </a:solidFill>
                <a:latin typeface="Times New Roman"/>
                <a:ea typeface="Times New Roman"/>
                <a:cs typeface="Times New Roman"/>
                <a:sym typeface="Times New Roman"/>
              </a:rPr>
              <a:t>inside the container</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Deleting the container = </a:t>
            </a:r>
            <a:r>
              <a:rPr lang="en-US" sz="2400" b="1" i="0" u="none">
                <a:solidFill>
                  <a:schemeClr val="dk1"/>
                </a:solidFill>
                <a:latin typeface="Times New Roman"/>
                <a:ea typeface="Times New Roman"/>
                <a:cs typeface="Times New Roman"/>
                <a:sym typeface="Times New Roman"/>
              </a:rPr>
              <a:t>data lost</a:t>
            </a: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With volumes:</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Data is stored on the </a:t>
            </a:r>
            <a:r>
              <a:rPr lang="en-US" sz="2400" b="1" i="0" u="none">
                <a:solidFill>
                  <a:schemeClr val="dk1"/>
                </a:solidFill>
                <a:latin typeface="Times New Roman"/>
                <a:ea typeface="Times New Roman"/>
                <a:cs typeface="Times New Roman"/>
                <a:sym typeface="Times New Roman"/>
              </a:rPr>
              <a:t>host machine</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Containers can be </a:t>
            </a:r>
            <a:r>
              <a:rPr lang="en-US" sz="2400" b="1" i="0" u="none">
                <a:solidFill>
                  <a:schemeClr val="dk1"/>
                </a:solidFill>
                <a:latin typeface="Times New Roman"/>
                <a:ea typeface="Times New Roman"/>
                <a:cs typeface="Times New Roman"/>
                <a:sym typeface="Times New Roman"/>
              </a:rPr>
              <a:t>recreated without losing data</a:t>
            </a: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chemeClr val="dk1"/>
              </a:buClr>
              <a:buSzPts val="1800"/>
              <a:buFont typeface="Arial"/>
              <a:buNone/>
            </a:pPr>
            <a:endParaRPr sz="2400" b="1"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Real-life analogy </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Container = Laptop</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Volume = External Hard Disk</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You can replace the laptop, but the hard disk data remains.</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5"/>
          <p:cNvSpPr txBox="1">
            <a:spLocks noGrp="1"/>
          </p:cNvSpPr>
          <p:nvPr>
            <p:ph type="title"/>
          </p:nvPr>
        </p:nvSpPr>
        <p:spPr>
          <a:xfrm>
            <a:off x="0" y="0"/>
            <a:ext cx="7588250" cy="1052512"/>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Types of Storage in Docker</a:t>
            </a:r>
            <a:br>
              <a:rPr lang="en-US" sz="3600" b="1" i="0" u="none">
                <a:solidFill>
                  <a:schemeClr val="dk1"/>
                </a:solidFill>
                <a:latin typeface="Times New Roman"/>
                <a:ea typeface="Times New Roman"/>
                <a:cs typeface="Times New Roman"/>
                <a:sym typeface="Times New Roman"/>
              </a:rPr>
            </a:br>
            <a:endParaRPr/>
          </a:p>
        </p:txBody>
      </p:sp>
      <p:sp>
        <p:nvSpPr>
          <p:cNvPr id="344" name="Google Shape;344;p55"/>
          <p:cNvSpPr txBox="1">
            <a:spLocks noGrp="1"/>
          </p:cNvSpPr>
          <p:nvPr>
            <p:ph type="body" idx="1"/>
          </p:nvPr>
        </p:nvSpPr>
        <p:spPr>
          <a:xfrm>
            <a:off x="179387" y="981075"/>
            <a:ext cx="8736012" cy="51911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provides </a:t>
            </a:r>
            <a:r>
              <a:rPr lang="en-US" sz="2400" b="1" i="0" u="none">
                <a:solidFill>
                  <a:schemeClr val="dk1"/>
                </a:solidFill>
                <a:latin typeface="Times New Roman"/>
                <a:ea typeface="Times New Roman"/>
                <a:cs typeface="Times New Roman"/>
                <a:sym typeface="Times New Roman"/>
              </a:rPr>
              <a:t>3 types of data storage</a:t>
            </a:r>
            <a:r>
              <a:rPr lang="en-US" sz="2400" b="0" i="0" u="none">
                <a:solidFill>
                  <a:schemeClr val="dk1"/>
                </a:solidFill>
                <a:latin typeface="Times New Roman"/>
                <a:ea typeface="Times New Roman"/>
                <a:cs typeface="Times New Roman"/>
                <a:sym typeface="Times New Roman"/>
              </a:rPr>
              <a:t>:</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
        <p:nvSpPr>
          <p:cNvPr id="345" name="Google Shape;345;p55"/>
          <p:cNvSpPr txBox="1"/>
          <p:nvPr/>
        </p:nvSpPr>
        <p:spPr>
          <a:xfrm>
            <a:off x="2143125" y="3079750"/>
            <a:ext cx="4667250" cy="646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800"/>
              <a:buFont typeface="Arial"/>
              <a:buNone/>
            </a:pPr>
            <a:r>
              <a:rPr lang="en-US" sz="1800" b="1" i="0" u="none">
                <a:solidFill>
                  <a:schemeClr val="lt1"/>
                </a:solidFill>
                <a:latin typeface="Arial"/>
                <a:ea typeface="Arial"/>
                <a:cs typeface="Arial"/>
                <a:sym typeface="Arial"/>
              </a:rPr>
              <a:t>Types of Storage in Docker</a:t>
            </a:r>
            <a:endParaRPr/>
          </a:p>
          <a:p>
            <a:pPr marL="0" marR="0" lvl="0" indent="0" algn="l" rtl="0">
              <a:lnSpc>
                <a:spcPct val="100000"/>
              </a:lnSpc>
              <a:spcBef>
                <a:spcPts val="0"/>
              </a:spcBef>
              <a:spcAft>
                <a:spcPts val="0"/>
              </a:spcAft>
              <a:buClr>
                <a:schemeClr val="lt1"/>
              </a:buClr>
              <a:buSzPts val="1800"/>
              <a:buFont typeface="Arial"/>
              <a:buNone/>
            </a:pPr>
            <a:r>
              <a:rPr lang="en-US" sz="1800" b="0" i="0" u="none">
                <a:solidFill>
                  <a:schemeClr val="lt1"/>
                </a:solidFill>
                <a:latin typeface="Arial"/>
                <a:ea typeface="Arial"/>
                <a:cs typeface="Arial"/>
                <a:sym typeface="Arial"/>
              </a:rPr>
              <a:t>Docker provides </a:t>
            </a:r>
            <a:r>
              <a:rPr lang="en-US" sz="1800" b="1" i="0" u="none">
                <a:solidFill>
                  <a:schemeClr val="lt1"/>
                </a:solidFill>
                <a:latin typeface="Arial"/>
                <a:ea typeface="Arial"/>
                <a:cs typeface="Arial"/>
                <a:sym typeface="Arial"/>
              </a:rPr>
              <a:t>3 types of data storage</a:t>
            </a:r>
            <a:r>
              <a:rPr lang="en-US" sz="1800" b="0" i="0" u="none">
                <a:solidFill>
                  <a:schemeClr val="lt1"/>
                </a:solidFill>
                <a:latin typeface="Arial"/>
                <a:ea typeface="Arial"/>
                <a:cs typeface="Arial"/>
                <a:sym typeface="Arial"/>
              </a:rPr>
              <a:t>:</a:t>
            </a:r>
            <a:endParaRPr/>
          </a:p>
        </p:txBody>
      </p:sp>
      <p:pic>
        <p:nvPicPr>
          <p:cNvPr id="346" name="Google Shape;346;p55"/>
          <p:cNvPicPr preferRelativeResize="0"/>
          <p:nvPr/>
        </p:nvPicPr>
        <p:blipFill rotWithShape="1">
          <a:blip r:embed="rId3">
            <a:alphaModFix/>
          </a:blip>
          <a:srcRect/>
          <a:stretch/>
        </p:blipFill>
        <p:spPr>
          <a:xfrm>
            <a:off x="71437" y="2443162"/>
            <a:ext cx="9001125" cy="19716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6"/>
          <p:cNvSpPr txBox="1">
            <a:spLocks noGrp="1"/>
          </p:cNvSpPr>
          <p:nvPr>
            <p:ph type="title"/>
          </p:nvPr>
        </p:nvSpPr>
        <p:spPr>
          <a:xfrm>
            <a:off x="0" y="0"/>
            <a:ext cx="7588250" cy="9810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Characteristics</a:t>
            </a:r>
            <a:br>
              <a:rPr lang="en-US" sz="3600" b="1" i="0" u="none">
                <a:solidFill>
                  <a:schemeClr val="dk1"/>
                </a:solidFill>
                <a:latin typeface="Times New Roman"/>
                <a:ea typeface="Times New Roman"/>
                <a:cs typeface="Times New Roman"/>
                <a:sym typeface="Times New Roman"/>
              </a:rPr>
            </a:br>
            <a:endParaRPr/>
          </a:p>
        </p:txBody>
      </p:sp>
      <p:sp>
        <p:nvSpPr>
          <p:cNvPr id="352" name="Google Shape;352;p56"/>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Stored in:</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/var/lib/docker/volumes/</a:t>
            </a:r>
            <a:endParaRPr/>
          </a:p>
          <a:p>
            <a:pPr marL="0" marR="0" lvl="0" indent="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Independent of container lifecycle</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Can be shared by </a:t>
            </a:r>
            <a:r>
              <a:rPr lang="en-US" sz="2400" b="1" i="0" u="none">
                <a:solidFill>
                  <a:schemeClr val="dk1"/>
                </a:solidFill>
                <a:latin typeface="Times New Roman"/>
                <a:ea typeface="Times New Roman"/>
                <a:cs typeface="Times New Roman"/>
                <a:sym typeface="Times New Roman"/>
              </a:rPr>
              <a:t>multiple containers</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Managed fully by Docker</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7" name="Google Shape;357;p57"/>
          <p:cNvPicPr preferRelativeResize="0">
            <a:picLocks noGrp="1"/>
          </p:cNvPicPr>
          <p:nvPr>
            <p:ph type="body" idx="1"/>
          </p:nvPr>
        </p:nvPicPr>
        <p:blipFill rotWithShape="1">
          <a:blip r:embed="rId3">
            <a:alphaModFix/>
          </a:blip>
          <a:srcRect/>
          <a:stretch/>
        </p:blipFill>
        <p:spPr>
          <a:xfrm>
            <a:off x="176212" y="1052512"/>
            <a:ext cx="7851775" cy="54006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8"/>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Work on Volumes</a:t>
            </a:r>
            <a:endParaRPr/>
          </a:p>
        </p:txBody>
      </p:sp>
      <p:sp>
        <p:nvSpPr>
          <p:cNvPr id="363" name="Google Shape;363;p58"/>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Basic commands used to create,inpect,verify , delete/remove the volumes</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Arial"/>
              <a:buAutoNum type="arabicPeriod"/>
            </a:pPr>
            <a:r>
              <a:rPr lang="en-US" sz="2400" b="0" i="0" u="none">
                <a:solidFill>
                  <a:schemeClr val="dk1"/>
                </a:solidFill>
                <a:latin typeface="Times New Roman"/>
                <a:ea typeface="Times New Roman"/>
                <a:cs typeface="Times New Roman"/>
                <a:sym typeface="Times New Roman"/>
              </a:rPr>
              <a:t>docker volume create &lt;volume name&gt;</a:t>
            </a:r>
            <a:endParaRPr/>
          </a:p>
          <a:p>
            <a:pPr marL="0" marR="0" lvl="0" indent="-114300" algn="l" rtl="0">
              <a:lnSpc>
                <a:spcPct val="100000"/>
              </a:lnSpc>
              <a:spcBef>
                <a:spcPts val="480"/>
              </a:spcBef>
              <a:spcAft>
                <a:spcPts val="0"/>
              </a:spcAft>
              <a:buClr>
                <a:schemeClr val="dk1"/>
              </a:buClr>
              <a:buSzPts val="1800"/>
              <a:buFont typeface="Arial"/>
              <a:buAutoNum type="arabicPeriod"/>
            </a:pPr>
            <a:r>
              <a:rPr lang="en-US" sz="2400" b="0" i="0" u="none">
                <a:solidFill>
                  <a:schemeClr val="dk1"/>
                </a:solidFill>
                <a:latin typeface="Times New Roman"/>
                <a:ea typeface="Times New Roman"/>
                <a:cs typeface="Times New Roman"/>
                <a:sym typeface="Times New Roman"/>
              </a:rPr>
              <a:t>docker volume ls</a:t>
            </a:r>
            <a:endParaRPr/>
          </a:p>
          <a:p>
            <a:pPr marL="0" marR="0" lvl="0" indent="-114300" algn="l" rtl="0">
              <a:lnSpc>
                <a:spcPct val="100000"/>
              </a:lnSpc>
              <a:spcBef>
                <a:spcPts val="480"/>
              </a:spcBef>
              <a:spcAft>
                <a:spcPts val="0"/>
              </a:spcAft>
              <a:buClr>
                <a:schemeClr val="dk1"/>
              </a:buClr>
              <a:buSzPts val="1800"/>
              <a:buFont typeface="Arial"/>
              <a:buAutoNum type="arabicPeriod"/>
            </a:pPr>
            <a:r>
              <a:rPr lang="en-US" sz="2400" b="0" i="0" u="none">
                <a:solidFill>
                  <a:schemeClr val="dk1"/>
                </a:solidFill>
                <a:latin typeface="Times New Roman"/>
                <a:ea typeface="Times New Roman"/>
                <a:cs typeface="Times New Roman"/>
                <a:sym typeface="Times New Roman"/>
              </a:rPr>
              <a:t>docker volume inspect mydata</a:t>
            </a:r>
            <a:endParaRPr/>
          </a:p>
          <a:p>
            <a:pPr marL="0" marR="0" lvl="0" indent="-114300" algn="l" rtl="0">
              <a:lnSpc>
                <a:spcPct val="100000"/>
              </a:lnSpc>
              <a:spcBef>
                <a:spcPts val="480"/>
              </a:spcBef>
              <a:spcAft>
                <a:spcPts val="0"/>
              </a:spcAft>
              <a:buClr>
                <a:schemeClr val="dk1"/>
              </a:buClr>
              <a:buSzPts val="1800"/>
              <a:buFont typeface="Arial"/>
              <a:buAutoNum type="arabicPeriod"/>
            </a:pPr>
            <a:r>
              <a:rPr lang="en-US" sz="2400" b="0" i="0" u="none">
                <a:solidFill>
                  <a:schemeClr val="dk1"/>
                </a:solidFill>
                <a:latin typeface="Times New Roman"/>
                <a:ea typeface="Times New Roman"/>
                <a:cs typeface="Times New Roman"/>
                <a:sym typeface="Times New Roman"/>
              </a:rPr>
              <a:t>docker run -d -v &lt;volumename&gt;:&lt;path where to store in image&gt;  --name &lt;containername&gt; &lt;imagename&gt;</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chemeClr val="dk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9"/>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369" name="Google Shape;369;p59"/>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6. To Store Data in a Volume</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-it -v &lt;source&gt;:&lt;path of destination&gt;  &lt;image name&gt; sh</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Then inside the container </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echo “msg or data" &gt; /app/data/filename</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exit</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0"/>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375" name="Google Shape;375;p60"/>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To Verify Data Persistence: </a:t>
            </a:r>
            <a:r>
              <a:rPr lang="en-US" sz="2400" b="0" i="0" u="none">
                <a:solidFill>
                  <a:schemeClr val="dk1"/>
                </a:solidFill>
                <a:latin typeface="Times New Roman"/>
                <a:ea typeface="Times New Roman"/>
                <a:cs typeface="Times New Roman"/>
                <a:sym typeface="Times New Roman"/>
              </a:rPr>
              <a:t>Run another container using the same volume</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-it -v &lt;source&gt;:&lt;path of destination&gt;  &lt;image name&gt; sh</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cat &lt;path of file&gt;</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1"/>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b="0">
              <a:solidFill>
                <a:schemeClr val="dk1"/>
              </a:solidFill>
            </a:endParaRPr>
          </a:p>
        </p:txBody>
      </p:sp>
      <p:sp>
        <p:nvSpPr>
          <p:cNvPr id="381" name="Google Shape;381;p61"/>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To Remove a Volume</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Docker volume rm &lt;volume name&gt;</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To Delete All Unused Volumes</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docker volume prune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2"/>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Example#1</a:t>
            </a:r>
            <a:endParaRPr/>
          </a:p>
        </p:txBody>
      </p:sp>
      <p:sp>
        <p:nvSpPr>
          <p:cNvPr id="387" name="Google Shape;387;p62"/>
          <p:cNvSpPr txBox="1">
            <a:spLocks noGrp="1"/>
          </p:cNvSpPr>
          <p:nvPr>
            <p:ph type="body" idx="1"/>
          </p:nvPr>
        </p:nvSpPr>
        <p:spPr>
          <a:xfrm>
            <a:off x="107950" y="811212"/>
            <a:ext cx="8305800" cy="6049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1. mkdir C:\docker-volume-demo</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2. echo Hello from HOST machine &gt; C:\docker-volume-demo\hostfile.txt</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3. docker run -it --name cv1 -v c:\docker-volume-demo:/data ubuntu bash</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4. Inside container </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ls</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cd data</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cat hostfile.txt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5. Modify file INSIDE container </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echo "Modified inside container" &gt;&gt; /data/hostfile.txt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exit</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3"/>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Practice Question</a:t>
            </a:r>
            <a:endParaRPr/>
          </a:p>
        </p:txBody>
      </p:sp>
      <p:sp>
        <p:nvSpPr>
          <p:cNvPr id="393" name="Google Shape;393;p63"/>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Create a Docker volume named studentdata.</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Run an Ubuntu container and mount studentdata at /student.</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Create a file inside the container and verify it persists after container deletion.</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Attach the same volume to another container and verify the file exists.</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Demonstrate data sharing between two containers using a shared volume.</a:t>
            </a:r>
            <a:endParaRPr/>
          </a:p>
          <a:p>
            <a:pPr marL="342900" marR="0" lvl="0" indent="-3429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Show that deleting a container does NOT delete the volume data.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4"/>
          <p:cNvSpPr txBox="1">
            <a:spLocks noGrp="1"/>
          </p:cNvSpPr>
          <p:nvPr>
            <p:ph type="body" idx="1"/>
          </p:nvPr>
        </p:nvSpPr>
        <p:spPr>
          <a:xfrm>
            <a:off x="609600" y="1266825"/>
            <a:ext cx="8305800" cy="4905375"/>
          </a:xfrm>
          <a:prstGeom prst="rect">
            <a:avLst/>
          </a:prstGeom>
          <a:noFill/>
          <a:ln>
            <a:noFill/>
          </a:ln>
        </p:spPr>
        <p:txBody>
          <a:bodyPr spcFirstLastPara="1" wrap="square" lIns="91425" tIns="45700" rIns="91425" bIns="45700" anchor="ctr" anchorCtr="0">
            <a:spAutoFit/>
          </a:bodyPr>
          <a:lstStyle/>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Create a Docker volume named </a:t>
            </a:r>
            <a:r>
              <a:rPr lang="en-US" sz="1000" b="0" i="0" u="none">
                <a:solidFill>
                  <a:schemeClr val="lt1"/>
                </a:solidFill>
                <a:latin typeface="Arimo"/>
                <a:ea typeface="Arimo"/>
                <a:cs typeface="Arimo"/>
                <a:sym typeface="Arimo"/>
              </a:rPr>
              <a:t>studentdata</a:t>
            </a:r>
            <a:r>
              <a:rPr lang="en-US" sz="600" b="0" i="0" u="none">
                <a:solidFill>
                  <a:schemeClr val="lt1"/>
                </a:solidFill>
                <a:latin typeface="Arial"/>
                <a:ea typeface="Arial"/>
                <a:cs typeface="Arial"/>
                <a:sym typeface="Arial"/>
              </a:rPr>
              <a:t>.</a:t>
            </a:r>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Run an Ubuntu container and mount </a:t>
            </a:r>
            <a:r>
              <a:rPr lang="en-US" sz="1000" b="0" i="0" u="none">
                <a:solidFill>
                  <a:schemeClr val="lt1"/>
                </a:solidFill>
                <a:latin typeface="Arimo"/>
                <a:ea typeface="Arimo"/>
                <a:cs typeface="Arimo"/>
                <a:sym typeface="Arimo"/>
              </a:rPr>
              <a:t>studentdata</a:t>
            </a:r>
            <a:r>
              <a:rPr lang="en-US" sz="600" b="0" i="0" u="none">
                <a:solidFill>
                  <a:schemeClr val="lt1"/>
                </a:solidFill>
                <a:latin typeface="Arial"/>
                <a:ea typeface="Arial"/>
                <a:cs typeface="Arial"/>
                <a:sym typeface="Arial"/>
              </a:rPr>
              <a:t> at </a:t>
            </a:r>
            <a:r>
              <a:rPr lang="en-US" sz="1000" b="0" i="0" u="none">
                <a:solidFill>
                  <a:schemeClr val="lt1"/>
                </a:solidFill>
                <a:latin typeface="Arimo"/>
                <a:ea typeface="Arimo"/>
                <a:cs typeface="Arimo"/>
                <a:sym typeface="Arimo"/>
              </a:rPr>
              <a:t>/student</a:t>
            </a:r>
            <a:r>
              <a:rPr lang="en-US" sz="600" b="0" i="0" u="none">
                <a:solidFill>
                  <a:schemeClr val="lt1"/>
                </a:solidFill>
                <a:latin typeface="Arial"/>
                <a:ea typeface="Arial"/>
                <a:cs typeface="Arial"/>
                <a:sym typeface="Arial"/>
              </a:rPr>
              <a:t>.</a:t>
            </a:r>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Create a file inside the container and verify it persists after container deletion.</a:t>
            </a:r>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Attach the same volume to another container and verify the file exists.</a:t>
            </a:r>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Demonstrate data sharing between two containers using a shared volume.</a:t>
            </a:r>
            <a:endParaRPr/>
          </a:p>
          <a:p>
            <a:pPr marL="0" marR="0" lvl="0" indent="-85725" algn="l" rtl="0">
              <a:lnSpc>
                <a:spcPct val="100000"/>
              </a:lnSpc>
              <a:spcBef>
                <a:spcPts val="0"/>
              </a:spcBef>
              <a:spcAft>
                <a:spcPts val="0"/>
              </a:spcAft>
              <a:buClr>
                <a:srgbClr val="A50021"/>
              </a:buClr>
              <a:buSzPts val="1350"/>
              <a:buFont typeface="Arial"/>
              <a:buChar char="●"/>
            </a:pPr>
            <a:r>
              <a:rPr lang="en-US" sz="1800" b="0" i="0" u="none">
                <a:solidFill>
                  <a:schemeClr val="lt1"/>
                </a:solidFill>
                <a:latin typeface="Arial"/>
                <a:ea typeface="Arial"/>
                <a:cs typeface="Arial"/>
                <a:sym typeface="Arial"/>
              </a:rPr>
              <a:t>Show that deleting a container does NOT delete the volume data.</a:t>
            </a:r>
            <a:endParaRPr/>
          </a:p>
        </p:txBody>
      </p:sp>
      <p:sp>
        <p:nvSpPr>
          <p:cNvPr id="399" name="Google Shape;399;p64"/>
          <p:cNvSpPr txBox="1">
            <a:spLocks noGrp="1"/>
          </p:cNvSpPr>
          <p:nvPr>
            <p:ph type="title"/>
          </p:nvPr>
        </p:nvSpPr>
        <p:spPr>
          <a:xfrm>
            <a:off x="107950" y="-3078162"/>
            <a:ext cx="6985000" cy="11109325"/>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Clr>
                <a:schemeClr val="lt1"/>
              </a:buClr>
              <a:buSzPts val="1800"/>
              <a:buFont typeface="Arial"/>
              <a:buNone/>
            </a:pPr>
            <a:r>
              <a:rPr lang="en-US" sz="1800" b="0" i="0" u="none">
                <a:solidFill>
                  <a:schemeClr val="lt1"/>
                </a:solidFill>
                <a:latin typeface="Arial"/>
                <a:ea typeface="Arial"/>
                <a:cs typeface="Arial"/>
                <a:sym typeface="Arial"/>
              </a:rPr>
              <a:t>Create a Docker volume named </a:t>
            </a:r>
            <a:r>
              <a:rPr lang="en-US" sz="1000" b="0" i="0" u="none">
                <a:solidFill>
                  <a:schemeClr val="lt1"/>
                </a:solidFill>
                <a:latin typeface="Arimo"/>
                <a:ea typeface="Arimo"/>
                <a:cs typeface="Arimo"/>
                <a:sym typeface="Arimo"/>
              </a:rPr>
              <a:t>studentdata</a:t>
            </a:r>
            <a:r>
              <a:rPr lang="en-US" sz="600" b="0" i="0" u="none">
                <a:solidFill>
                  <a:schemeClr val="lt1"/>
                </a:solidFill>
                <a:latin typeface="Arial"/>
                <a:ea typeface="Arial"/>
                <a:cs typeface="Arial"/>
                <a:sym typeface="Arial"/>
              </a:rPr>
              <a:t>.</a:t>
            </a:r>
            <a:br>
              <a:rPr lang="en-US" sz="1800" b="0" i="0" u="none">
                <a:solidFill>
                  <a:schemeClr val="lt1"/>
                </a:solidFill>
                <a:latin typeface="Arial"/>
                <a:ea typeface="Arial"/>
                <a:cs typeface="Arial"/>
                <a:sym typeface="Arial"/>
              </a:rPr>
            </a:br>
            <a:r>
              <a:rPr lang="en-US" sz="1800" b="0" i="0" u="none">
                <a:solidFill>
                  <a:schemeClr val="lt1"/>
                </a:solidFill>
                <a:latin typeface="Arial"/>
                <a:ea typeface="Arial"/>
                <a:cs typeface="Arial"/>
                <a:sym typeface="Arial"/>
              </a:rPr>
              <a:t>Run an Ubuntu container and mount </a:t>
            </a:r>
            <a:r>
              <a:rPr lang="en-US" sz="1000" b="0" i="0" u="none">
                <a:solidFill>
                  <a:schemeClr val="lt1"/>
                </a:solidFill>
                <a:latin typeface="Arimo"/>
                <a:ea typeface="Arimo"/>
                <a:cs typeface="Arimo"/>
                <a:sym typeface="Arimo"/>
              </a:rPr>
              <a:t>studentdata</a:t>
            </a:r>
            <a:r>
              <a:rPr lang="en-US" sz="600" b="0" i="0" u="none">
                <a:solidFill>
                  <a:schemeClr val="lt1"/>
                </a:solidFill>
                <a:latin typeface="Arial"/>
                <a:ea typeface="Arial"/>
                <a:cs typeface="Arial"/>
                <a:sym typeface="Arial"/>
              </a:rPr>
              <a:t> at </a:t>
            </a:r>
            <a:r>
              <a:rPr lang="en-US" sz="1000" b="0" i="0" u="none">
                <a:solidFill>
                  <a:schemeClr val="lt1"/>
                </a:solidFill>
                <a:latin typeface="Arimo"/>
                <a:ea typeface="Arimo"/>
                <a:cs typeface="Arimo"/>
                <a:sym typeface="Arimo"/>
              </a:rPr>
              <a:t>/student</a:t>
            </a:r>
            <a:r>
              <a:rPr lang="en-US" sz="600" b="0" i="0" u="none">
                <a:solidFill>
                  <a:schemeClr val="lt1"/>
                </a:solidFill>
                <a:latin typeface="Arial"/>
                <a:ea typeface="Arial"/>
                <a:cs typeface="Arial"/>
                <a:sym typeface="Arial"/>
              </a:rPr>
              <a:t>.</a:t>
            </a:r>
            <a:br>
              <a:rPr lang="en-US" sz="1800" b="0" i="0" u="none">
                <a:solidFill>
                  <a:schemeClr val="lt1"/>
                </a:solidFill>
                <a:latin typeface="Arial"/>
                <a:ea typeface="Arial"/>
                <a:cs typeface="Arial"/>
                <a:sym typeface="Arial"/>
              </a:rPr>
            </a:br>
            <a:r>
              <a:rPr lang="en-US" sz="1800" b="0" i="0" u="none">
                <a:solidFill>
                  <a:schemeClr val="lt1"/>
                </a:solidFill>
                <a:latin typeface="Arial"/>
                <a:ea typeface="Arial"/>
                <a:cs typeface="Arial"/>
                <a:sym typeface="Arial"/>
              </a:rPr>
              <a:t>Create a f</a:t>
            </a:r>
            <a:r>
              <a:rPr lang="en-US" sz="3600" b="0" i="0" u="none">
                <a:solidFill>
                  <a:schemeClr val="dk1"/>
                </a:solidFill>
                <a:latin typeface="Times New Roman"/>
                <a:ea typeface="Times New Roman"/>
                <a:cs typeface="Times New Roman"/>
                <a:sym typeface="Times New Roman"/>
              </a:rPr>
              <a:t>-mount</a:t>
            </a:r>
            <a:r>
              <a:rPr lang="en-US" sz="1800" b="0" i="0" u="none">
                <a:solidFill>
                  <a:schemeClr val="dk1"/>
                </a:solidFill>
                <a:latin typeface="Times New Roman"/>
                <a:ea typeface="Times New Roman"/>
                <a:cs typeface="Times New Roman"/>
                <a:sym typeface="Times New Roman"/>
              </a:rPr>
              <a:t> </a:t>
            </a:r>
            <a:br>
              <a:rPr lang="en-US" sz="1800" b="0" i="0" u="none">
                <a:solidFill>
                  <a:schemeClr val="dk1"/>
                </a:solidFill>
                <a:latin typeface="Times New Roman"/>
                <a:ea typeface="Times New Roman"/>
                <a:cs typeface="Times New Roman"/>
                <a:sym typeface="Times New Roman"/>
              </a:rPr>
            </a:br>
            <a:br>
              <a:rPr lang="en-US" sz="18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 Mount </a:t>
            </a: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It is the </a:t>
            </a:r>
            <a:r>
              <a:rPr lang="en-US" sz="2400" b="1" i="0" u="none">
                <a:solidFill>
                  <a:schemeClr val="dk1"/>
                </a:solidFill>
                <a:latin typeface="Times New Roman"/>
                <a:ea typeface="Times New Roman"/>
                <a:cs typeface="Times New Roman"/>
                <a:sym typeface="Times New Roman"/>
              </a:rPr>
              <a:t>modern, explicit, key-value way</a:t>
            </a:r>
            <a:r>
              <a:rPr lang="en-US" sz="2400" b="0" i="0" u="none">
                <a:solidFill>
                  <a:schemeClr val="dk1"/>
                </a:solidFill>
                <a:latin typeface="Times New Roman"/>
                <a:ea typeface="Times New Roman"/>
                <a:cs typeface="Times New Roman"/>
                <a:sym typeface="Times New Roman"/>
              </a:rPr>
              <a:t> to attach storage to a container.</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It can be used for:</a:t>
            </a:r>
            <a:br>
              <a:rPr lang="en-US" sz="2400" b="0" i="0" u="none">
                <a:solidFill>
                  <a:schemeClr val="dk1"/>
                </a:solidFill>
                <a:latin typeface="Times New Roman"/>
                <a:ea typeface="Times New Roman"/>
                <a:cs typeface="Times New Roman"/>
                <a:sym typeface="Times New Roman"/>
              </a:rPr>
            </a:br>
            <a:r>
              <a:rPr lang="en-US" sz="2400" b="1" i="0" u="none">
                <a:solidFill>
                  <a:schemeClr val="dk1"/>
                </a:solidFill>
                <a:latin typeface="Times New Roman"/>
                <a:ea typeface="Times New Roman"/>
                <a:cs typeface="Times New Roman"/>
                <a:sym typeface="Times New Roman"/>
              </a:rPr>
              <a:t>Volumes</a:t>
            </a:r>
            <a:br>
              <a:rPr lang="en-US" sz="2400" b="0" i="0" u="none">
                <a:solidFill>
                  <a:schemeClr val="dk1"/>
                </a:solidFill>
                <a:latin typeface="Times New Roman"/>
                <a:ea typeface="Times New Roman"/>
                <a:cs typeface="Times New Roman"/>
                <a:sym typeface="Times New Roman"/>
              </a:rPr>
            </a:br>
            <a:r>
              <a:rPr lang="en-US" sz="2400" b="1" i="0" u="none">
                <a:solidFill>
                  <a:schemeClr val="dk1"/>
                </a:solidFill>
                <a:latin typeface="Times New Roman"/>
                <a:ea typeface="Times New Roman"/>
                <a:cs typeface="Times New Roman"/>
                <a:sym typeface="Times New Roman"/>
              </a:rPr>
              <a:t>Bind mounts</a:t>
            </a:r>
            <a:br>
              <a:rPr lang="en-US" sz="2400" b="0" i="0" u="none">
                <a:solidFill>
                  <a:schemeClr val="dk1"/>
                </a:solidFill>
                <a:latin typeface="Times New Roman"/>
                <a:ea typeface="Times New Roman"/>
                <a:cs typeface="Times New Roman"/>
                <a:sym typeface="Times New Roman"/>
              </a:rPr>
            </a:br>
            <a:r>
              <a:rPr lang="en-US" sz="2400" b="1" i="0" u="none">
                <a:solidFill>
                  <a:schemeClr val="dk1"/>
                </a:solidFill>
                <a:latin typeface="Times New Roman"/>
                <a:ea typeface="Times New Roman"/>
                <a:cs typeface="Times New Roman"/>
                <a:sym typeface="Times New Roman"/>
              </a:rPr>
              <a:t>tmpfs mounts</a:t>
            </a: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 Compared to </a:t>
            </a:r>
            <a:r>
              <a:rPr lang="en-US" sz="4400" b="0" i="0" u="none">
                <a:solidFill>
                  <a:schemeClr val="dk1"/>
                </a:solidFill>
                <a:latin typeface="Times New Roman"/>
                <a:ea typeface="Times New Roman"/>
                <a:cs typeface="Times New Roman"/>
                <a:sym typeface="Times New Roman"/>
              </a:rPr>
              <a:t>-v</a:t>
            </a:r>
            <a:r>
              <a:rPr lang="en-US" sz="2400" b="0" i="0" u="none">
                <a:solidFill>
                  <a:schemeClr val="dk1"/>
                </a:solidFill>
                <a:latin typeface="Times New Roman"/>
                <a:ea typeface="Times New Roman"/>
                <a:cs typeface="Times New Roman"/>
                <a:sym typeface="Times New Roman"/>
              </a:rPr>
              <a:t>, it is:</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More readable</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Less error-prone</a:t>
            </a:r>
            <a:br>
              <a:rPr lang="en-US" sz="2400" b="0" i="0" u="none">
                <a:solidFill>
                  <a:schemeClr val="dk1"/>
                </a:solidFill>
                <a:latin typeface="Times New Roman"/>
                <a:ea typeface="Times New Roman"/>
                <a:cs typeface="Times New Roman"/>
                <a:sym typeface="Times New Roman"/>
              </a:rPr>
            </a:br>
            <a:r>
              <a:rPr lang="en-US" sz="2400" b="0" i="0" u="none">
                <a:solidFill>
                  <a:schemeClr val="dk1"/>
                </a:solidFill>
                <a:latin typeface="Times New Roman"/>
                <a:ea typeface="Times New Roman"/>
                <a:cs typeface="Times New Roman"/>
                <a:sym typeface="Times New Roman"/>
              </a:rPr>
              <a:t>Better for production &amp; teaching concepts</a:t>
            </a:r>
            <a:br>
              <a:rPr lang="en-US" sz="2400" b="0" i="0" u="none">
                <a:solidFill>
                  <a:schemeClr val="dk1"/>
                </a:solidFill>
                <a:latin typeface="Times New Roman"/>
                <a:ea typeface="Times New Roman"/>
                <a:cs typeface="Times New Roman"/>
                <a:sym typeface="Times New Roman"/>
              </a:rPr>
            </a:br>
            <a:r>
              <a:rPr lang="en-US" sz="1800" b="0" i="0" u="none">
                <a:solidFill>
                  <a:schemeClr val="lt1"/>
                </a:solidFill>
                <a:latin typeface="Arial"/>
                <a:ea typeface="Arial"/>
                <a:cs typeface="Arial"/>
                <a:sym typeface="Arial"/>
              </a:rPr>
              <a:t>ile inside the container and verify it persists after container deletion.</a:t>
            </a:r>
            <a:br>
              <a:rPr lang="en-US" sz="1800" b="0" i="0" u="none">
                <a:solidFill>
                  <a:schemeClr val="lt1"/>
                </a:solidFill>
                <a:latin typeface="Arial"/>
                <a:ea typeface="Arial"/>
                <a:cs typeface="Arial"/>
                <a:sym typeface="Arial"/>
              </a:rPr>
            </a:br>
            <a:r>
              <a:rPr lang="en-US" sz="1800" b="0" i="0" u="none">
                <a:solidFill>
                  <a:schemeClr val="lt1"/>
                </a:solidFill>
                <a:latin typeface="Arial"/>
                <a:ea typeface="Arial"/>
                <a:cs typeface="Arial"/>
                <a:sym typeface="Arial"/>
              </a:rPr>
              <a:t>Attach the same volume to another container and verify the file exists.</a:t>
            </a:r>
            <a:br>
              <a:rPr lang="en-US" sz="1800" b="0" i="0" u="none">
                <a:solidFill>
                  <a:schemeClr val="lt1"/>
                </a:solidFill>
                <a:latin typeface="Arial"/>
                <a:ea typeface="Arial"/>
                <a:cs typeface="Arial"/>
                <a:sym typeface="Arial"/>
              </a:rPr>
            </a:br>
            <a:r>
              <a:rPr lang="en-US" sz="1800" b="0" i="0" u="none">
                <a:solidFill>
                  <a:schemeClr val="lt1"/>
                </a:solidFill>
                <a:latin typeface="Arial"/>
                <a:ea typeface="Arial"/>
                <a:cs typeface="Arial"/>
                <a:sym typeface="Arial"/>
              </a:rPr>
              <a:t>Demonstrate data sharing between two containers using a shared volume.</a:t>
            </a:r>
            <a:br>
              <a:rPr lang="en-US" sz="1800" b="0" i="0" u="none">
                <a:solidFill>
                  <a:schemeClr val="lt1"/>
                </a:solidFill>
                <a:latin typeface="Arial"/>
                <a:ea typeface="Arial"/>
                <a:cs typeface="Arial"/>
                <a:sym typeface="Arial"/>
              </a:rPr>
            </a:br>
            <a:r>
              <a:rPr lang="en-US" sz="1800" b="0" i="0" u="none">
                <a:solidFill>
                  <a:schemeClr val="lt1"/>
                </a:solidFill>
                <a:latin typeface="Arial"/>
                <a:ea typeface="Arial"/>
                <a:cs typeface="Arial"/>
                <a:sym typeface="Arial"/>
              </a:rPr>
              <a:t>Show that deleting a container does NOT delete the volume data.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5"/>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Syntax</a:t>
            </a:r>
            <a:endParaRPr/>
          </a:p>
        </p:txBody>
      </p:sp>
      <p:sp>
        <p:nvSpPr>
          <p:cNvPr id="405" name="Google Shape;405;p65"/>
          <p:cNvSpPr txBox="1">
            <a:spLocks noGrp="1"/>
          </p:cNvSpPr>
          <p:nvPr>
            <p:ph type="body" idx="1"/>
          </p:nvPr>
        </p:nvSpPr>
        <p:spPr>
          <a:xfrm>
            <a:off x="107950" y="1266825"/>
            <a:ext cx="8807450" cy="4905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--mount type=&lt;type&gt;,source=&lt;src&gt;,target=&lt;dest&gt; IMAGE</a:t>
            </a:r>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pic>
        <p:nvPicPr>
          <p:cNvPr id="406" name="Google Shape;406;p65"/>
          <p:cNvPicPr preferRelativeResize="0"/>
          <p:nvPr/>
        </p:nvPicPr>
        <p:blipFill rotWithShape="1">
          <a:blip r:embed="rId3">
            <a:alphaModFix/>
          </a:blip>
          <a:srcRect/>
          <a:stretch/>
        </p:blipFill>
        <p:spPr>
          <a:xfrm>
            <a:off x="950912" y="2276475"/>
            <a:ext cx="7150100" cy="31337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6"/>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F0000"/>
              </a:buClr>
              <a:buSzPts val="2000"/>
              <a:buFont typeface="Times New Roman"/>
              <a:buNone/>
            </a:pPr>
            <a:r>
              <a:rPr lang="en-US" sz="2000" b="1" i="0" u="none">
                <a:solidFill>
                  <a:srgbClr val="FF0000"/>
                </a:solidFill>
                <a:latin typeface="Times New Roman"/>
                <a:ea typeface="Times New Roman"/>
                <a:cs typeface="Times New Roman"/>
                <a:sym typeface="Times New Roman"/>
              </a:rPr>
              <a:t>Example 1: Named Volume (Most Common &amp; Recommended)</a:t>
            </a:r>
            <a:endParaRPr/>
          </a:p>
        </p:txBody>
      </p:sp>
      <p:sp>
        <p:nvSpPr>
          <p:cNvPr id="412" name="Google Shape;412;p66"/>
          <p:cNvSpPr txBox="1">
            <a:spLocks noGrp="1"/>
          </p:cNvSpPr>
          <p:nvPr>
            <p:ph type="body" idx="1"/>
          </p:nvPr>
        </p:nvSpPr>
        <p:spPr>
          <a:xfrm>
            <a:off x="107950" y="836612"/>
            <a:ext cx="8807450" cy="53355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Create a volume</a:t>
            </a:r>
            <a:endParaRPr/>
          </a:p>
          <a:p>
            <a:pPr marL="0" marR="0" lvl="0" indent="-114300" algn="l" rtl="0">
              <a:lnSpc>
                <a:spcPct val="100000"/>
              </a:lnSpc>
              <a:spcBef>
                <a:spcPts val="480"/>
              </a:spcBef>
              <a:spcAft>
                <a:spcPts val="0"/>
              </a:spcAft>
              <a:buClr>
                <a:schemeClr val="dk1"/>
              </a:buClr>
              <a:buSzPts val="1800"/>
              <a:buFont typeface="Arial"/>
              <a:buChar char="•"/>
            </a:pPr>
            <a:r>
              <a:rPr lang="en-US" sz="2400" b="0" i="0" u="none">
                <a:solidFill>
                  <a:schemeClr val="dk1"/>
                </a:solidFill>
                <a:latin typeface="Times New Roman"/>
                <a:ea typeface="Times New Roman"/>
                <a:cs typeface="Times New Roman"/>
                <a:sym typeface="Times New Roman"/>
              </a:rPr>
              <a:t>docker volume create mydata</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Run container with --mount</a:t>
            </a:r>
            <a:endParaRPr/>
          </a:p>
          <a:p>
            <a:pPr marL="0" marR="0" lvl="0" indent="-95250" algn="l" rtl="0">
              <a:lnSpc>
                <a:spcPct val="100000"/>
              </a:lnSpc>
              <a:spcBef>
                <a:spcPts val="400"/>
              </a:spcBef>
              <a:spcAft>
                <a:spcPts val="0"/>
              </a:spcAft>
              <a:buClr>
                <a:schemeClr val="dk1"/>
              </a:buClr>
              <a:buSzPts val="1500"/>
              <a:buFont typeface="Arial"/>
              <a:buChar char="•"/>
            </a:pPr>
            <a:r>
              <a:rPr lang="en-US" sz="2000" b="0" i="0" u="none">
                <a:solidFill>
                  <a:schemeClr val="dk1"/>
                </a:solidFill>
                <a:latin typeface="Times New Roman"/>
                <a:ea typeface="Times New Roman"/>
                <a:cs typeface="Times New Roman"/>
                <a:sym typeface="Times New Roman"/>
              </a:rPr>
              <a:t>docker run -it –mount type=volume,source=mydata,target=/app/data   ubuntu</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Inside container</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cd /app/data</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echo "Hello from volume" &gt; file1.txt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exit</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Run another container</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docker run -it –mount type=volume,source=mydata,target=/app/data   ubuntu</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cat  /app/data/file1.txt</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67"/>
          <p:cNvSpPr txBox="1">
            <a:spLocks noGrp="1"/>
          </p:cNvSpPr>
          <p:nvPr>
            <p:ph type="title"/>
          </p:nvPr>
        </p:nvSpPr>
        <p:spPr>
          <a:xfrm>
            <a:off x="0" y="0"/>
            <a:ext cx="7588250" cy="112553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1800"/>
              <a:buFont typeface="Times New Roman"/>
              <a:buNone/>
            </a:pPr>
            <a:r>
              <a:rPr lang="en-US" sz="1800" b="1" i="0" u="none">
                <a:solidFill>
                  <a:schemeClr val="dk1"/>
                </a:solidFill>
                <a:latin typeface="Times New Roman"/>
                <a:ea typeface="Times New Roman"/>
                <a:cs typeface="Times New Roman"/>
                <a:sym typeface="Times New Roman"/>
              </a:rPr>
              <a:t>What happened</a:t>
            </a:r>
            <a:br>
              <a:rPr lang="en-US" sz="3600" b="1" i="0" u="none">
                <a:solidFill>
                  <a:schemeClr val="dk1"/>
                </a:solidFill>
                <a:latin typeface="Times New Roman"/>
                <a:ea typeface="Times New Roman"/>
                <a:cs typeface="Times New Roman"/>
                <a:sym typeface="Times New Roman"/>
              </a:rPr>
            </a:br>
            <a:endParaRPr/>
          </a:p>
        </p:txBody>
      </p:sp>
      <p:sp>
        <p:nvSpPr>
          <p:cNvPr id="418" name="Google Shape;418;p67"/>
          <p:cNvSpPr txBox="1">
            <a:spLocks noGrp="1"/>
          </p:cNvSpPr>
          <p:nvPr>
            <p:ph type="body" idx="1"/>
          </p:nvPr>
        </p:nvSpPr>
        <p:spPr>
          <a:xfrm>
            <a:off x="250825" y="1125537"/>
            <a:ext cx="8664575" cy="50466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mydata volume lives on </a:t>
            </a:r>
            <a:r>
              <a:rPr lang="en-US" sz="2400" b="1" i="0" u="none">
                <a:solidFill>
                  <a:schemeClr val="dk1"/>
                </a:solidFill>
                <a:latin typeface="Times New Roman"/>
                <a:ea typeface="Times New Roman"/>
                <a:cs typeface="Times New Roman"/>
                <a:sym typeface="Times New Roman"/>
              </a:rPr>
              <a:t>Docker host</a:t>
            </a:r>
            <a:endParaRPr/>
          </a:p>
          <a:p>
            <a:pPr marL="342900" marR="0" lvl="0" indent="-342900" algn="l" rtl="0">
              <a:lnSpc>
                <a:spcPct val="100000"/>
              </a:lnSpc>
              <a:spcBef>
                <a:spcPts val="48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Data </a:t>
            </a:r>
            <a:r>
              <a:rPr lang="en-US" sz="2400" b="1" i="0" u="none">
                <a:solidFill>
                  <a:schemeClr val="dk1"/>
                </a:solidFill>
                <a:latin typeface="Times New Roman"/>
                <a:ea typeface="Times New Roman"/>
                <a:cs typeface="Times New Roman"/>
                <a:sym typeface="Times New Roman"/>
              </a:rPr>
              <a:t>persists</a:t>
            </a:r>
            <a:r>
              <a:rPr lang="en-US" sz="2400" b="0" i="0" u="none">
                <a:solidFill>
                  <a:schemeClr val="dk1"/>
                </a:solidFill>
                <a:latin typeface="Times New Roman"/>
                <a:ea typeface="Times New Roman"/>
                <a:cs typeface="Times New Roman"/>
                <a:sym typeface="Times New Roman"/>
              </a:rPr>
              <a:t> even after container stops</a:t>
            </a:r>
            <a:endParaRPr/>
          </a:p>
          <a:p>
            <a:pPr marL="342900" marR="0" lvl="0" indent="-342900" algn="l" rtl="0">
              <a:lnSpc>
                <a:spcPct val="100000"/>
              </a:lnSpc>
              <a:spcBef>
                <a:spcPts val="48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Multiple containers can share it</a:t>
            </a:r>
            <a:endParaRPr/>
          </a:p>
          <a:p>
            <a:pPr marL="342900" marR="0" lvl="0" indent="-228600" algn="l" rtl="0">
              <a:lnSpc>
                <a:spcPct val="100000"/>
              </a:lnSpc>
              <a:spcBef>
                <a:spcPts val="480"/>
              </a:spcBef>
              <a:spcAft>
                <a:spcPts val="0"/>
              </a:spcAft>
              <a:buClr>
                <a:schemeClr val="dk1"/>
              </a:buClr>
              <a:buSzPts val="180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228600" algn="l" rtl="0">
              <a:lnSpc>
                <a:spcPct val="100000"/>
              </a:lnSpc>
              <a:spcBef>
                <a:spcPts val="480"/>
              </a:spcBef>
              <a:spcAft>
                <a:spcPts val="0"/>
              </a:spcAft>
              <a:buClr>
                <a:schemeClr val="dk1"/>
              </a:buClr>
              <a:buSzPts val="180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 </a:t>
            </a:r>
            <a:r>
              <a:rPr lang="en-US" sz="2400" b="1" i="0" u="none">
                <a:solidFill>
                  <a:schemeClr val="dk1"/>
                </a:solidFill>
                <a:latin typeface="Times New Roman"/>
                <a:ea typeface="Times New Roman"/>
                <a:cs typeface="Times New Roman"/>
                <a:sym typeface="Times New Roman"/>
              </a:rPr>
              <a:t>Best for databases, logs, application state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68"/>
          <p:cNvSpPr txBox="1">
            <a:spLocks noGrp="1"/>
          </p:cNvSpPr>
          <p:nvPr>
            <p:ph type="title"/>
          </p:nvPr>
        </p:nvSpPr>
        <p:spPr>
          <a:xfrm>
            <a:off x="0" y="0"/>
            <a:ext cx="7588250" cy="112553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Example 2: Bind Mount (Host ↔ Container Sync)</a:t>
            </a:r>
            <a:br>
              <a:rPr lang="en-US" sz="3600" b="1" i="0" u="none">
                <a:solidFill>
                  <a:schemeClr val="dk1"/>
                </a:solidFill>
                <a:latin typeface="Times New Roman"/>
                <a:ea typeface="Times New Roman"/>
                <a:cs typeface="Times New Roman"/>
                <a:sym typeface="Times New Roman"/>
              </a:rPr>
            </a:br>
            <a:endParaRPr/>
          </a:p>
        </p:txBody>
      </p:sp>
      <p:sp>
        <p:nvSpPr>
          <p:cNvPr id="424" name="Google Shape;424;p68"/>
          <p:cNvSpPr txBox="1">
            <a:spLocks noGrp="1"/>
          </p:cNvSpPr>
          <p:nvPr>
            <p:ph type="body" idx="1"/>
          </p:nvPr>
        </p:nvSpPr>
        <p:spPr>
          <a:xfrm>
            <a:off x="107950" y="765175"/>
            <a:ext cx="8807450" cy="59769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Host folder </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C:\docker\website\index.html</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Run container</a:t>
            </a:r>
            <a:endParaRPr/>
          </a:p>
          <a:p>
            <a:pPr marL="0" marR="0" lvl="0" indent="0" algn="l" rtl="0">
              <a:lnSpc>
                <a:spcPct val="100000"/>
              </a:lnSpc>
              <a:spcBef>
                <a:spcPts val="360"/>
              </a:spcBef>
              <a:spcAft>
                <a:spcPts val="0"/>
              </a:spcAft>
              <a:buClr>
                <a:srgbClr val="A50021"/>
              </a:buClr>
              <a:buSzPts val="1350"/>
              <a:buFont typeface="Arial"/>
              <a:buNone/>
            </a:pPr>
            <a:r>
              <a:rPr lang="en-US" sz="1800" b="0" i="0" u="none">
                <a:solidFill>
                  <a:schemeClr val="dk1"/>
                </a:solidFill>
                <a:latin typeface="Times New Roman"/>
                <a:ea typeface="Times New Roman"/>
                <a:cs typeface="Times New Roman"/>
                <a:sym typeface="Times New Roman"/>
              </a:rPr>
              <a:t>docker run -it   --mounttype=bind,source="C:\docker\website",target=/usr/share/nginx/html    -p 8080:80  nginx</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Edit file on HOST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&lt;h1&gt;Hello from Host&lt;/h1&gt;</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Browser</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http://localhost:8080</a:t>
            </a:r>
            <a:endParaRPr/>
          </a:p>
          <a:p>
            <a:pPr marL="0" marR="0" lvl="0" indent="0" algn="l" rtl="0">
              <a:lnSpc>
                <a:spcPct val="100000"/>
              </a:lnSpc>
              <a:spcBef>
                <a:spcPts val="480"/>
              </a:spcBef>
              <a:spcAft>
                <a:spcPts val="0"/>
              </a:spcAft>
              <a:buClr>
                <a:srgbClr val="A50021"/>
              </a:buClr>
              <a:buSzPts val="1800"/>
              <a:buFont typeface="Arial"/>
              <a:buNone/>
            </a:pPr>
            <a:r>
              <a:rPr lang="en-US" sz="2400" b="1" i="0" u="none">
                <a:solidFill>
                  <a:schemeClr val="dk1"/>
                </a:solidFill>
                <a:latin typeface="Times New Roman"/>
                <a:ea typeface="Times New Roman"/>
                <a:cs typeface="Times New Roman"/>
                <a:sym typeface="Times New Roman"/>
              </a:rPr>
              <a:t>Effects ………</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Host directory is </a:t>
            </a:r>
            <a:r>
              <a:rPr lang="en-US" sz="2400" b="1" i="0" u="none">
                <a:solidFill>
                  <a:schemeClr val="dk1"/>
                </a:solidFill>
                <a:latin typeface="Times New Roman"/>
                <a:ea typeface="Times New Roman"/>
                <a:cs typeface="Times New Roman"/>
                <a:sym typeface="Times New Roman"/>
              </a:rPr>
              <a:t>directly mapped</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Changes on host reflect </a:t>
            </a:r>
            <a:r>
              <a:rPr lang="en-US" sz="2400" b="1" i="0" u="none">
                <a:solidFill>
                  <a:schemeClr val="dk1"/>
                </a:solidFill>
                <a:latin typeface="Times New Roman"/>
                <a:ea typeface="Times New Roman"/>
                <a:cs typeface="Times New Roman"/>
                <a:sym typeface="Times New Roman"/>
              </a:rPr>
              <a:t>instantly</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Container restart does NOT affect data</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a:t>
            </a:r>
            <a:r>
              <a:rPr lang="en-US" sz="2400" b="1" i="0" u="none">
                <a:solidFill>
                  <a:schemeClr val="dk1"/>
                </a:solidFill>
                <a:latin typeface="Times New Roman"/>
                <a:ea typeface="Times New Roman"/>
                <a:cs typeface="Times New Roman"/>
                <a:sym typeface="Times New Roman"/>
              </a:rPr>
              <a:t>Best for development, live code editing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69"/>
          <p:cNvSpPr txBox="1">
            <a:spLocks noGrp="1"/>
          </p:cNvSpPr>
          <p:nvPr>
            <p:ph type="title"/>
          </p:nvPr>
        </p:nvSpPr>
        <p:spPr>
          <a:xfrm>
            <a:off x="0" y="0"/>
            <a:ext cx="7588250" cy="112553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2800"/>
              <a:buFont typeface="Times New Roman"/>
              <a:buNone/>
            </a:pPr>
            <a:r>
              <a:rPr lang="en-US" sz="2800" b="0" i="0" u="none">
                <a:solidFill>
                  <a:schemeClr val="dk1"/>
                </a:solidFill>
                <a:latin typeface="Times New Roman"/>
                <a:ea typeface="Times New Roman"/>
                <a:cs typeface="Times New Roman"/>
                <a:sym typeface="Times New Roman"/>
              </a:rPr>
              <a:t>Equivalent commands for Volume and mount </a:t>
            </a:r>
            <a:br>
              <a:rPr lang="en-US" sz="3600" b="0" i="0" u="none">
                <a:solidFill>
                  <a:schemeClr val="dk1"/>
                </a:solidFill>
                <a:latin typeface="Times New Roman"/>
                <a:ea typeface="Times New Roman"/>
                <a:cs typeface="Times New Roman"/>
                <a:sym typeface="Times New Roman"/>
              </a:rPr>
            </a:br>
            <a:endParaRPr/>
          </a:p>
        </p:txBody>
      </p:sp>
      <p:sp>
        <p:nvSpPr>
          <p:cNvPr id="430" name="Google Shape;430;p69"/>
          <p:cNvSpPr txBox="1">
            <a:spLocks noGrp="1"/>
          </p:cNvSpPr>
          <p:nvPr>
            <p:ph type="body" idx="1"/>
          </p:nvPr>
        </p:nvSpPr>
        <p:spPr>
          <a:xfrm>
            <a:off x="250825" y="1125537"/>
            <a:ext cx="8664575" cy="50466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300000"/>
              </a:lnSpc>
              <a:spcBef>
                <a:spcPts val="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-v mydata:/data</a:t>
            </a:r>
            <a:endParaRPr/>
          </a:p>
          <a:p>
            <a:pPr marL="342900" marR="0" lvl="0" indent="-342900" algn="l" rtl="0">
              <a:lnSpc>
                <a:spcPct val="300000"/>
              </a:lnSpc>
              <a:spcBef>
                <a:spcPts val="480"/>
              </a:spcBef>
              <a:spcAft>
                <a:spcPts val="0"/>
              </a:spcAft>
              <a:buClr>
                <a:schemeClr val="dk1"/>
              </a:buClr>
              <a:buSzPts val="1800"/>
              <a:buFont typeface="Noto Sans Symbols"/>
              <a:buChar char="⮚"/>
            </a:pPr>
            <a:r>
              <a:rPr lang="en-US" sz="2400" b="0" i="0" u="none">
                <a:solidFill>
                  <a:schemeClr val="dk1"/>
                </a:solidFill>
                <a:latin typeface="Times New Roman"/>
                <a:ea typeface="Times New Roman"/>
                <a:cs typeface="Times New Roman"/>
                <a:sym typeface="Times New Roman"/>
              </a:rPr>
              <a:t>--mount type=volume,source=mydata,target=/data</a:t>
            </a:r>
            <a:endParaRPr/>
          </a:p>
          <a:p>
            <a:pPr marL="342900" marR="0" lvl="0" indent="-228600" algn="l" rtl="0">
              <a:spcBef>
                <a:spcPts val="480"/>
              </a:spcBef>
              <a:spcAft>
                <a:spcPts val="0"/>
              </a:spcAft>
              <a:buClr>
                <a:srgbClr val="A50021"/>
              </a:buClr>
              <a:buSzPts val="18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70"/>
          <p:cNvSpPr txBox="1">
            <a:spLocks noGrp="1"/>
          </p:cNvSpPr>
          <p:nvPr>
            <p:ph type="title"/>
          </p:nvPr>
        </p:nvSpPr>
        <p:spPr>
          <a:xfrm>
            <a:off x="0" y="0"/>
            <a:ext cx="758825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3600"/>
              <a:buFont typeface="Times New Roman"/>
              <a:buNone/>
            </a:pPr>
            <a:r>
              <a:rPr lang="en-US" sz="3600" b="0" i="0" u="none">
                <a:solidFill>
                  <a:schemeClr val="dk1"/>
                </a:solidFill>
                <a:latin typeface="Times New Roman"/>
                <a:ea typeface="Times New Roman"/>
                <a:cs typeface="Times New Roman"/>
                <a:sym typeface="Times New Roman"/>
              </a:rPr>
              <a:t>Practice Question #</a:t>
            </a:r>
            <a:endParaRPr/>
          </a:p>
        </p:txBody>
      </p:sp>
      <p:sp>
        <p:nvSpPr>
          <p:cNvPr id="436" name="Google Shape;436;p70"/>
          <p:cNvSpPr txBox="1">
            <a:spLocks noGrp="1"/>
          </p:cNvSpPr>
          <p:nvPr>
            <p:ph type="body" idx="1"/>
          </p:nvPr>
        </p:nvSpPr>
        <p:spPr>
          <a:xfrm>
            <a:off x="179387" y="836612"/>
            <a:ext cx="8736012" cy="53355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To demonstrate </a:t>
            </a:r>
            <a:r>
              <a:rPr lang="en-US" sz="2400" b="1" i="0" u="none">
                <a:solidFill>
                  <a:schemeClr val="dk1"/>
                </a:solidFill>
                <a:latin typeface="Times New Roman"/>
                <a:ea typeface="Times New Roman"/>
                <a:cs typeface="Times New Roman"/>
                <a:sym typeface="Times New Roman"/>
              </a:rPr>
              <a:t>real-time file synchronization between host and container</a:t>
            </a:r>
            <a:r>
              <a:rPr lang="en-US" sz="2400" b="0" i="0" u="none">
                <a:solidFill>
                  <a:schemeClr val="dk1"/>
                </a:solidFill>
                <a:latin typeface="Times New Roman"/>
                <a:ea typeface="Times New Roman"/>
                <a:cs typeface="Times New Roman"/>
                <a:sym typeface="Times New Roman"/>
              </a:rPr>
              <a:t>.</a:t>
            </a:r>
            <a:endParaRPr sz="2400" b="1" i="0" u="none">
              <a:solidFill>
                <a:schemeClr val="dk1"/>
              </a:solidFill>
              <a:latin typeface="Times New Roman"/>
              <a:ea typeface="Times New Roman"/>
              <a:cs typeface="Times New Roman"/>
              <a:sym typeface="Times New Roman"/>
            </a:endParaRPr>
          </a:p>
          <a:p>
            <a:pPr marL="0" marR="0" lvl="0" indent="-114300" algn="l" rtl="0">
              <a:lnSpc>
                <a:spcPct val="100000"/>
              </a:lnSpc>
              <a:spcBef>
                <a:spcPts val="480"/>
              </a:spcBef>
              <a:spcAft>
                <a:spcPts val="0"/>
              </a:spcAft>
              <a:buClr>
                <a:schemeClr val="dk1"/>
              </a:buClr>
              <a:buSzPts val="1800"/>
              <a:buFont typeface="Times New Roman"/>
              <a:buAutoNum type="romanLcPeriod"/>
            </a:pPr>
            <a:r>
              <a:rPr lang="en-US" sz="2400" b="0" i="0" u="none">
                <a:solidFill>
                  <a:schemeClr val="dk1"/>
                </a:solidFill>
                <a:latin typeface="Times New Roman"/>
                <a:ea typeface="Times New Roman"/>
                <a:cs typeface="Times New Roman"/>
                <a:sym typeface="Times New Roman"/>
              </a:rPr>
              <a:t>On the </a:t>
            </a:r>
            <a:r>
              <a:rPr lang="en-US" sz="2400" b="1" i="0" u="none">
                <a:solidFill>
                  <a:schemeClr val="dk1"/>
                </a:solidFill>
                <a:latin typeface="Times New Roman"/>
                <a:ea typeface="Times New Roman"/>
                <a:cs typeface="Times New Roman"/>
                <a:sym typeface="Times New Roman"/>
              </a:rPr>
              <a:t>host system</a:t>
            </a:r>
            <a:r>
              <a:rPr lang="en-US" sz="2400" b="0" i="0" u="none">
                <a:solidFill>
                  <a:schemeClr val="dk1"/>
                </a:solidFill>
                <a:latin typeface="Times New Roman"/>
                <a:ea typeface="Times New Roman"/>
                <a:cs typeface="Times New Roman"/>
                <a:sym typeface="Times New Roman"/>
              </a:rPr>
              <a:t>, create a directory named </a:t>
            </a:r>
            <a:r>
              <a:rPr lang="en-US" sz="2400" b="1" i="0" u="none">
                <a:solidFill>
                  <a:schemeClr val="dk1"/>
                </a:solidFill>
                <a:latin typeface="Times New Roman"/>
                <a:ea typeface="Times New Roman"/>
                <a:cs typeface="Times New Roman"/>
                <a:sym typeface="Times New Roman"/>
              </a:rPr>
              <a:t>webdata</a:t>
            </a:r>
            <a:r>
              <a:rPr lang="en-US" sz="2400" b="0" i="0" u="none">
                <a:solidFill>
                  <a:schemeClr val="dk1"/>
                </a:solidFill>
                <a:latin typeface="Times New Roman"/>
                <a:ea typeface="Times New Roman"/>
                <a:cs typeface="Times New Roman"/>
                <a:sym typeface="Times New Roman"/>
              </a:rPr>
              <a:t>.</a:t>
            </a:r>
            <a:endParaRPr/>
          </a:p>
          <a:p>
            <a:pPr marL="0" marR="0" lvl="0" indent="-114300" algn="l" rtl="0">
              <a:lnSpc>
                <a:spcPct val="100000"/>
              </a:lnSpc>
              <a:spcBef>
                <a:spcPts val="480"/>
              </a:spcBef>
              <a:spcAft>
                <a:spcPts val="0"/>
              </a:spcAft>
              <a:buClr>
                <a:schemeClr val="dk1"/>
              </a:buClr>
              <a:buSzPts val="1800"/>
              <a:buFont typeface="Times New Roman"/>
              <a:buAutoNum type="romanLcPeriod"/>
            </a:pPr>
            <a:r>
              <a:rPr lang="en-US" sz="2400" b="0" i="0" u="none">
                <a:solidFill>
                  <a:schemeClr val="dk1"/>
                </a:solidFill>
                <a:latin typeface="Times New Roman"/>
                <a:ea typeface="Times New Roman"/>
                <a:cs typeface="Times New Roman"/>
                <a:sym typeface="Times New Roman"/>
              </a:rPr>
              <a:t>Inside it, create a file </a:t>
            </a:r>
            <a:r>
              <a:rPr lang="en-US" sz="2400" b="1" i="0" u="none">
                <a:solidFill>
                  <a:schemeClr val="dk1"/>
                </a:solidFill>
                <a:latin typeface="Times New Roman"/>
                <a:ea typeface="Times New Roman"/>
                <a:cs typeface="Times New Roman"/>
                <a:sym typeface="Times New Roman"/>
              </a:rPr>
              <a:t>index.html</a:t>
            </a:r>
            <a:r>
              <a:rPr lang="en-US" sz="2400" b="0" i="0" u="none">
                <a:solidFill>
                  <a:schemeClr val="dk1"/>
                </a:solidFill>
                <a:latin typeface="Times New Roman"/>
                <a:ea typeface="Times New Roman"/>
                <a:cs typeface="Times New Roman"/>
                <a:sym typeface="Times New Roman"/>
              </a:rPr>
              <a:t> with the content:</a:t>
            </a:r>
            <a:endParaRPr/>
          </a:p>
          <a:p>
            <a:pPr marL="0" marR="0" lvl="0" indent="0" algn="l" rtl="0">
              <a:lnSpc>
                <a:spcPct val="100000"/>
              </a:lnSpc>
              <a:spcBef>
                <a:spcPts val="480"/>
              </a:spcBef>
              <a:spcAft>
                <a:spcPts val="0"/>
              </a:spcAft>
              <a:buClr>
                <a:srgbClr val="A50021"/>
              </a:buClr>
              <a:buSzPts val="1800"/>
              <a:buFont typeface="Arial"/>
              <a:buNone/>
            </a:pPr>
            <a:r>
              <a:rPr lang="en-US" sz="2400" b="0" i="0" u="none">
                <a:solidFill>
                  <a:schemeClr val="dk1"/>
                </a:solidFill>
                <a:latin typeface="Times New Roman"/>
                <a:ea typeface="Times New Roman"/>
                <a:cs typeface="Times New Roman"/>
                <a:sym typeface="Times New Roman"/>
              </a:rPr>
              <a:t>     &lt;h1&gt;Welcome from Host&lt;/h1&gt;</a:t>
            </a:r>
            <a:endParaRPr/>
          </a:p>
          <a:p>
            <a:pPr marL="0" marR="0" lvl="0" indent="-114300" algn="l" rtl="0">
              <a:lnSpc>
                <a:spcPct val="100000"/>
              </a:lnSpc>
              <a:spcBef>
                <a:spcPts val="480"/>
              </a:spcBef>
              <a:spcAft>
                <a:spcPts val="0"/>
              </a:spcAft>
              <a:buClr>
                <a:schemeClr val="dk1"/>
              </a:buClr>
              <a:buSzPts val="1800"/>
              <a:buFont typeface="Times New Roman"/>
              <a:buAutoNum type="romanLcPeriod" startAt="3"/>
            </a:pPr>
            <a:r>
              <a:rPr lang="en-US" sz="2400" b="0" i="0" u="none">
                <a:solidFill>
                  <a:schemeClr val="dk1"/>
                </a:solidFill>
                <a:latin typeface="Times New Roman"/>
                <a:ea typeface="Times New Roman"/>
                <a:cs typeface="Times New Roman"/>
                <a:sym typeface="Times New Roman"/>
              </a:rPr>
              <a:t>Run an </a:t>
            </a:r>
            <a:r>
              <a:rPr lang="en-US" sz="2400" b="1" i="0" u="none">
                <a:solidFill>
                  <a:schemeClr val="dk1"/>
                </a:solidFill>
                <a:latin typeface="Times New Roman"/>
                <a:ea typeface="Times New Roman"/>
                <a:cs typeface="Times New Roman"/>
                <a:sym typeface="Times New Roman"/>
              </a:rPr>
              <a:t>Nginx container</a:t>
            </a:r>
            <a:r>
              <a:rPr lang="en-US" sz="2400" b="0" i="0" u="none">
                <a:solidFill>
                  <a:schemeClr val="dk1"/>
                </a:solidFill>
                <a:latin typeface="Times New Roman"/>
                <a:ea typeface="Times New Roman"/>
                <a:cs typeface="Times New Roman"/>
                <a:sym typeface="Times New Roman"/>
              </a:rPr>
              <a:t> and bind mount the host directory to</a:t>
            </a:r>
            <a:br>
              <a:rPr lang="en-US" sz="2400" b="0" i="0" u="none">
                <a:solidFill>
                  <a:schemeClr val="dk1"/>
                </a:solidFill>
                <a:latin typeface="Times New Roman"/>
                <a:ea typeface="Times New Roman"/>
                <a:cs typeface="Times New Roman"/>
                <a:sym typeface="Times New Roman"/>
              </a:rPr>
            </a:br>
            <a:r>
              <a:rPr lang="en-US" sz="2400" b="1" i="0" u="none">
                <a:solidFill>
                  <a:schemeClr val="dk1"/>
                </a:solidFill>
                <a:latin typeface="Times New Roman"/>
                <a:ea typeface="Times New Roman"/>
                <a:cs typeface="Times New Roman"/>
                <a:sym typeface="Times New Roman"/>
              </a:rPr>
              <a:t>/usr/share/nginx/html</a:t>
            </a:r>
            <a:r>
              <a:rPr lang="en-US" sz="2400" b="0" i="0" u="none">
                <a:solidFill>
                  <a:schemeClr val="dk1"/>
                </a:solidFill>
                <a:latin typeface="Times New Roman"/>
                <a:ea typeface="Times New Roman"/>
                <a:cs typeface="Times New Roman"/>
                <a:sym typeface="Times New Roman"/>
              </a:rPr>
              <a:t> using --mount.</a:t>
            </a:r>
            <a:endParaRPr/>
          </a:p>
          <a:p>
            <a:pPr marL="0" marR="0" lvl="0" indent="-114300" algn="l" rtl="0">
              <a:lnSpc>
                <a:spcPct val="100000"/>
              </a:lnSpc>
              <a:spcBef>
                <a:spcPts val="480"/>
              </a:spcBef>
              <a:spcAft>
                <a:spcPts val="0"/>
              </a:spcAft>
              <a:buClr>
                <a:schemeClr val="dk1"/>
              </a:buClr>
              <a:buSzPts val="1800"/>
              <a:buFont typeface="Times New Roman"/>
              <a:buAutoNum type="romanLcPeriod" startAt="3"/>
            </a:pPr>
            <a:r>
              <a:rPr lang="en-US" sz="2400" b="0" i="0" u="none">
                <a:solidFill>
                  <a:schemeClr val="dk1"/>
                </a:solidFill>
                <a:latin typeface="Times New Roman"/>
                <a:ea typeface="Times New Roman"/>
                <a:cs typeface="Times New Roman"/>
                <a:sym typeface="Times New Roman"/>
              </a:rPr>
              <a:t>Expose the container on port </a:t>
            </a:r>
            <a:r>
              <a:rPr lang="en-US" sz="2400" b="1" i="0" u="none">
                <a:solidFill>
                  <a:schemeClr val="dk1"/>
                </a:solidFill>
                <a:latin typeface="Times New Roman"/>
                <a:ea typeface="Times New Roman"/>
                <a:cs typeface="Times New Roman"/>
                <a:sym typeface="Times New Roman"/>
              </a:rPr>
              <a:t>8080</a:t>
            </a:r>
            <a:r>
              <a:rPr lang="en-US" sz="2400" b="0" i="0" u="none">
                <a:solidFill>
                  <a:schemeClr val="dk1"/>
                </a:solidFill>
                <a:latin typeface="Times New Roman"/>
                <a:ea typeface="Times New Roman"/>
                <a:cs typeface="Times New Roman"/>
                <a:sym typeface="Times New Roman"/>
              </a:rPr>
              <a:t>.</a:t>
            </a:r>
            <a:endParaRPr/>
          </a:p>
          <a:p>
            <a:pPr marL="0" marR="0" lvl="0" indent="-114300" algn="l" rtl="0">
              <a:lnSpc>
                <a:spcPct val="100000"/>
              </a:lnSpc>
              <a:spcBef>
                <a:spcPts val="480"/>
              </a:spcBef>
              <a:spcAft>
                <a:spcPts val="0"/>
              </a:spcAft>
              <a:buClr>
                <a:schemeClr val="dk1"/>
              </a:buClr>
              <a:buSzPts val="1800"/>
              <a:buFont typeface="Times New Roman"/>
              <a:buAutoNum type="romanLcPeriod" startAt="3"/>
            </a:pPr>
            <a:r>
              <a:rPr lang="en-US" sz="2400" b="0" i="0" u="none">
                <a:solidFill>
                  <a:schemeClr val="dk1"/>
                </a:solidFill>
                <a:latin typeface="Times New Roman"/>
                <a:ea typeface="Times New Roman"/>
                <a:cs typeface="Times New Roman"/>
                <a:sym typeface="Times New Roman"/>
              </a:rPr>
              <a:t>Open a browser and verify the page loads.</a:t>
            </a:r>
            <a:endParaRPr/>
          </a:p>
          <a:p>
            <a:pPr marL="0" marR="0" lvl="0" indent="-114300" algn="l" rtl="0">
              <a:lnSpc>
                <a:spcPct val="100000"/>
              </a:lnSpc>
              <a:spcBef>
                <a:spcPts val="480"/>
              </a:spcBef>
              <a:spcAft>
                <a:spcPts val="0"/>
              </a:spcAft>
              <a:buClr>
                <a:schemeClr val="dk1"/>
              </a:buClr>
              <a:buSzPts val="1800"/>
              <a:buFont typeface="Times New Roman"/>
              <a:buAutoNum type="romanLcPeriod" startAt="3"/>
            </a:pPr>
            <a:r>
              <a:rPr lang="en-US" sz="2400" b="0" i="0" u="none">
                <a:solidFill>
                  <a:schemeClr val="dk1"/>
                </a:solidFill>
                <a:latin typeface="Times New Roman"/>
                <a:ea typeface="Times New Roman"/>
                <a:cs typeface="Times New Roman"/>
                <a:sym typeface="Times New Roman"/>
              </a:rPr>
              <a:t>Modify index.html on the host to:</a:t>
            </a:r>
            <a:endParaRPr/>
          </a:p>
          <a:p>
            <a:pPr marL="0" marR="0" lvl="0" indent="-114300" algn="l" rtl="0">
              <a:lnSpc>
                <a:spcPct val="100000"/>
              </a:lnSpc>
              <a:spcBef>
                <a:spcPts val="480"/>
              </a:spcBef>
              <a:spcAft>
                <a:spcPts val="0"/>
              </a:spcAft>
              <a:buClr>
                <a:schemeClr val="dk1"/>
              </a:buClr>
              <a:buSzPts val="1800"/>
              <a:buFont typeface="Times New Roman"/>
              <a:buAutoNum type="romanLcPeriod" startAt="3"/>
            </a:pPr>
            <a:r>
              <a:rPr lang="en-US" sz="2400" b="0" i="0" u="none">
                <a:solidFill>
                  <a:schemeClr val="dk1"/>
                </a:solidFill>
                <a:latin typeface="Times New Roman"/>
                <a:ea typeface="Times New Roman"/>
                <a:cs typeface="Times New Roman"/>
                <a:sym typeface="Times New Roman"/>
              </a:rPr>
              <a:t>&lt;h1&gt;Updated from Host&lt;/h1&gt;</a:t>
            </a:r>
            <a:endParaRPr/>
          </a:p>
          <a:p>
            <a:pPr marL="0" marR="0" lvl="0" indent="-114300" algn="l" rtl="0">
              <a:lnSpc>
                <a:spcPct val="100000"/>
              </a:lnSpc>
              <a:spcBef>
                <a:spcPts val="480"/>
              </a:spcBef>
              <a:spcAft>
                <a:spcPts val="0"/>
              </a:spcAft>
              <a:buClr>
                <a:schemeClr val="dk1"/>
              </a:buClr>
              <a:buSzPts val="1800"/>
              <a:buFont typeface="Times New Roman"/>
              <a:buAutoNum type="romanLcPeriod" startAt="3"/>
            </a:pPr>
            <a:r>
              <a:rPr lang="en-US" sz="2400" b="0" i="0" u="none">
                <a:solidFill>
                  <a:schemeClr val="dk1"/>
                </a:solidFill>
                <a:latin typeface="Times New Roman"/>
                <a:ea typeface="Times New Roman"/>
                <a:cs typeface="Times New Roman"/>
                <a:sym typeface="Times New Roman"/>
              </a:rPr>
              <a:t>Refresh the browser and observe the change.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71"/>
          <p:cNvSpPr txBox="1"/>
          <p:nvPr/>
        </p:nvSpPr>
        <p:spPr>
          <a:xfrm>
            <a:off x="147925" y="100850"/>
            <a:ext cx="4530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a:solidFill>
                  <a:srgbClr val="188038"/>
                </a:solidFill>
                <a:latin typeface="Roboto Mono"/>
                <a:ea typeface="Roboto Mono"/>
                <a:cs typeface="Roboto Mono"/>
                <a:sym typeface="Roboto Mono"/>
              </a:rPr>
              <a:t>--network</a:t>
            </a:r>
            <a:r>
              <a:rPr lang="en-US" sz="1200" b="1"/>
              <a:t> in </a:t>
            </a:r>
            <a:r>
              <a:rPr lang="en-US" sz="1200" b="1">
                <a:solidFill>
                  <a:srgbClr val="188038"/>
                </a:solidFill>
                <a:latin typeface="Roboto Mono"/>
                <a:ea typeface="Roboto Mono"/>
                <a:cs typeface="Roboto Mono"/>
                <a:sym typeface="Roboto Mono"/>
              </a:rPr>
              <a:t>docker run</a:t>
            </a:r>
            <a:endParaRPr sz="1500" b="1"/>
          </a:p>
        </p:txBody>
      </p:sp>
      <p:sp>
        <p:nvSpPr>
          <p:cNvPr id="443" name="Google Shape;443;p71"/>
          <p:cNvSpPr txBox="1"/>
          <p:nvPr/>
        </p:nvSpPr>
        <p:spPr>
          <a:xfrm>
            <a:off x="0" y="0"/>
            <a:ext cx="5645700" cy="438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endParaRPr sz="1200" b="1"/>
          </a:p>
          <a:p>
            <a:pPr marL="0" lvl="0" indent="0" algn="l" rtl="0">
              <a:lnSpc>
                <a:spcPct val="115000"/>
              </a:lnSpc>
              <a:spcBef>
                <a:spcPts val="1200"/>
              </a:spcBef>
              <a:spcAft>
                <a:spcPts val="0"/>
              </a:spcAft>
              <a:buNone/>
            </a:pPr>
            <a:endParaRPr sz="1200" b="1"/>
          </a:p>
          <a:p>
            <a:pPr marL="0" lvl="0" indent="0" algn="l" rtl="0">
              <a:lnSpc>
                <a:spcPct val="115000"/>
              </a:lnSpc>
              <a:spcBef>
                <a:spcPts val="1200"/>
              </a:spcBef>
              <a:spcAft>
                <a:spcPts val="0"/>
              </a:spcAft>
              <a:buNone/>
            </a:pPr>
            <a:r>
              <a:rPr lang="en-US" sz="1200" b="1"/>
              <a:t>The </a:t>
            </a:r>
            <a:r>
              <a:rPr lang="en-US" sz="1200" b="1">
                <a:solidFill>
                  <a:srgbClr val="188038"/>
                </a:solidFill>
                <a:latin typeface="Roboto Mono"/>
                <a:ea typeface="Roboto Mono"/>
                <a:cs typeface="Roboto Mono"/>
                <a:sym typeface="Roboto Mono"/>
              </a:rPr>
              <a:t>--network</a:t>
            </a:r>
            <a:r>
              <a:rPr lang="en-US" sz="1200" b="1"/>
              <a:t> flag tells Docker how the container should connect to the network.</a:t>
            </a:r>
            <a:endParaRPr sz="1200" b="1"/>
          </a:p>
          <a:p>
            <a:pPr marL="0" marR="381000" lvl="0" indent="0" algn="l" rtl="0">
              <a:lnSpc>
                <a:spcPct val="115000"/>
              </a:lnSpc>
              <a:spcBef>
                <a:spcPts val="1200"/>
              </a:spcBef>
              <a:spcAft>
                <a:spcPts val="0"/>
              </a:spcAft>
              <a:buNone/>
            </a:pPr>
            <a:r>
              <a:rPr lang="en-US" sz="1200" b="1"/>
              <a:t>It decides how containers talk to each other, the host, and the outside world.</a:t>
            </a:r>
            <a:endParaRPr sz="1200" b="1"/>
          </a:p>
          <a:p>
            <a:pPr marL="0" marR="381000" lvl="0" indent="0" algn="l" rtl="0">
              <a:lnSpc>
                <a:spcPct val="115000"/>
              </a:lnSpc>
              <a:spcBef>
                <a:spcPts val="1200"/>
              </a:spcBef>
              <a:spcAft>
                <a:spcPts val="0"/>
              </a:spcAft>
              <a:buNone/>
            </a:pPr>
            <a:r>
              <a:rPr lang="en-US" sz="1800" b="1"/>
              <a:t>Syntax</a:t>
            </a:r>
            <a:endParaRPr sz="1800" b="1"/>
          </a:p>
          <a:p>
            <a:pPr marL="0" lvl="0" indent="0" algn="l" rtl="0">
              <a:spcBef>
                <a:spcPts val="1200"/>
              </a:spcBef>
              <a:spcAft>
                <a:spcPts val="0"/>
              </a:spcAft>
              <a:buNone/>
            </a:pPr>
            <a:r>
              <a:rPr lang="en-US" sz="1200" b="1">
                <a:solidFill>
                  <a:srgbClr val="188038"/>
                </a:solidFill>
                <a:latin typeface="Roboto Mono"/>
                <a:ea typeface="Roboto Mono"/>
                <a:cs typeface="Roboto Mono"/>
                <a:sym typeface="Roboto Mono"/>
              </a:rPr>
              <a:t>docker run --network &lt;network_name_or_mode&gt; IMAGE</a:t>
            </a:r>
            <a:endParaRPr sz="1200" b="1">
              <a:solidFill>
                <a:srgbClr val="188038"/>
              </a:solidFill>
              <a:latin typeface="Roboto Mono"/>
              <a:ea typeface="Roboto Mono"/>
              <a:cs typeface="Roboto Mono"/>
              <a:sym typeface="Roboto Mono"/>
            </a:endParaRPr>
          </a:p>
          <a:p>
            <a:pPr marL="0" lvl="0" indent="0" algn="l" rtl="0">
              <a:spcBef>
                <a:spcPts val="0"/>
              </a:spcBef>
              <a:spcAft>
                <a:spcPts val="0"/>
              </a:spcAft>
              <a:buNone/>
            </a:pPr>
            <a:r>
              <a:rPr lang="en-US" sz="1200" b="1">
                <a:solidFill>
                  <a:srgbClr val="188038"/>
                </a:solidFill>
                <a:latin typeface="Roboto Mono"/>
                <a:ea typeface="Roboto Mono"/>
                <a:cs typeface="Roboto Mono"/>
                <a:sym typeface="Roboto Mono"/>
              </a:rPr>
              <a:t>docker run --net &lt;network_name_or_mode&gt; IMAGE</a:t>
            </a:r>
            <a:endParaRPr sz="1200" b="1">
              <a:solidFill>
                <a:srgbClr val="188038"/>
              </a:solidFill>
              <a:latin typeface="Roboto Mono"/>
              <a:ea typeface="Roboto Mono"/>
              <a:cs typeface="Roboto Mono"/>
              <a:sym typeface="Roboto Mono"/>
            </a:endParaRPr>
          </a:p>
          <a:p>
            <a:pPr marL="0" lvl="0" indent="0" algn="l" rtl="0">
              <a:lnSpc>
                <a:spcPct val="115000"/>
              </a:lnSpc>
              <a:spcBef>
                <a:spcPts val="1800"/>
              </a:spcBef>
              <a:spcAft>
                <a:spcPts val="0"/>
              </a:spcAft>
              <a:buNone/>
            </a:pPr>
            <a:r>
              <a:rPr lang="en-US" sz="1800" b="1"/>
              <a:t>Default behavior (important concept)</a:t>
            </a:r>
            <a:endParaRPr sz="1800" b="1"/>
          </a:p>
          <a:p>
            <a:pPr marL="0" lvl="0" indent="0" algn="l" rtl="0">
              <a:lnSpc>
                <a:spcPct val="115000"/>
              </a:lnSpc>
              <a:spcBef>
                <a:spcPts val="1200"/>
              </a:spcBef>
              <a:spcAft>
                <a:spcPts val="0"/>
              </a:spcAft>
              <a:buNone/>
            </a:pPr>
            <a:r>
              <a:rPr lang="en-US" sz="1200" b="1"/>
              <a:t>If you do not specify </a:t>
            </a:r>
            <a:r>
              <a:rPr lang="en-US" sz="1200" b="1">
                <a:solidFill>
                  <a:srgbClr val="188038"/>
                </a:solidFill>
                <a:latin typeface="Roboto Mono"/>
                <a:ea typeface="Roboto Mono"/>
                <a:cs typeface="Roboto Mono"/>
                <a:sym typeface="Roboto Mono"/>
              </a:rPr>
              <a:t>--network</a:t>
            </a:r>
            <a:r>
              <a:rPr lang="en-US" sz="1200" b="1"/>
              <a:t>, Docker automatically connects the container to:</a:t>
            </a:r>
            <a:endParaRPr sz="1200" b="1"/>
          </a:p>
          <a:p>
            <a:pPr marL="0" lvl="0" indent="0" algn="l" rtl="0">
              <a:lnSpc>
                <a:spcPct val="115000"/>
              </a:lnSpc>
              <a:spcBef>
                <a:spcPts val="1200"/>
              </a:spcBef>
              <a:spcAft>
                <a:spcPts val="0"/>
              </a:spcAft>
              <a:buNone/>
            </a:pPr>
            <a:r>
              <a:rPr lang="en-US" sz="1200" b="1">
                <a:solidFill>
                  <a:srgbClr val="188038"/>
                </a:solidFill>
                <a:latin typeface="Roboto Mono"/>
                <a:ea typeface="Roboto Mono"/>
                <a:cs typeface="Roboto Mono"/>
                <a:sym typeface="Roboto Mono"/>
              </a:rPr>
              <a:t>bridge network</a:t>
            </a:r>
            <a:endParaRPr sz="1200" b="1">
              <a:solidFill>
                <a:srgbClr val="188038"/>
              </a:solidFill>
              <a:latin typeface="Roboto Mono"/>
              <a:ea typeface="Roboto Mono"/>
              <a:cs typeface="Roboto Mono"/>
              <a:sym typeface="Roboto Mono"/>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72"/>
          <p:cNvSpPr txBox="1">
            <a:spLocks noGrp="1"/>
          </p:cNvSpPr>
          <p:nvPr>
            <p:ph type="title"/>
          </p:nvPr>
        </p:nvSpPr>
        <p:spPr>
          <a:xfrm>
            <a:off x="0" y="237225"/>
            <a:ext cx="7588200" cy="448500"/>
          </a:xfrm>
          <a:prstGeom prst="rect">
            <a:avLst/>
          </a:prstGeom>
        </p:spPr>
        <p:txBody>
          <a:bodyPr spcFirstLastPara="1" wrap="square" lIns="91425" tIns="45700" rIns="91425" bIns="45700" anchor="b" anchorCtr="0">
            <a:noAutofit/>
          </a:bodyPr>
          <a:lstStyle/>
          <a:p>
            <a:pPr marL="0" lvl="0" indent="0" algn="l" rtl="0">
              <a:lnSpc>
                <a:spcPct val="115000"/>
              </a:lnSpc>
              <a:spcBef>
                <a:spcPts val="2400"/>
              </a:spcBef>
              <a:spcAft>
                <a:spcPts val="0"/>
              </a:spcAft>
              <a:buNone/>
            </a:pPr>
            <a:endParaRPr sz="1800" b="1">
              <a:solidFill>
                <a:srgbClr val="000000"/>
              </a:solidFill>
              <a:latin typeface="Arial"/>
              <a:ea typeface="Arial"/>
              <a:cs typeface="Arial"/>
              <a:sym typeface="Arial"/>
            </a:endParaRPr>
          </a:p>
          <a:p>
            <a:pPr marL="0" lvl="0" indent="0" algn="l" rtl="0">
              <a:lnSpc>
                <a:spcPct val="115000"/>
              </a:lnSpc>
              <a:spcBef>
                <a:spcPts val="2400"/>
              </a:spcBef>
              <a:spcAft>
                <a:spcPts val="0"/>
              </a:spcAft>
              <a:buNone/>
            </a:pPr>
            <a:endParaRPr sz="1800" b="1">
              <a:solidFill>
                <a:srgbClr val="000000"/>
              </a:solidFill>
              <a:latin typeface="Arial"/>
              <a:ea typeface="Arial"/>
              <a:cs typeface="Arial"/>
              <a:sym typeface="Arial"/>
            </a:endParaRPr>
          </a:p>
          <a:p>
            <a:pPr marL="0" lvl="0" indent="0" algn="l" rtl="0">
              <a:lnSpc>
                <a:spcPct val="115000"/>
              </a:lnSpc>
              <a:spcBef>
                <a:spcPts val="2400"/>
              </a:spcBef>
              <a:spcAft>
                <a:spcPts val="0"/>
              </a:spcAft>
              <a:buNone/>
            </a:pPr>
            <a:endParaRPr sz="1800" b="1">
              <a:solidFill>
                <a:srgbClr val="188038"/>
              </a:solidFill>
              <a:latin typeface="Roboto Mono"/>
              <a:ea typeface="Roboto Mono"/>
              <a:cs typeface="Roboto Mono"/>
              <a:sym typeface="Roboto Mono"/>
            </a:endParaRPr>
          </a:p>
          <a:p>
            <a:pPr marL="0" lvl="0" indent="0" algn="l" rtl="0">
              <a:lnSpc>
                <a:spcPct val="115000"/>
              </a:lnSpc>
              <a:spcBef>
                <a:spcPts val="2400"/>
              </a:spcBef>
              <a:spcAft>
                <a:spcPts val="600"/>
              </a:spcAft>
              <a:buNone/>
            </a:pPr>
            <a:r>
              <a:rPr lang="en-US" sz="1800" b="1">
                <a:solidFill>
                  <a:srgbClr val="000000"/>
                </a:solidFill>
                <a:latin typeface="Arial"/>
                <a:ea typeface="Arial"/>
                <a:cs typeface="Arial"/>
                <a:sym typeface="Arial"/>
              </a:rPr>
              <a:t>Types of Docker networks you can use with </a:t>
            </a:r>
            <a:r>
              <a:rPr lang="en-US" sz="1800" b="1">
                <a:solidFill>
                  <a:srgbClr val="188038"/>
                </a:solidFill>
                <a:latin typeface="Roboto Mono"/>
                <a:ea typeface="Roboto Mono"/>
                <a:cs typeface="Roboto Mono"/>
                <a:sym typeface="Roboto Mono"/>
              </a:rPr>
              <a:t>--network</a:t>
            </a:r>
            <a:endParaRPr sz="2000"/>
          </a:p>
        </p:txBody>
      </p:sp>
      <p:sp>
        <p:nvSpPr>
          <p:cNvPr id="450" name="Google Shape;450;p72"/>
          <p:cNvSpPr txBox="1">
            <a:spLocks noGrp="1"/>
          </p:cNvSpPr>
          <p:nvPr>
            <p:ph type="body" idx="1"/>
          </p:nvPr>
        </p:nvSpPr>
        <p:spPr>
          <a:xfrm>
            <a:off x="609600" y="1266825"/>
            <a:ext cx="8305800" cy="4905300"/>
          </a:xfrm>
          <a:prstGeom prst="rect">
            <a:avLst/>
          </a:prstGeom>
        </p:spPr>
        <p:txBody>
          <a:bodyPr spcFirstLastPara="1" wrap="square" lIns="91425" tIns="45700" rIns="91425" bIns="45700" anchor="t" anchorCtr="0">
            <a:noAutofit/>
          </a:bodyPr>
          <a:lstStyle/>
          <a:p>
            <a:pPr marL="457200" lvl="0" indent="-349250" algn="l" rtl="0">
              <a:lnSpc>
                <a:spcPct val="200000"/>
              </a:lnSpc>
              <a:spcBef>
                <a:spcPts val="480"/>
              </a:spcBef>
              <a:spcAft>
                <a:spcPts val="0"/>
              </a:spcAft>
              <a:buSzPts val="1900"/>
              <a:buAutoNum type="arabicPeriod"/>
            </a:pPr>
            <a:r>
              <a:rPr lang="en-US" sz="1900"/>
              <a:t>Bridge network (DEFAULT)</a:t>
            </a:r>
            <a:endParaRPr sz="1900"/>
          </a:p>
          <a:p>
            <a:pPr marL="457200" lvl="0" indent="-349250" algn="l" rtl="0">
              <a:lnSpc>
                <a:spcPct val="200000"/>
              </a:lnSpc>
              <a:spcBef>
                <a:spcPts val="0"/>
              </a:spcBef>
              <a:spcAft>
                <a:spcPts val="0"/>
              </a:spcAft>
              <a:buSzPts val="1900"/>
              <a:buAutoNum type="arabicPeriod"/>
            </a:pPr>
            <a:r>
              <a:rPr lang="en-US" sz="1900"/>
              <a:t>User-defined bridge network</a:t>
            </a:r>
            <a:endParaRPr sz="1900"/>
          </a:p>
          <a:p>
            <a:pPr marL="457200" lvl="0" indent="-349250" algn="l" rtl="0">
              <a:lnSpc>
                <a:spcPct val="200000"/>
              </a:lnSpc>
              <a:spcBef>
                <a:spcPts val="0"/>
              </a:spcBef>
              <a:spcAft>
                <a:spcPts val="0"/>
              </a:spcAft>
              <a:buSzPts val="1900"/>
              <a:buAutoNum type="arabicPeriod"/>
            </a:pPr>
            <a:r>
              <a:rPr lang="en-US" sz="1900"/>
              <a:t>Host network</a:t>
            </a:r>
            <a:endParaRPr sz="1900"/>
          </a:p>
          <a:p>
            <a:pPr marL="457200" lvl="0" indent="-349250" algn="l" rtl="0">
              <a:lnSpc>
                <a:spcPct val="200000"/>
              </a:lnSpc>
              <a:spcBef>
                <a:spcPts val="0"/>
              </a:spcBef>
              <a:spcAft>
                <a:spcPts val="0"/>
              </a:spcAft>
              <a:buSzPts val="1900"/>
              <a:buAutoNum type="arabicPeriod"/>
            </a:pPr>
            <a:r>
              <a:rPr lang="en-US" sz="1900"/>
              <a:t>None network</a:t>
            </a:r>
            <a:endParaRPr sz="1900"/>
          </a:p>
          <a:p>
            <a:pPr marL="457200" lvl="0" indent="-349250" algn="l" rtl="0">
              <a:lnSpc>
                <a:spcPct val="200000"/>
              </a:lnSpc>
              <a:spcBef>
                <a:spcPts val="0"/>
              </a:spcBef>
              <a:spcAft>
                <a:spcPts val="0"/>
              </a:spcAft>
              <a:buSzPts val="1900"/>
              <a:buAutoNum type="arabicPeriod"/>
            </a:pPr>
            <a:r>
              <a:rPr lang="en-US" sz="1900"/>
              <a:t>Overlay Network</a:t>
            </a:r>
            <a:endParaRPr sz="19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73"/>
          <p:cNvSpPr txBox="1">
            <a:spLocks noGrp="1"/>
          </p:cNvSpPr>
          <p:nvPr>
            <p:ph type="title"/>
          </p:nvPr>
        </p:nvSpPr>
        <p:spPr>
          <a:xfrm>
            <a:off x="0" y="0"/>
            <a:ext cx="7588200" cy="6858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US"/>
              <a:t>Comaprison among all</a:t>
            </a:r>
            <a:endParaRPr/>
          </a:p>
        </p:txBody>
      </p:sp>
      <p:pic>
        <p:nvPicPr>
          <p:cNvPr id="457" name="Google Shape;457;p73"/>
          <p:cNvPicPr preferRelativeResize="0"/>
          <p:nvPr/>
        </p:nvPicPr>
        <p:blipFill>
          <a:blip r:embed="rId3">
            <a:alphaModFix/>
          </a:blip>
          <a:stretch>
            <a:fillRect/>
          </a:stretch>
        </p:blipFill>
        <p:spPr>
          <a:xfrm>
            <a:off x="397775" y="1045850"/>
            <a:ext cx="7720700" cy="29051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74"/>
          <p:cNvSpPr txBox="1">
            <a:spLocks noGrp="1"/>
          </p:cNvSpPr>
          <p:nvPr>
            <p:ph type="title"/>
          </p:nvPr>
        </p:nvSpPr>
        <p:spPr>
          <a:xfrm>
            <a:off x="0" y="0"/>
            <a:ext cx="7588200" cy="6858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464" name="Google Shape;464;p74"/>
          <p:cNvSpPr txBox="1">
            <a:spLocks noGrp="1"/>
          </p:cNvSpPr>
          <p:nvPr>
            <p:ph type="body" idx="1"/>
          </p:nvPr>
        </p:nvSpPr>
        <p:spPr>
          <a:xfrm>
            <a:off x="609600" y="1266825"/>
            <a:ext cx="8305800" cy="4905300"/>
          </a:xfrm>
          <a:prstGeom prst="rect">
            <a:avLst/>
          </a:prstGeom>
        </p:spPr>
        <p:txBody>
          <a:bodyPr spcFirstLastPara="1" wrap="square" lIns="91425" tIns="45700" rIns="91425" bIns="45700" anchor="t" anchorCtr="0">
            <a:noAutofit/>
          </a:bodyPr>
          <a:lstStyle/>
          <a:p>
            <a:pPr marL="0" lvl="0" indent="0" algn="l" rtl="0">
              <a:lnSpc>
                <a:spcPct val="115000"/>
              </a:lnSpc>
              <a:spcBef>
                <a:spcPts val="2400"/>
              </a:spcBef>
              <a:spcAft>
                <a:spcPts val="0"/>
              </a:spcAft>
              <a:buNone/>
            </a:pPr>
            <a:r>
              <a:rPr lang="en-US" sz="3100" b="1">
                <a:solidFill>
                  <a:srgbClr val="000000"/>
                </a:solidFill>
              </a:rPr>
              <a:t>Real-life analogy</a:t>
            </a:r>
            <a:endParaRPr sz="3100" b="1">
              <a:solidFill>
                <a:srgbClr val="000000"/>
              </a:solidFill>
            </a:endParaRPr>
          </a:p>
          <a:p>
            <a:pPr marL="457200" lvl="0" indent="-349250" algn="l" rtl="0">
              <a:lnSpc>
                <a:spcPct val="115000"/>
              </a:lnSpc>
              <a:spcBef>
                <a:spcPts val="1900"/>
              </a:spcBef>
              <a:spcAft>
                <a:spcPts val="0"/>
              </a:spcAft>
              <a:buClr>
                <a:srgbClr val="000000"/>
              </a:buClr>
              <a:buSzPts val="1900"/>
              <a:buFont typeface="Times New Roman"/>
              <a:buChar char="●"/>
            </a:pPr>
            <a:r>
              <a:rPr lang="en-US" sz="1900" b="1">
                <a:solidFill>
                  <a:srgbClr val="000000"/>
                </a:solidFill>
              </a:rPr>
              <a:t>bridge</a:t>
            </a:r>
            <a:r>
              <a:rPr lang="en-US" sz="1900">
                <a:solidFill>
                  <a:srgbClr val="000000"/>
                </a:solidFill>
              </a:rPr>
              <a:t> → Private apartment with gate</a:t>
            </a:r>
            <a:br>
              <a:rPr lang="en-US" sz="1900">
                <a:solidFill>
                  <a:srgbClr val="000000"/>
                </a:solidFill>
              </a:rPr>
            </a:br>
            <a:endParaRPr sz="1900">
              <a:solidFill>
                <a:srgbClr val="000000"/>
              </a:solidFill>
            </a:endParaRPr>
          </a:p>
          <a:p>
            <a:pPr marL="457200" lvl="0" indent="-349250" algn="l" rtl="0">
              <a:lnSpc>
                <a:spcPct val="115000"/>
              </a:lnSpc>
              <a:spcBef>
                <a:spcPts val="0"/>
              </a:spcBef>
              <a:spcAft>
                <a:spcPts val="0"/>
              </a:spcAft>
              <a:buClr>
                <a:srgbClr val="000000"/>
              </a:buClr>
              <a:buSzPts val="1900"/>
              <a:buFont typeface="Times New Roman"/>
              <a:buChar char="●"/>
            </a:pPr>
            <a:r>
              <a:rPr lang="en-US" sz="1900" b="1">
                <a:solidFill>
                  <a:srgbClr val="000000"/>
                </a:solidFill>
              </a:rPr>
              <a:t>user-defined bridge</a:t>
            </a:r>
            <a:r>
              <a:rPr lang="en-US" sz="1900">
                <a:solidFill>
                  <a:srgbClr val="000000"/>
                </a:solidFill>
              </a:rPr>
              <a:t> → Office LAN</a:t>
            </a:r>
            <a:br>
              <a:rPr lang="en-US" sz="1900">
                <a:solidFill>
                  <a:srgbClr val="000000"/>
                </a:solidFill>
              </a:rPr>
            </a:br>
            <a:endParaRPr sz="1900">
              <a:solidFill>
                <a:srgbClr val="000000"/>
              </a:solidFill>
            </a:endParaRPr>
          </a:p>
          <a:p>
            <a:pPr marL="457200" lvl="0" indent="-349250" algn="l" rtl="0">
              <a:lnSpc>
                <a:spcPct val="115000"/>
              </a:lnSpc>
              <a:spcBef>
                <a:spcPts val="0"/>
              </a:spcBef>
              <a:spcAft>
                <a:spcPts val="0"/>
              </a:spcAft>
              <a:buClr>
                <a:srgbClr val="000000"/>
              </a:buClr>
              <a:buSzPts val="1900"/>
              <a:buFont typeface="Times New Roman"/>
              <a:buChar char="●"/>
            </a:pPr>
            <a:r>
              <a:rPr lang="en-US" sz="1900" b="1">
                <a:solidFill>
                  <a:srgbClr val="000000"/>
                </a:solidFill>
              </a:rPr>
              <a:t>host</a:t>
            </a:r>
            <a:r>
              <a:rPr lang="en-US" sz="1900">
                <a:solidFill>
                  <a:srgbClr val="000000"/>
                </a:solidFill>
              </a:rPr>
              <a:t> → Living directly on main road</a:t>
            </a:r>
            <a:br>
              <a:rPr lang="en-US" sz="1900">
                <a:solidFill>
                  <a:srgbClr val="000000"/>
                </a:solidFill>
              </a:rPr>
            </a:br>
            <a:endParaRPr sz="1900">
              <a:solidFill>
                <a:srgbClr val="000000"/>
              </a:solidFill>
            </a:endParaRPr>
          </a:p>
          <a:p>
            <a:pPr marL="457200" lvl="0" indent="-349250" algn="l" rtl="0">
              <a:lnSpc>
                <a:spcPct val="115000"/>
              </a:lnSpc>
              <a:spcBef>
                <a:spcPts val="0"/>
              </a:spcBef>
              <a:spcAft>
                <a:spcPts val="0"/>
              </a:spcAft>
              <a:buClr>
                <a:srgbClr val="000000"/>
              </a:buClr>
              <a:buSzPts val="1900"/>
              <a:buFont typeface="Times New Roman"/>
              <a:buChar char="●"/>
            </a:pPr>
            <a:r>
              <a:rPr lang="en-US" sz="1900" b="1">
                <a:solidFill>
                  <a:srgbClr val="000000"/>
                </a:solidFill>
              </a:rPr>
              <a:t>none</a:t>
            </a:r>
            <a:r>
              <a:rPr lang="en-US" sz="1900">
                <a:solidFill>
                  <a:srgbClr val="000000"/>
                </a:solidFill>
              </a:rPr>
              <a:t> → No phone, no internet</a:t>
            </a:r>
            <a:endParaRPr sz="1900">
              <a:solidFill>
                <a:srgbClr val="00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75"/>
          <p:cNvSpPr txBox="1">
            <a:spLocks noGrp="1"/>
          </p:cNvSpPr>
          <p:nvPr>
            <p:ph type="title"/>
          </p:nvPr>
        </p:nvSpPr>
        <p:spPr>
          <a:xfrm>
            <a:off x="0" y="0"/>
            <a:ext cx="7588200" cy="6858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US"/>
              <a:t>Need of User-Defined Network </a:t>
            </a:r>
            <a:endParaRPr/>
          </a:p>
        </p:txBody>
      </p:sp>
      <p:sp>
        <p:nvSpPr>
          <p:cNvPr id="471" name="Google Shape;471;p75"/>
          <p:cNvSpPr txBox="1">
            <a:spLocks noGrp="1"/>
          </p:cNvSpPr>
          <p:nvPr>
            <p:ph type="body" idx="1"/>
          </p:nvPr>
        </p:nvSpPr>
        <p:spPr>
          <a:xfrm>
            <a:off x="609600" y="1266825"/>
            <a:ext cx="8305800" cy="4905300"/>
          </a:xfrm>
          <a:prstGeom prst="rect">
            <a:avLst/>
          </a:prstGeom>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457200" lvl="0" indent="-298450" algn="l" rtl="0">
              <a:lnSpc>
                <a:spcPct val="115000"/>
              </a:lnSpc>
              <a:spcBef>
                <a:spcPts val="1200"/>
              </a:spcBef>
              <a:spcAft>
                <a:spcPts val="0"/>
              </a:spcAft>
              <a:buClr>
                <a:srgbClr val="000000"/>
              </a:buClr>
              <a:buSzPts val="1100"/>
              <a:buChar char="●"/>
            </a:pPr>
            <a:r>
              <a:rPr lang="en-US" sz="1100">
                <a:solidFill>
                  <a:srgbClr val="000000"/>
                </a:solidFill>
                <a:latin typeface="Arial"/>
                <a:ea typeface="Arial"/>
                <a:cs typeface="Arial"/>
                <a:sym typeface="Arial"/>
              </a:rPr>
              <a:t>Automatic </a:t>
            </a:r>
            <a:r>
              <a:rPr lang="en-US" sz="1100" b="1">
                <a:solidFill>
                  <a:srgbClr val="000000"/>
                </a:solidFill>
                <a:latin typeface="Arial"/>
                <a:ea typeface="Arial"/>
                <a:cs typeface="Arial"/>
                <a:sym typeface="Arial"/>
              </a:rPr>
              <a:t>DNS-based container name resolution</a:t>
            </a:r>
            <a:br>
              <a:rPr lang="en-US" sz="1100" b="1">
                <a:solidFill>
                  <a:srgbClr val="000000"/>
                </a:solidFill>
                <a:latin typeface="Arial"/>
                <a:ea typeface="Arial"/>
                <a:cs typeface="Arial"/>
                <a:sym typeface="Arial"/>
              </a:rPr>
            </a:br>
            <a:endParaRPr sz="1100" b="1">
              <a:solidFill>
                <a:srgbClr val="000000"/>
              </a:solidFill>
              <a:latin typeface="Arial"/>
              <a:ea typeface="Arial"/>
              <a:cs typeface="Arial"/>
              <a:sym typeface="Arial"/>
            </a:endParaRPr>
          </a:p>
          <a:p>
            <a:pPr marL="457200" lvl="0" indent="-298450" algn="l" rtl="0">
              <a:lnSpc>
                <a:spcPct val="115000"/>
              </a:lnSpc>
              <a:spcBef>
                <a:spcPts val="0"/>
              </a:spcBef>
              <a:spcAft>
                <a:spcPts val="0"/>
              </a:spcAft>
              <a:buClr>
                <a:srgbClr val="000000"/>
              </a:buClr>
              <a:buSzPts val="1100"/>
              <a:buChar char="●"/>
            </a:pPr>
            <a:r>
              <a:rPr lang="en-US" sz="1100">
                <a:solidFill>
                  <a:srgbClr val="000000"/>
                </a:solidFill>
                <a:latin typeface="Arial"/>
                <a:ea typeface="Arial"/>
                <a:cs typeface="Arial"/>
                <a:sym typeface="Arial"/>
              </a:rPr>
              <a:t>Clean microservices communication</a:t>
            </a:r>
            <a:br>
              <a:rPr lang="en-U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457200" lvl="0" indent="-298450" algn="l" rtl="0">
              <a:lnSpc>
                <a:spcPct val="115000"/>
              </a:lnSpc>
              <a:spcBef>
                <a:spcPts val="0"/>
              </a:spcBef>
              <a:spcAft>
                <a:spcPts val="0"/>
              </a:spcAft>
              <a:buClr>
                <a:srgbClr val="000000"/>
              </a:buClr>
              <a:buSzPts val="1100"/>
              <a:buChar char="●"/>
            </a:pPr>
            <a:r>
              <a:rPr lang="en-US" sz="1100">
                <a:solidFill>
                  <a:srgbClr val="000000"/>
                </a:solidFill>
                <a:latin typeface="Arial"/>
                <a:ea typeface="Arial"/>
                <a:cs typeface="Arial"/>
                <a:sym typeface="Arial"/>
              </a:rPr>
              <a:t>Isolation + flexibility</a:t>
            </a:r>
            <a:br>
              <a:rPr lang="en-U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sz="1100">
                <a:solidFill>
                  <a:srgbClr val="000000"/>
                </a:solidFill>
                <a:latin typeface="Arial"/>
                <a:ea typeface="Arial"/>
                <a:cs typeface="Arial"/>
                <a:sym typeface="Arial"/>
              </a:rPr>
              <a:t>For this : </a:t>
            </a:r>
            <a:endParaRPr sz="1100">
              <a:solidFill>
                <a:srgbClr val="000000"/>
              </a:solidFill>
              <a:latin typeface="Arial"/>
              <a:ea typeface="Arial"/>
              <a:cs typeface="Arial"/>
              <a:sym typeface="Arial"/>
            </a:endParaRPr>
          </a:p>
          <a:p>
            <a:pPr marL="0" lvl="0" indent="0" algn="l" rtl="0">
              <a:lnSpc>
                <a:spcPct val="115000"/>
              </a:lnSpc>
              <a:spcBef>
                <a:spcPts val="1400"/>
              </a:spcBef>
              <a:spcAft>
                <a:spcPts val="0"/>
              </a:spcAft>
              <a:buNone/>
            </a:pPr>
            <a:r>
              <a:rPr lang="en-US" sz="1300" b="1">
                <a:solidFill>
                  <a:srgbClr val="000000"/>
                </a:solidFill>
                <a:latin typeface="Arial"/>
                <a:ea typeface="Arial"/>
                <a:cs typeface="Arial"/>
                <a:sym typeface="Arial"/>
              </a:rPr>
              <a:t>Create a custom network</a:t>
            </a:r>
            <a:endParaRPr sz="1300" b="1">
              <a:solidFill>
                <a:srgbClr val="000000"/>
              </a:solidFill>
              <a:latin typeface="Arial"/>
              <a:ea typeface="Arial"/>
              <a:cs typeface="Arial"/>
              <a:sym typeface="Arial"/>
            </a:endParaRPr>
          </a:p>
          <a:p>
            <a:pPr marL="0" lvl="0" indent="0" algn="l" rtl="0">
              <a:spcBef>
                <a:spcPts val="480"/>
              </a:spcBef>
              <a:spcAft>
                <a:spcPts val="0"/>
              </a:spcAft>
              <a:buNone/>
            </a:pPr>
            <a:r>
              <a:rPr lang="en-US" sz="1100">
                <a:solidFill>
                  <a:srgbClr val="FF0000"/>
                </a:solidFill>
                <a:latin typeface="Roboto Mono"/>
                <a:ea typeface="Roboto Mono"/>
                <a:cs typeface="Roboto Mono"/>
                <a:sym typeface="Roboto Mono"/>
              </a:rPr>
              <a:t>docker network create mynet</a:t>
            </a:r>
            <a:endParaRPr sz="1100">
              <a:solidFill>
                <a:srgbClr val="FF0000"/>
              </a:solidFill>
              <a:latin typeface="Roboto Mono"/>
              <a:ea typeface="Roboto Mono"/>
              <a:cs typeface="Roboto Mono"/>
              <a:sym typeface="Roboto Mono"/>
            </a:endParaRPr>
          </a:p>
          <a:p>
            <a:pPr marL="0" lvl="0" indent="0" algn="l" rtl="0">
              <a:lnSpc>
                <a:spcPct val="115000"/>
              </a:lnSpc>
              <a:spcBef>
                <a:spcPts val="1400"/>
              </a:spcBef>
              <a:spcAft>
                <a:spcPts val="0"/>
              </a:spcAft>
              <a:buNone/>
            </a:pPr>
            <a:r>
              <a:rPr lang="en-US" sz="1300" b="1">
                <a:solidFill>
                  <a:srgbClr val="000000"/>
                </a:solidFill>
                <a:latin typeface="Arial"/>
                <a:ea typeface="Arial"/>
                <a:cs typeface="Arial"/>
                <a:sym typeface="Arial"/>
              </a:rPr>
              <a:t>Run containers on same network</a:t>
            </a:r>
            <a:endParaRPr sz="1300" b="1">
              <a:solidFill>
                <a:srgbClr val="000000"/>
              </a:solidFill>
              <a:latin typeface="Arial"/>
              <a:ea typeface="Arial"/>
              <a:cs typeface="Arial"/>
              <a:sym typeface="Arial"/>
            </a:endParaRPr>
          </a:p>
          <a:p>
            <a:pPr marL="0" lvl="0" indent="0" algn="l" rtl="0">
              <a:spcBef>
                <a:spcPts val="480"/>
              </a:spcBef>
              <a:spcAft>
                <a:spcPts val="0"/>
              </a:spcAft>
              <a:buNone/>
            </a:pPr>
            <a:r>
              <a:rPr lang="en-US" sz="1100">
                <a:solidFill>
                  <a:srgbClr val="188038"/>
                </a:solidFill>
                <a:latin typeface="Roboto Mono"/>
                <a:ea typeface="Roboto Mono"/>
                <a:cs typeface="Roboto Mono"/>
                <a:sym typeface="Roboto Mono"/>
              </a:rPr>
              <a:t>docker run -d --name app --network mynet nginx</a:t>
            </a:r>
            <a:endParaRPr sz="11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US" sz="1100">
                <a:solidFill>
                  <a:srgbClr val="188038"/>
                </a:solidFill>
                <a:latin typeface="Roboto Mono"/>
                <a:ea typeface="Roboto Mono"/>
                <a:cs typeface="Roboto Mono"/>
                <a:sym typeface="Roboto Mono"/>
              </a:rPr>
              <a:t>docker run -d --name db  --network mynet mysql</a:t>
            </a:r>
            <a:endParaRPr sz="1100">
              <a:solidFill>
                <a:srgbClr val="188038"/>
              </a:solidFill>
              <a:latin typeface="Roboto Mono"/>
              <a:ea typeface="Roboto Mono"/>
              <a:cs typeface="Roboto Mono"/>
              <a:sym typeface="Roboto Mono"/>
            </a:endParaRPr>
          </a:p>
          <a:p>
            <a:pPr marL="0" lvl="0" indent="0" algn="l" rtl="0">
              <a:spcBef>
                <a:spcPts val="480"/>
              </a:spcBef>
              <a:spcAft>
                <a:spcPts val="0"/>
              </a:spcAft>
              <a:buNone/>
            </a:pPr>
            <a:endParaRPr sz="17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76"/>
          <p:cNvSpPr txBox="1">
            <a:spLocks noGrp="1"/>
          </p:cNvSpPr>
          <p:nvPr>
            <p:ph type="title"/>
          </p:nvPr>
        </p:nvSpPr>
        <p:spPr>
          <a:xfrm>
            <a:off x="0" y="0"/>
            <a:ext cx="7588200" cy="6858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n-US"/>
              <a:t>When to use Host Network </a:t>
            </a:r>
            <a:endParaRPr/>
          </a:p>
        </p:txBody>
      </p:sp>
      <p:sp>
        <p:nvSpPr>
          <p:cNvPr id="478" name="Google Shape;478;p76"/>
          <p:cNvSpPr txBox="1">
            <a:spLocks noGrp="1"/>
          </p:cNvSpPr>
          <p:nvPr>
            <p:ph type="body" idx="1"/>
          </p:nvPr>
        </p:nvSpPr>
        <p:spPr>
          <a:xfrm>
            <a:off x="285750" y="3875700"/>
            <a:ext cx="8572500" cy="34059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endParaRPr sz="1800"/>
          </a:p>
        </p:txBody>
      </p:sp>
      <p:sp>
        <p:nvSpPr>
          <p:cNvPr id="479" name="Google Shape;479;p76"/>
          <p:cNvSpPr txBox="1"/>
          <p:nvPr/>
        </p:nvSpPr>
        <p:spPr>
          <a:xfrm>
            <a:off x="0" y="1134975"/>
            <a:ext cx="8258700" cy="37485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1800"/>
              </a:spcBef>
              <a:spcAft>
                <a:spcPts val="0"/>
              </a:spcAft>
              <a:buSzPts val="1800"/>
              <a:buFont typeface="Times New Roman"/>
              <a:buChar char="●"/>
            </a:pPr>
            <a:r>
              <a:rPr lang="en-US" sz="1800">
                <a:latin typeface="Times New Roman"/>
                <a:ea typeface="Times New Roman"/>
                <a:cs typeface="Times New Roman"/>
                <a:sym typeface="Times New Roman"/>
              </a:rPr>
              <a:t>Container </a:t>
            </a:r>
            <a:r>
              <a:rPr lang="en-US" sz="1800" b="1">
                <a:latin typeface="Times New Roman"/>
                <a:ea typeface="Times New Roman"/>
                <a:cs typeface="Times New Roman"/>
                <a:sym typeface="Times New Roman"/>
              </a:rPr>
              <a:t>shares host’s network stack</a:t>
            </a:r>
            <a:br>
              <a:rPr lang="en-US" sz="1800" b="1">
                <a:latin typeface="Times New Roman"/>
                <a:ea typeface="Times New Roman"/>
                <a:cs typeface="Times New Roman"/>
                <a:sym typeface="Times New Roman"/>
              </a:rPr>
            </a:br>
            <a:endParaRPr sz="1800" b="1">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No separate IP for container</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Ports are exposed directly on host</a:t>
            </a:r>
            <a:endParaRPr sz="1800">
              <a:latin typeface="Times New Roman"/>
              <a:ea typeface="Times New Roman"/>
              <a:cs typeface="Times New Roman"/>
              <a:sym typeface="Times New Roman"/>
            </a:endParaRPr>
          </a:p>
          <a:p>
            <a:pPr marL="0" lvl="0" indent="0" algn="l" rtl="0">
              <a:lnSpc>
                <a:spcPct val="115000"/>
              </a:lnSpc>
              <a:spcBef>
                <a:spcPts val="1800"/>
              </a:spcBef>
              <a:spcAft>
                <a:spcPts val="0"/>
              </a:spcAft>
              <a:buNone/>
            </a:pPr>
            <a:r>
              <a:rPr lang="en-US" sz="2000" b="1">
                <a:latin typeface="Times New Roman"/>
                <a:ea typeface="Times New Roman"/>
                <a:cs typeface="Times New Roman"/>
                <a:sym typeface="Times New Roman"/>
              </a:rPr>
              <a:t>Example</a:t>
            </a:r>
            <a:endParaRPr sz="2000" b="1">
              <a:latin typeface="Times New Roman"/>
              <a:ea typeface="Times New Roman"/>
              <a:cs typeface="Times New Roman"/>
              <a:sym typeface="Times New Roman"/>
            </a:endParaRPr>
          </a:p>
          <a:p>
            <a:pPr marL="0" lvl="0" indent="0" algn="l" rtl="0">
              <a:spcBef>
                <a:spcPts val="400"/>
              </a:spcBef>
              <a:spcAft>
                <a:spcPts val="0"/>
              </a:spcAft>
              <a:buNone/>
            </a:pPr>
            <a:r>
              <a:rPr lang="en-US" sz="1800">
                <a:solidFill>
                  <a:srgbClr val="188038"/>
                </a:solidFill>
                <a:latin typeface="Roboto Mono"/>
                <a:ea typeface="Roboto Mono"/>
                <a:cs typeface="Roboto Mono"/>
                <a:sym typeface="Roboto Mono"/>
              </a:rPr>
              <a:t>docker run --network host nginx</a:t>
            </a:r>
            <a:endParaRPr sz="1800">
              <a:solidFill>
                <a:srgbClr val="188038"/>
              </a:solidFill>
              <a:latin typeface="Roboto Mono"/>
              <a:ea typeface="Roboto Mono"/>
              <a:cs typeface="Roboto Mono"/>
              <a:sym typeface="Roboto Mono"/>
            </a:endParaRPr>
          </a:p>
          <a:p>
            <a:pPr marL="0" lvl="0" indent="0" algn="l" rtl="0">
              <a:lnSpc>
                <a:spcPct val="115000"/>
              </a:lnSpc>
              <a:spcBef>
                <a:spcPts val="1800"/>
              </a:spcBef>
              <a:spcAft>
                <a:spcPts val="0"/>
              </a:spcAft>
              <a:buNone/>
            </a:pPr>
            <a:r>
              <a:rPr lang="en-US" sz="1800">
                <a:latin typeface="Times New Roman"/>
                <a:ea typeface="Times New Roman"/>
                <a:cs typeface="Times New Roman"/>
                <a:sym typeface="Times New Roman"/>
              </a:rPr>
              <a:t>Access directly:</a:t>
            </a:r>
            <a:endParaRPr sz="1800">
              <a:latin typeface="Times New Roman"/>
              <a:ea typeface="Times New Roman"/>
              <a:cs typeface="Times New Roman"/>
              <a:sym typeface="Times New Roman"/>
            </a:endParaRPr>
          </a:p>
          <a:p>
            <a:pPr marL="0" lvl="0" indent="0" algn="l" rtl="0">
              <a:lnSpc>
                <a:spcPct val="115000"/>
              </a:lnSpc>
              <a:spcBef>
                <a:spcPts val="1800"/>
              </a:spcBef>
              <a:spcAft>
                <a:spcPts val="0"/>
              </a:spcAft>
              <a:buNone/>
            </a:pPr>
            <a:r>
              <a:rPr lang="en-US" sz="1800">
                <a:solidFill>
                  <a:srgbClr val="188038"/>
                </a:solidFill>
                <a:latin typeface="Roboto Mono"/>
                <a:ea typeface="Roboto Mono"/>
                <a:cs typeface="Roboto Mono"/>
                <a:sym typeface="Roboto Mono"/>
              </a:rPr>
              <a:t>http://localhost:80</a:t>
            </a:r>
            <a:endParaRPr sz="1800">
              <a:solidFill>
                <a:srgbClr val="188038"/>
              </a:solidFill>
              <a:latin typeface="Roboto Mono"/>
              <a:ea typeface="Roboto Mono"/>
              <a:cs typeface="Roboto Mono"/>
              <a:sym typeface="Roboto Mono"/>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77"/>
          <p:cNvSpPr txBox="1">
            <a:spLocks noGrp="1"/>
          </p:cNvSpPr>
          <p:nvPr>
            <p:ph type="title"/>
          </p:nvPr>
        </p:nvSpPr>
        <p:spPr>
          <a:xfrm>
            <a:off x="0" y="0"/>
            <a:ext cx="7588200" cy="6858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486" name="Google Shape;486;p77"/>
          <p:cNvSpPr txBox="1">
            <a:spLocks noGrp="1"/>
          </p:cNvSpPr>
          <p:nvPr>
            <p:ph type="body" idx="1"/>
          </p:nvPr>
        </p:nvSpPr>
        <p:spPr>
          <a:xfrm>
            <a:off x="609600" y="1266825"/>
            <a:ext cx="8305800" cy="4905300"/>
          </a:xfrm>
          <a:prstGeom prst="rect">
            <a:avLst/>
          </a:prstGeom>
        </p:spPr>
        <p:txBody>
          <a:bodyPr spcFirstLastPara="1" wrap="square" lIns="91425" tIns="45700" rIns="91425" bIns="45700" anchor="t" anchorCtr="0">
            <a:noAutofit/>
          </a:bodyPr>
          <a:lstStyle/>
          <a:p>
            <a:pPr marL="0" lvl="0" indent="0" algn="l" rtl="0">
              <a:lnSpc>
                <a:spcPct val="115000"/>
              </a:lnSpc>
              <a:spcBef>
                <a:spcPts val="1800"/>
              </a:spcBef>
              <a:spcAft>
                <a:spcPts val="0"/>
              </a:spcAft>
              <a:buNone/>
            </a:pPr>
            <a:endParaRPr sz="1700" b="1">
              <a:solidFill>
                <a:srgbClr val="000000"/>
              </a:solidFill>
              <a:latin typeface="Arial"/>
              <a:ea typeface="Arial"/>
              <a:cs typeface="Arial"/>
              <a:sym typeface="Arial"/>
            </a:endParaRPr>
          </a:p>
          <a:p>
            <a:pPr marL="0" lvl="0" indent="0" algn="l" rtl="0">
              <a:lnSpc>
                <a:spcPct val="115000"/>
              </a:lnSpc>
              <a:spcBef>
                <a:spcPts val="1400"/>
              </a:spcBef>
              <a:spcAft>
                <a:spcPts val="0"/>
              </a:spcAft>
              <a:buNone/>
            </a:pPr>
            <a:r>
              <a:rPr lang="en-US" sz="1300" b="1">
                <a:solidFill>
                  <a:srgbClr val="000000"/>
                </a:solidFill>
                <a:latin typeface="Arial"/>
                <a:ea typeface="Arial"/>
                <a:cs typeface="Arial"/>
                <a:sym typeface="Arial"/>
              </a:rPr>
              <a:t>What happens?</a:t>
            </a:r>
            <a:endParaRPr sz="1300" b="1">
              <a:solidFill>
                <a:srgbClr val="000000"/>
              </a:solidFill>
              <a:latin typeface="Arial"/>
              <a:ea typeface="Arial"/>
              <a:cs typeface="Arial"/>
              <a:sym typeface="Arial"/>
            </a:endParaRPr>
          </a:p>
          <a:p>
            <a:pPr marL="457200" lvl="0" indent="-298450" algn="l" rtl="0">
              <a:lnSpc>
                <a:spcPct val="115000"/>
              </a:lnSpc>
              <a:spcBef>
                <a:spcPts val="1200"/>
              </a:spcBef>
              <a:spcAft>
                <a:spcPts val="0"/>
              </a:spcAft>
              <a:buClr>
                <a:srgbClr val="000000"/>
              </a:buClr>
              <a:buSzPts val="1100"/>
              <a:buChar char="●"/>
            </a:pPr>
            <a:r>
              <a:rPr lang="en-US" sz="1100">
                <a:solidFill>
                  <a:srgbClr val="000000"/>
                </a:solidFill>
                <a:latin typeface="Arial"/>
                <a:ea typeface="Arial"/>
                <a:cs typeface="Arial"/>
                <a:sym typeface="Arial"/>
              </a:rPr>
              <a:t>Container has </a:t>
            </a:r>
            <a:r>
              <a:rPr lang="en-US" sz="1100" b="1">
                <a:solidFill>
                  <a:srgbClr val="000000"/>
                </a:solidFill>
                <a:latin typeface="Arial"/>
                <a:ea typeface="Arial"/>
                <a:cs typeface="Arial"/>
                <a:sym typeface="Arial"/>
              </a:rPr>
              <a:t>no network access</a:t>
            </a:r>
            <a:br>
              <a:rPr lang="en-US" sz="1100" b="1">
                <a:solidFill>
                  <a:srgbClr val="000000"/>
                </a:solidFill>
                <a:latin typeface="Arial"/>
                <a:ea typeface="Arial"/>
                <a:cs typeface="Arial"/>
                <a:sym typeface="Arial"/>
              </a:rPr>
            </a:br>
            <a:endParaRPr sz="1100" b="1">
              <a:solidFill>
                <a:srgbClr val="000000"/>
              </a:solidFill>
              <a:latin typeface="Arial"/>
              <a:ea typeface="Arial"/>
              <a:cs typeface="Arial"/>
              <a:sym typeface="Arial"/>
            </a:endParaRPr>
          </a:p>
          <a:p>
            <a:pPr marL="457200" lvl="0" indent="-298450" algn="l" rtl="0">
              <a:lnSpc>
                <a:spcPct val="115000"/>
              </a:lnSpc>
              <a:spcBef>
                <a:spcPts val="0"/>
              </a:spcBef>
              <a:spcAft>
                <a:spcPts val="0"/>
              </a:spcAft>
              <a:buClr>
                <a:srgbClr val="000000"/>
              </a:buClr>
              <a:buSzPts val="1100"/>
              <a:buChar char="●"/>
            </a:pPr>
            <a:r>
              <a:rPr lang="en-US" sz="1100">
                <a:solidFill>
                  <a:srgbClr val="000000"/>
                </a:solidFill>
                <a:latin typeface="Arial"/>
                <a:ea typeface="Arial"/>
                <a:cs typeface="Arial"/>
                <a:sym typeface="Arial"/>
              </a:rPr>
              <a:t>No IP, no internet, no communication</a:t>
            </a:r>
            <a:br>
              <a:rPr lang="en-U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0" lvl="0" indent="0" algn="l" rtl="0">
              <a:lnSpc>
                <a:spcPct val="115000"/>
              </a:lnSpc>
              <a:spcBef>
                <a:spcPts val="1400"/>
              </a:spcBef>
              <a:spcAft>
                <a:spcPts val="0"/>
              </a:spcAft>
              <a:buNone/>
            </a:pPr>
            <a:r>
              <a:rPr lang="en-US" sz="1300" b="1">
                <a:solidFill>
                  <a:srgbClr val="000000"/>
                </a:solidFill>
                <a:latin typeface="Arial"/>
                <a:ea typeface="Arial"/>
                <a:cs typeface="Arial"/>
                <a:sym typeface="Arial"/>
              </a:rPr>
              <a:t>Example</a:t>
            </a:r>
            <a:endParaRPr sz="1300" b="1">
              <a:solidFill>
                <a:srgbClr val="000000"/>
              </a:solidFill>
              <a:latin typeface="Arial"/>
              <a:ea typeface="Arial"/>
              <a:cs typeface="Arial"/>
              <a:sym typeface="Arial"/>
            </a:endParaRPr>
          </a:p>
          <a:p>
            <a:pPr marL="0" lvl="0" indent="0" algn="l" rtl="0">
              <a:spcBef>
                <a:spcPts val="480"/>
              </a:spcBef>
              <a:spcAft>
                <a:spcPts val="0"/>
              </a:spcAft>
              <a:buNone/>
            </a:pPr>
            <a:r>
              <a:rPr lang="en-US" sz="1100">
                <a:solidFill>
                  <a:srgbClr val="188038"/>
                </a:solidFill>
                <a:latin typeface="Roboto Mono"/>
                <a:ea typeface="Roboto Mono"/>
                <a:cs typeface="Roboto Mono"/>
                <a:sym typeface="Roboto Mono"/>
              </a:rPr>
              <a:t>docker run --network none busybox</a:t>
            </a:r>
            <a:endParaRPr sz="11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None/>
            </a:pPr>
            <a:endParaRPr sz="1100">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US" sz="1100">
                <a:solidFill>
                  <a:srgbClr val="000000"/>
                </a:solidFill>
                <a:latin typeface="Arial"/>
                <a:ea typeface="Arial"/>
                <a:cs typeface="Arial"/>
                <a:sym typeface="Arial"/>
              </a:rPr>
              <a:t>✔ Fully isolated container</a:t>
            </a:r>
            <a:endParaRPr sz="1100">
              <a:solidFill>
                <a:srgbClr val="000000"/>
              </a:solidFill>
              <a:latin typeface="Arial"/>
              <a:ea typeface="Arial"/>
              <a:cs typeface="Arial"/>
              <a:sym typeface="Arial"/>
            </a:endParaRPr>
          </a:p>
          <a:p>
            <a:pPr marL="0" lvl="0" indent="0" algn="l" rtl="0">
              <a:lnSpc>
                <a:spcPct val="115000"/>
              </a:lnSpc>
              <a:spcBef>
                <a:spcPts val="1200"/>
              </a:spcBef>
              <a:spcAft>
                <a:spcPts val="0"/>
              </a:spcAft>
              <a:buNone/>
            </a:pPr>
            <a:endParaRPr sz="1100">
              <a:solidFill>
                <a:srgbClr val="000000"/>
              </a:solidFill>
              <a:latin typeface="Arial"/>
              <a:ea typeface="Arial"/>
              <a:cs typeface="Arial"/>
              <a:sym typeface="Arial"/>
            </a:endParaRPr>
          </a:p>
          <a:p>
            <a:pPr marL="0" lvl="0" indent="0" algn="l" rtl="0">
              <a:lnSpc>
                <a:spcPct val="115000"/>
              </a:lnSpc>
              <a:spcBef>
                <a:spcPts val="1400"/>
              </a:spcBef>
              <a:spcAft>
                <a:spcPts val="0"/>
              </a:spcAft>
              <a:buNone/>
            </a:pPr>
            <a:r>
              <a:rPr lang="en-US" sz="1300" b="1">
                <a:solidFill>
                  <a:srgbClr val="000000"/>
                </a:solidFill>
                <a:latin typeface="Arial"/>
                <a:ea typeface="Arial"/>
                <a:cs typeface="Arial"/>
                <a:sym typeface="Arial"/>
              </a:rPr>
              <a:t>Use case</a:t>
            </a:r>
            <a:endParaRPr sz="1300" b="1">
              <a:solidFill>
                <a:srgbClr val="000000"/>
              </a:solidFill>
              <a:latin typeface="Arial"/>
              <a:ea typeface="Arial"/>
              <a:cs typeface="Arial"/>
              <a:sym typeface="Arial"/>
            </a:endParaRPr>
          </a:p>
          <a:p>
            <a:pPr marL="457200" lvl="0" indent="-298450" algn="l" rtl="0">
              <a:lnSpc>
                <a:spcPct val="115000"/>
              </a:lnSpc>
              <a:spcBef>
                <a:spcPts val="1200"/>
              </a:spcBef>
              <a:spcAft>
                <a:spcPts val="0"/>
              </a:spcAft>
              <a:buClr>
                <a:srgbClr val="000000"/>
              </a:buClr>
              <a:buSzPts val="1100"/>
              <a:buChar char="●"/>
            </a:pPr>
            <a:r>
              <a:rPr lang="en-US" sz="1100">
                <a:solidFill>
                  <a:srgbClr val="000000"/>
                </a:solidFill>
                <a:latin typeface="Arial"/>
                <a:ea typeface="Arial"/>
                <a:cs typeface="Arial"/>
                <a:sym typeface="Arial"/>
              </a:rPr>
              <a:t>Security</a:t>
            </a:r>
            <a:br>
              <a:rPr lang="en-U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marL="457200" lvl="0" indent="-298450" algn="l" rtl="0">
              <a:lnSpc>
                <a:spcPct val="115000"/>
              </a:lnSpc>
              <a:spcBef>
                <a:spcPts val="0"/>
              </a:spcBef>
              <a:spcAft>
                <a:spcPts val="0"/>
              </a:spcAft>
              <a:buClr>
                <a:srgbClr val="000000"/>
              </a:buClr>
              <a:buSzPts val="1100"/>
              <a:buChar char="●"/>
            </a:pPr>
            <a:r>
              <a:rPr lang="en-US" sz="1100">
                <a:solidFill>
                  <a:srgbClr val="000000"/>
                </a:solidFill>
                <a:latin typeface="Arial"/>
                <a:ea typeface="Arial"/>
                <a:cs typeface="Arial"/>
                <a:sym typeface="Arial"/>
              </a:rPr>
              <a:t>Offline processing</a:t>
            </a: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600"/>
          </a:p>
        </p:txBody>
      </p:sp>
      <p:sp>
        <p:nvSpPr>
          <p:cNvPr id="487" name="Google Shape;487;p77"/>
          <p:cNvSpPr txBox="1"/>
          <p:nvPr/>
        </p:nvSpPr>
        <p:spPr>
          <a:xfrm>
            <a:off x="0" y="0"/>
            <a:ext cx="4788000" cy="44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None/>
            </a:pPr>
            <a:r>
              <a:rPr lang="en-US" sz="1700" b="1"/>
              <a:t>None network</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78"/>
          <p:cNvSpPr txBox="1">
            <a:spLocks noGrp="1"/>
          </p:cNvSpPr>
          <p:nvPr>
            <p:ph type="title"/>
          </p:nvPr>
        </p:nvSpPr>
        <p:spPr>
          <a:xfrm>
            <a:off x="0" y="0"/>
            <a:ext cx="7588200" cy="6858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494" name="Google Shape;494;p78"/>
          <p:cNvSpPr txBox="1">
            <a:spLocks noGrp="1"/>
          </p:cNvSpPr>
          <p:nvPr>
            <p:ph type="body" idx="1"/>
          </p:nvPr>
        </p:nvSpPr>
        <p:spPr>
          <a:xfrm>
            <a:off x="609600" y="1266825"/>
            <a:ext cx="8305800" cy="4905300"/>
          </a:xfrm>
          <a:prstGeom prst="rect">
            <a:avLst/>
          </a:prstGeom>
        </p:spPr>
        <p:txBody>
          <a:bodyPr spcFirstLastPara="1" wrap="square" lIns="91425" tIns="45700" rIns="91425" bIns="45700" anchor="t" anchorCtr="0">
            <a:noAutofit/>
          </a:bodyPr>
          <a:lstStyle/>
          <a:p>
            <a:pPr marL="0" lvl="0" indent="0" algn="l" rtl="0">
              <a:lnSpc>
                <a:spcPct val="115000"/>
              </a:lnSpc>
              <a:spcBef>
                <a:spcPts val="1800"/>
              </a:spcBef>
              <a:spcAft>
                <a:spcPts val="0"/>
              </a:spcAft>
              <a:buNone/>
            </a:pPr>
            <a:r>
              <a:rPr lang="en-US" sz="1700" b="1">
                <a:solidFill>
                  <a:srgbClr val="000000"/>
                </a:solidFill>
                <a:latin typeface="Arial"/>
                <a:ea typeface="Arial"/>
                <a:cs typeface="Arial"/>
                <a:sym typeface="Arial"/>
              </a:rPr>
              <a:t>Overlay network (Docker Swarm)</a:t>
            </a:r>
            <a:endParaRPr sz="1700" b="1">
              <a:solidFill>
                <a:srgbClr val="000000"/>
              </a:solidFill>
              <a:latin typeface="Arial"/>
              <a:ea typeface="Arial"/>
              <a:cs typeface="Arial"/>
              <a:sym typeface="Arial"/>
            </a:endParaRPr>
          </a:p>
          <a:p>
            <a:pPr marL="457200" lvl="0" indent="-323850" algn="l" rtl="0">
              <a:lnSpc>
                <a:spcPct val="200000"/>
              </a:lnSpc>
              <a:spcBef>
                <a:spcPts val="1200"/>
              </a:spcBef>
              <a:spcAft>
                <a:spcPts val="0"/>
              </a:spcAft>
              <a:buClr>
                <a:srgbClr val="000000"/>
              </a:buClr>
              <a:buSzPts val="1500"/>
              <a:buFont typeface="Arial"/>
              <a:buChar char="➔"/>
            </a:pPr>
            <a:r>
              <a:rPr lang="en-US" sz="1500">
                <a:solidFill>
                  <a:srgbClr val="000000"/>
                </a:solidFill>
                <a:latin typeface="Arial"/>
                <a:ea typeface="Arial"/>
                <a:cs typeface="Arial"/>
                <a:sym typeface="Arial"/>
              </a:rPr>
              <a:t>Used in </a:t>
            </a:r>
            <a:r>
              <a:rPr lang="en-US" sz="1500" b="1">
                <a:solidFill>
                  <a:srgbClr val="000000"/>
                </a:solidFill>
                <a:latin typeface="Arial"/>
                <a:ea typeface="Arial"/>
                <a:cs typeface="Arial"/>
                <a:sym typeface="Arial"/>
              </a:rPr>
              <a:t>multi-host</a:t>
            </a:r>
            <a:r>
              <a:rPr lang="en-US" sz="1500">
                <a:solidFill>
                  <a:srgbClr val="000000"/>
                </a:solidFill>
                <a:latin typeface="Arial"/>
                <a:ea typeface="Arial"/>
                <a:cs typeface="Arial"/>
                <a:sym typeface="Arial"/>
              </a:rPr>
              <a:t> Docker Swarm setups.</a:t>
            </a:r>
            <a:endParaRPr sz="1500">
              <a:solidFill>
                <a:srgbClr val="000000"/>
              </a:solidFill>
              <a:latin typeface="Arial"/>
              <a:ea typeface="Arial"/>
              <a:cs typeface="Arial"/>
              <a:sym typeface="Arial"/>
            </a:endParaRPr>
          </a:p>
          <a:p>
            <a:pPr marL="457200" lvl="0" indent="-323850" algn="l" rtl="0">
              <a:lnSpc>
                <a:spcPct val="200000"/>
              </a:lnSpc>
              <a:spcBef>
                <a:spcPts val="0"/>
              </a:spcBef>
              <a:spcAft>
                <a:spcPts val="0"/>
              </a:spcAft>
              <a:buSzPts val="1500"/>
              <a:buChar char="➔"/>
            </a:pPr>
            <a:r>
              <a:rPr lang="en-US" sz="1500">
                <a:solidFill>
                  <a:srgbClr val="000000"/>
                </a:solidFill>
                <a:latin typeface="Arial"/>
                <a:ea typeface="Arial"/>
                <a:cs typeface="Arial"/>
                <a:sym typeface="Arial"/>
              </a:rPr>
              <a:t>Not used with normal </a:t>
            </a:r>
            <a:r>
              <a:rPr lang="en-US" sz="1500">
                <a:solidFill>
                  <a:srgbClr val="188038"/>
                </a:solidFill>
                <a:latin typeface="Roboto Mono"/>
                <a:ea typeface="Roboto Mono"/>
                <a:cs typeface="Roboto Mono"/>
                <a:sym typeface="Roboto Mono"/>
              </a:rPr>
              <a:t>docker run</a:t>
            </a:r>
            <a:r>
              <a:rPr lang="en-US" sz="1500">
                <a:solidFill>
                  <a:srgbClr val="000000"/>
                </a:solidFill>
                <a:latin typeface="Arial"/>
                <a:ea typeface="Arial"/>
                <a:cs typeface="Arial"/>
                <a:sym typeface="Arial"/>
              </a:rPr>
              <a:t> unless Swarm is enabled.</a:t>
            </a:r>
            <a:endParaRPr sz="1500">
              <a:solidFill>
                <a:srgbClr val="000000"/>
              </a:solidFill>
              <a:latin typeface="Arial"/>
              <a:ea typeface="Arial"/>
              <a:cs typeface="Arial"/>
              <a:sym typeface="Arial"/>
            </a:endParaRPr>
          </a:p>
          <a:p>
            <a:pPr marL="457200" lvl="0" indent="0" algn="l" rtl="0">
              <a:spcBef>
                <a:spcPts val="1200"/>
              </a:spcBef>
              <a:spcAft>
                <a:spcPts val="0"/>
              </a:spcAft>
              <a:buNone/>
            </a:pPr>
            <a:endParaRPr sz="900"/>
          </a:p>
        </p:txBody>
      </p:sp>
    </p:spTree>
  </p:cSld>
  <p:clrMapOvr>
    <a:masterClrMapping/>
  </p:clrMapOvr>
</p:sld>
</file>

<file path=ppt/theme/theme1.xml><?xml version="1.0" encoding="utf-8"?>
<a:theme xmlns:a="http://schemas.openxmlformats.org/drawingml/2006/main" name="2_Theme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3335</Words>
  <Application>Microsoft Office PowerPoint</Application>
  <PresentationFormat>On-screen Show (4:3)</PresentationFormat>
  <Paragraphs>498</Paragraphs>
  <Slides>62</Slides>
  <Notes>62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62</vt:i4>
      </vt:variant>
    </vt:vector>
  </HeadingPairs>
  <TitlesOfParts>
    <vt:vector size="71" baseType="lpstr">
      <vt:lpstr>Noto Sans Symbols</vt:lpstr>
      <vt:lpstr>Courier New</vt:lpstr>
      <vt:lpstr>Arial Narrow</vt:lpstr>
      <vt:lpstr>Times New Roman</vt:lpstr>
      <vt:lpstr>Arial</vt:lpstr>
      <vt:lpstr>Roboto Mono</vt:lpstr>
      <vt:lpstr>Arimo</vt:lpstr>
      <vt:lpstr>2_Theme1</vt:lpstr>
      <vt:lpstr>Theme1</vt:lpstr>
      <vt:lpstr>         Basic Docker commands</vt:lpstr>
      <vt:lpstr>PowerPoint Presentation</vt:lpstr>
      <vt:lpstr>2. Docker info </vt:lpstr>
      <vt:lpstr>3. Checking History . </vt:lpstr>
      <vt:lpstr>4 . Downloading Image </vt:lpstr>
      <vt:lpstr>5. Images </vt:lpstr>
      <vt:lpstr>6.RUN</vt:lpstr>
      <vt:lpstr>     Options Available for executing Docker Run Command </vt:lpstr>
      <vt:lpstr>1st Example : Running a Simple Image: </vt:lpstr>
      <vt:lpstr>2nd example</vt:lpstr>
      <vt:lpstr>What are Environment Variables</vt:lpstr>
      <vt:lpstr>Need  of environment variables in Docker</vt:lpstr>
      <vt:lpstr>3rd Example : Setting Environment: </vt:lpstr>
      <vt:lpstr>PowerPoint Presentation</vt:lpstr>
      <vt:lpstr>Multiple Environment Variables</vt:lpstr>
      <vt:lpstr>Next is : Passing Environment Variable from Host System</vt:lpstr>
      <vt:lpstr>Another way : Using --env-file (Clean &amp; Professional Way)</vt:lpstr>
      <vt:lpstr>4th Example</vt:lpstr>
      <vt:lpstr>PowerPoint Presentation</vt:lpstr>
      <vt:lpstr>-p optional flag in run command</vt:lpstr>
      <vt:lpstr>Syntax of –p </vt:lpstr>
      <vt:lpstr>EX#1:</vt:lpstr>
      <vt:lpstr>PowerPoint Presentation</vt:lpstr>
      <vt:lpstr>PowerPoint Presentation</vt:lpstr>
      <vt:lpstr>7 What’s running? </vt:lpstr>
      <vt:lpstr>TASK #1:</vt:lpstr>
      <vt:lpstr>8. ps -a </vt:lpstr>
      <vt:lpstr>9. exec </vt:lpstr>
      <vt:lpstr>10. Removing container </vt:lpstr>
      <vt:lpstr>11. Removing image </vt:lpstr>
      <vt:lpstr>..contd..</vt:lpstr>
      <vt:lpstr>Docker container commands: </vt:lpstr>
      <vt:lpstr>PowerPoint Presentation</vt:lpstr>
      <vt:lpstr>2. Listing and Inspecting Containers </vt:lpstr>
      <vt:lpstr>3. Container Interaction </vt:lpstr>
      <vt:lpstr>Practice questions:</vt:lpstr>
      <vt:lpstr>Docker Volumes</vt:lpstr>
      <vt:lpstr>Why do we need Docker Volumes? </vt:lpstr>
      <vt:lpstr>Types of Storage in Docker </vt:lpstr>
      <vt:lpstr>Characteristics </vt:lpstr>
      <vt:lpstr>PowerPoint Presentation</vt:lpstr>
      <vt:lpstr>Work on Volumes</vt:lpstr>
      <vt:lpstr>PowerPoint Presentation</vt:lpstr>
      <vt:lpstr>PowerPoint Presentation</vt:lpstr>
      <vt:lpstr>PowerPoint Presentation</vt:lpstr>
      <vt:lpstr>Example#1</vt:lpstr>
      <vt:lpstr>Practice Question</vt:lpstr>
      <vt:lpstr>Create a Docker volume named studentdata. Run an Ubuntu container and mount studentdata at /student. Create a f-mount         -- Mount   It is the modern, explicit, key-value way to attach storage to a container. It can be used for: Volumes Bind mounts tmpfs mounts    Compared to -v, it is: More readable Less error-prone Better for production &amp; teaching concepts ile inside the container and verify it persists after container deletion. Attach the same volume to another container and verify the file exists. Demonstrate data sharing between two containers using a shared volume. Show that deleting a container does NOT delete the volume data.</vt:lpstr>
      <vt:lpstr>Syntax</vt:lpstr>
      <vt:lpstr>Example 1: Named Volume (Most Common &amp; Recommended)</vt:lpstr>
      <vt:lpstr>What happened </vt:lpstr>
      <vt:lpstr>Example 2: Bind Mount (Host ↔ Container Sync) </vt:lpstr>
      <vt:lpstr>Equivalent commands for Volume and mount  </vt:lpstr>
      <vt:lpstr>Practice Question #</vt:lpstr>
      <vt:lpstr>PowerPoint Presentation</vt:lpstr>
      <vt:lpstr>   Types of Docker networks you can use with --network</vt:lpstr>
      <vt:lpstr>Comaprison among all</vt:lpstr>
      <vt:lpstr>PowerPoint Presentation</vt:lpstr>
      <vt:lpstr>Need of User-Defined Network </vt:lpstr>
      <vt:lpstr>When to use Host Network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Raj Singh</cp:lastModifiedBy>
  <cp:revision>2</cp:revision>
  <dcterms:modified xsi:type="dcterms:W3CDTF">2026-03-16T10:17:32Z</dcterms:modified>
</cp:coreProperties>
</file>